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8" r:id="rId3"/>
    <p:sldId id="259" r:id="rId4"/>
    <p:sldId id="260" r:id="rId5"/>
    <p:sldId id="261" r:id="rId6"/>
    <p:sldId id="262"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82" d="100"/>
          <a:sy n="82" d="100"/>
        </p:scale>
        <p:origin x="67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9/5/2026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13"/>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9/5/2026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GB"/>
              <a:t>SWARM LEARNING </a:t>
            </a:r>
          </a:p>
        </p:txBody>
      </p:sp>
      <p:sp>
        <p:nvSpPr>
          <p:cNvPr id="3" name="Subtitle 2"/>
          <p:cNvSpPr>
            <a:spLocks noGrp="1"/>
          </p:cNvSpPr>
          <p:nvPr>
            <p:ph type="subTitle" idx="1"/>
          </p:nvPr>
        </p:nvSpPr>
        <p:spPr>
          <a:xfrm>
            <a:off x="6786880" y="5137785"/>
            <a:ext cx="5133340" cy="2046605"/>
          </a:xfrm>
        </p:spPr>
        <p:txBody>
          <a:bodyPr/>
          <a:lstStyle/>
          <a:p>
            <a:r>
              <a:rPr lang="en-IN" altLang="en-US" sz="2400" b="1">
                <a:solidFill>
                  <a:schemeClr val="tx1"/>
                </a:solidFill>
              </a:rPr>
              <a:t> Presented by:</a:t>
            </a:r>
          </a:p>
          <a:p>
            <a:r>
              <a:rPr lang="en-IN" altLang="en-US" sz="2400" b="1">
                <a:solidFill>
                  <a:schemeClr val="tx1"/>
                </a:solidFill>
              </a:rPr>
              <a:t>  Tejasri chintapalli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GB"/>
              <a:t>PROBLEM STATEMENT</a:t>
            </a:r>
          </a:p>
        </p:txBody>
      </p:sp>
      <p:sp>
        <p:nvSpPr>
          <p:cNvPr id="3" name="Content Placeholder 2"/>
          <p:cNvSpPr>
            <a:spLocks noGrp="1"/>
          </p:cNvSpPr>
          <p:nvPr>
            <p:ph idx="1"/>
          </p:nvPr>
        </p:nvSpPr>
        <p:spPr>
          <a:xfrm>
            <a:off x="609600" y="1174750"/>
            <a:ext cx="10165080" cy="6562090"/>
          </a:xfrm>
        </p:spPr>
        <p:txBody>
          <a:bodyPr/>
          <a:lstStyle/>
          <a:p>
            <a:pPr algn="l"/>
            <a:r>
              <a:rPr lang="en-US" altLang="en-GB" sz="2400"/>
              <a:t>Swarm Learning enables participants to collaborate while keeping their data private.</a:t>
            </a:r>
          </a:p>
          <a:p>
            <a:pPr algn="l"/>
            <a:r>
              <a:rPr lang="en-US" altLang="en-GB" sz="2400"/>
              <a:t>Malicious participants can submit manipulated updates that may harm the global model.</a:t>
            </a:r>
          </a:p>
          <a:p>
            <a:pPr algn="l"/>
            <a:r>
              <a:rPr lang="en-US" altLang="en-GB" sz="2400"/>
              <a:t>Detecting malicious updates is difficult because honest participants may also produce different updates.</a:t>
            </a:r>
          </a:p>
          <a:p>
            <a:pPr algn="l"/>
            <a:r>
              <a:rPr lang="en-US" altLang="en-GB" sz="2400"/>
              <a:t>A single detection factor may incorrectly identify honest participants as suspicious.</a:t>
            </a:r>
          </a:p>
          <a:p>
            <a:pPr algn="l"/>
            <a:r>
              <a:rPr lang="en-US" altLang="en-GB" sz="2400"/>
              <a:t>A reliable trust mechanism is needed to evaluate participant behavior.</a:t>
            </a:r>
          </a:p>
          <a:p>
            <a:pPr algn="l"/>
            <a:r>
              <a:rPr lang="en-US" altLang="en-GB" sz="2400"/>
              <a:t>The system should reduce the influence of harmful updates while preserving honest contributions.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GB"/>
              <a:t>ABSTRACT</a:t>
            </a:r>
          </a:p>
        </p:txBody>
      </p:sp>
      <p:sp>
        <p:nvSpPr>
          <p:cNvPr id="3" name="Content Placeholder 2"/>
          <p:cNvSpPr>
            <a:spLocks noGrp="1"/>
          </p:cNvSpPr>
          <p:nvPr>
            <p:ph idx="1"/>
          </p:nvPr>
        </p:nvSpPr>
        <p:spPr>
          <a:xfrm>
            <a:off x="609600" y="1174750"/>
            <a:ext cx="10972800" cy="7322820"/>
          </a:xfrm>
        </p:spPr>
        <p:txBody>
          <a:bodyPr/>
          <a:lstStyle/>
          <a:p>
            <a:pPr marL="0" indent="0" algn="just">
              <a:buNone/>
            </a:pPr>
            <a:endParaRPr lang="en-US" altLang="en-GB" sz="2400"/>
          </a:p>
          <a:p>
            <a:pPr marL="0" indent="0" algn="just">
              <a:buNone/>
            </a:pPr>
            <a:r>
              <a:rPr lang="en-US" altLang="en-GB" sz="2400"/>
              <a:t>Swarm Learning enables multiple organizations to collaboratively train an AI model without sharing their private data. However, it is vulnerable to poisoning attacks, where a malicious participant can submit harmful model updates. At the same time, differences in data distribution between organizations can make honest model updates look suspicious. To address this challenge, an adaptive multi-factor trust mechanism evaluates participants using cosine similarity, data distribution, validation performance, update magnitude, and participation history. A trust score is then assigned to each participant, giving greater importance to reliable updates and reducing the impact of suspicious ones. The system aims to improve the security, reliability, and fairness of Swarm Learning across different application domains.</a:t>
            </a:r>
          </a:p>
          <a:p>
            <a:pPr marL="0" indent="0" algn="just">
              <a:buNone/>
            </a:pPr>
            <a:endParaRPr lang="en-US" altLang="en-GB" sz="2400"/>
          </a:p>
          <a:p>
            <a:pPr marL="0" indent="0" algn="just">
              <a:buNone/>
            </a:pPr>
            <a:endParaRPr lang="en-US" altLang="en-GB" sz="2400"/>
          </a:p>
          <a:p>
            <a:pPr marL="0" indent="0" algn="just">
              <a:buNone/>
            </a:pPr>
            <a:endParaRPr lang="en-US" altLang="en-GB"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GB"/>
              <a:t>OBJECTIVES</a:t>
            </a:r>
          </a:p>
        </p:txBody>
      </p:sp>
      <p:sp>
        <p:nvSpPr>
          <p:cNvPr id="3" name="Content Placeholder 2"/>
          <p:cNvSpPr>
            <a:spLocks noGrp="1"/>
          </p:cNvSpPr>
          <p:nvPr>
            <p:ph idx="1"/>
          </p:nvPr>
        </p:nvSpPr>
        <p:spPr/>
        <p:txBody>
          <a:bodyPr/>
          <a:lstStyle/>
          <a:p>
            <a:r>
              <a:rPr lang="en-US" altLang="en-GB" sz="2400" b="1"/>
              <a:t>Dataset Preparation &amp; Partitioning</a:t>
            </a:r>
            <a:r>
              <a:rPr lang="en-US" altLang="en-GB" sz="2400"/>
              <a:t>: Prepare and partition the dataset among multiple participants for decentralized learning.</a:t>
            </a:r>
          </a:p>
          <a:p>
            <a:r>
              <a:rPr lang="en-US" altLang="en-GB" sz="2400" b="1"/>
              <a:t>Privacy Preservation &amp; Model Building</a:t>
            </a:r>
            <a:r>
              <a:rPr lang="en-US" altLang="en-GB" sz="2400"/>
              <a:t>: Keep data locally at each participant while independently training models.</a:t>
            </a:r>
          </a:p>
          <a:p>
            <a:r>
              <a:rPr lang="en-US" altLang="en-GB" sz="2400" b="1"/>
              <a:t>Swarm Learning Development</a:t>
            </a:r>
            <a:r>
              <a:rPr lang="en-US" altLang="en-GB" sz="2400"/>
              <a:t>: Build a Swarm Learning framework for collaborative model training through shared updates.</a:t>
            </a:r>
          </a:p>
          <a:p>
            <a:r>
              <a:rPr lang="en-US" altLang="en-GB" sz="2400" b="1"/>
              <a:t>Trust Mechanism Construction</a:t>
            </a:r>
            <a:r>
              <a:rPr lang="en-US" altLang="en-GB" sz="2400"/>
              <a:t>: Develop a multi-factor trust mechanism using contribution, validation, update magnitude, similarity, and historical behavior.</a:t>
            </a:r>
          </a:p>
          <a:p>
            <a:r>
              <a:rPr lang="en-US" altLang="en-GB" sz="2400" b="1"/>
              <a:t>Trust-Based Aggregation &amp; Mitigation</a:t>
            </a:r>
            <a:r>
              <a:rPr lang="en-US" altLang="en-GB" sz="2400"/>
              <a:t>: Use trust scores to weight updates and reduce the influence of suspicious participants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GB"/>
              <a:t>TECHINCAL STACK</a:t>
            </a:r>
          </a:p>
        </p:txBody>
      </p:sp>
      <p:sp>
        <p:nvSpPr>
          <p:cNvPr id="3" name="Content Placeholder 2"/>
          <p:cNvSpPr>
            <a:spLocks noGrp="1"/>
          </p:cNvSpPr>
          <p:nvPr>
            <p:ph idx="1"/>
          </p:nvPr>
        </p:nvSpPr>
        <p:spPr>
          <a:xfrm>
            <a:off x="609600" y="1174750"/>
            <a:ext cx="10972800" cy="6516370"/>
          </a:xfrm>
        </p:spPr>
        <p:txBody>
          <a:bodyPr/>
          <a:lstStyle/>
          <a:p>
            <a:r>
              <a:rPr lang="en-US" altLang="en-GB" sz="2400" b="1"/>
              <a:t>Python</a:t>
            </a:r>
            <a:r>
              <a:rPr lang="en-US" altLang="en-GB" sz="2400"/>
              <a:t> – Core implementation</a:t>
            </a:r>
          </a:p>
          <a:p>
            <a:r>
              <a:rPr lang="en-US" altLang="en-GB" sz="2400" b="1"/>
              <a:t>PyTorch</a:t>
            </a:r>
            <a:r>
              <a:rPr lang="en-US" altLang="en-GB" sz="2400"/>
              <a:t> – Local model training and model updates</a:t>
            </a:r>
          </a:p>
          <a:p>
            <a:r>
              <a:rPr lang="en-US" altLang="en-GB" sz="2400" b="1"/>
              <a:t>Docker</a:t>
            </a:r>
            <a:r>
              <a:rPr lang="en-US" altLang="en-GB" sz="2400"/>
              <a:t> – Simulating multiple Swarm Learning participants</a:t>
            </a:r>
          </a:p>
          <a:p>
            <a:r>
              <a:rPr lang="en-US" altLang="en-GB" sz="2400" b="1"/>
              <a:t>Scikit-learn</a:t>
            </a:r>
            <a:r>
              <a:rPr lang="en-US" altLang="en-GB" sz="2400"/>
              <a:t> – Data processing and performance evaluation</a:t>
            </a:r>
          </a:p>
          <a:p>
            <a:r>
              <a:rPr lang="en-US" altLang="en-GB" sz="2400" b="1"/>
              <a:t>Dataset </a:t>
            </a:r>
            <a:r>
              <a:rPr lang="en-US" altLang="en-GB" sz="2400"/>
              <a:t>– Standard classification dataset (medical dataset – tentative)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GB" dirty="0"/>
              <a:t>REFERENCES</a:t>
            </a:r>
          </a:p>
        </p:txBody>
      </p:sp>
      <p:sp>
        <p:nvSpPr>
          <p:cNvPr id="3" name="Content Placeholder 2"/>
          <p:cNvSpPr>
            <a:spLocks noGrp="1"/>
          </p:cNvSpPr>
          <p:nvPr>
            <p:ph idx="1"/>
          </p:nvPr>
        </p:nvSpPr>
        <p:spPr>
          <a:xfrm>
            <a:off x="609599" y="1174750"/>
            <a:ext cx="11268269" cy="5492750"/>
          </a:xfrm>
        </p:spPr>
        <p:txBody>
          <a:bodyPr/>
          <a:lstStyle/>
          <a:p>
            <a:pPr marL="0" indent="0">
              <a:buNone/>
            </a:pPr>
            <a:r>
              <a:rPr lang="en-IN" sz="2000" dirty="0"/>
              <a:t>[1]  X. Zhu, T. Lai, and H. Li, “Privacy-Preserving Byzantine-Resilient Swarm Learning for E-Healthcare,” Applied Sciences, vol. 14, no. 12, Art. no. 5247, 2024. </a:t>
            </a:r>
            <a:r>
              <a:rPr lang="en-IN" sz="2000" dirty="0" err="1"/>
              <a:t>doi</a:t>
            </a:r>
            <a:r>
              <a:rPr lang="en-IN" sz="2000" dirty="0"/>
              <a:t>: 10.3390/app14125247. </a:t>
            </a:r>
          </a:p>
          <a:p>
            <a:pPr marL="0" indent="0">
              <a:buNone/>
            </a:pPr>
            <a:r>
              <a:rPr lang="en-IN" sz="2000" dirty="0"/>
              <a:t>[2]  G. Geng, T. Cai, and Z. Yang, “Better Safe Than Sorry: Constructing Byzantine-Robust Federated Learning with Synthesized Trust,” Electronics, 2023.</a:t>
            </a:r>
          </a:p>
          <a:p>
            <a:pPr marL="0" indent="0">
              <a:buNone/>
            </a:pPr>
            <a:r>
              <a:rPr lang="en-IN" sz="2000" dirty="0"/>
              <a:t>[3]  G. Xia, J. Chen, C. Yu, and J. Ma, “Poisoning Attacks in Federated Learning: A Survey,” IEEE Access, vol. 11, pp. 10708–10722, 2023. </a:t>
            </a:r>
            <a:r>
              <a:rPr lang="en-IN" sz="2000" dirty="0" err="1"/>
              <a:t>doi</a:t>
            </a:r>
            <a:r>
              <a:rPr lang="en-IN" sz="2000" dirty="0"/>
              <a:t>: 10.1109/ACCESS.2023.3238823.</a:t>
            </a:r>
          </a:p>
          <a:p>
            <a:pPr marL="0" indent="0">
              <a:buNone/>
            </a:pPr>
            <a:r>
              <a:rPr lang="en-IN" sz="2000" dirty="0"/>
              <a:t>[4]  “FLRAM: Robust Aggregation Technique for </a:t>
            </a:r>
            <a:r>
              <a:rPr lang="en-IN" sz="2000" dirty="0" err="1"/>
              <a:t>Defense</a:t>
            </a:r>
            <a:r>
              <a:rPr lang="en-IN" sz="2000" dirty="0"/>
              <a:t> against Byzantine Poisoning Attacks in Federated Learning,” Electronics, vol. 12, no. 21, Art. no. 4463, 2023. </a:t>
            </a:r>
            <a:r>
              <a:rPr lang="en-IN" sz="2000" dirty="0" err="1"/>
              <a:t>doi</a:t>
            </a:r>
            <a:r>
              <a:rPr lang="en-IN" sz="2000" dirty="0"/>
              <a:t>: 10.3390/electronics12214463.</a:t>
            </a:r>
          </a:p>
          <a:p>
            <a:pPr marL="0" indent="0">
              <a:buNone/>
            </a:pPr>
            <a:r>
              <a:rPr lang="en-IN" sz="2000" dirty="0"/>
              <a:t>[5</a:t>
            </a:r>
            <a:r>
              <a:rPr lang="en-IN" sz="2000"/>
              <a:t>]  P</a:t>
            </a:r>
            <a:r>
              <a:rPr lang="en-IN" sz="2000" dirty="0"/>
              <a:t>. Sun, X. Liu, Z. Wang, and B. Liu, “Byzantine-Robust Decentralized Federated Learning via Dual-Domain Clustering and Trust Bootstrapping,” in Proc. IEEE/CVF Conference on Computer Vision and Pattern Recognition (CVPR), 2024, pp. 24756–24765. </a:t>
            </a:r>
            <a:r>
              <a:rPr lang="en-IN" sz="2000" dirty="0" err="1"/>
              <a:t>doi</a:t>
            </a:r>
            <a:r>
              <a:rPr lang="en-IN" sz="2000" dirty="0"/>
              <a:t>: 10.1109/CVPR52733.2024.02338.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ltLang="en-US"/>
          </a:p>
        </p:txBody>
      </p:sp>
      <p:pic>
        <p:nvPicPr>
          <p:cNvPr id="4" name="Content Placeholder 3" descr="thanks"/>
          <p:cNvPicPr>
            <a:picLocks noGrp="1" noChangeAspect="1"/>
          </p:cNvPicPr>
          <p:nvPr>
            <p:ph idx="1"/>
          </p:nvPr>
        </p:nvPicPr>
        <p:blipFill>
          <a:blip r:embed="rId2"/>
          <a:stretch>
            <a:fillRect/>
          </a:stretch>
        </p:blipFill>
        <p:spPr>
          <a:xfrm>
            <a:off x="-635" y="-635"/>
            <a:ext cx="12193270" cy="6858635"/>
          </a:xfrm>
          <a:prstGeom prst="rect">
            <a:avLst/>
          </a:prstGeom>
        </p:spPr>
      </p:pic>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586</Words>
  <Application>Microsoft Office PowerPoint</Application>
  <PresentationFormat>Widescreen</PresentationFormat>
  <Paragraphs>32</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Data Pie Charts</vt:lpstr>
      <vt:lpstr>SWARM LEARNING </vt:lpstr>
      <vt:lpstr>PROBLEM STATEMENT</vt:lpstr>
      <vt:lpstr>ABSTRACT</vt:lpstr>
      <vt:lpstr>OBJECTIVES</vt:lpstr>
      <vt:lpstr>TECHINCAL STACK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Harsha Vardhan</cp:lastModifiedBy>
  <cp:revision>8</cp:revision>
  <dcterms:created xsi:type="dcterms:W3CDTF">2025-07-23T00:59:00Z</dcterms:created>
  <dcterms:modified xsi:type="dcterms:W3CDTF">2026-09-05T03:22:08Z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6BFC7431FFD746F9BF80E39400457061_13</vt:lpwstr>
  </property>
  <property fmtid="{D5CDD505-2E9C-101B-9397-08002B2CF9AE}" pid="3" name="KSOProductBuildVer">
    <vt:lpwstr>2057-12.2.0.23206</vt:lpwstr>
  </property>
</Properties>
</file>