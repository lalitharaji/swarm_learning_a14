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tags/tag1.xml" ContentType="application/vnd.openxmlformats-officedocument.presentationml.tags+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3"/>
  </p:notesMasterIdLst>
  <p:sldIdLst>
    <p:sldId id="264" r:id="rId2"/>
    <p:sldId id="263" r:id="rId3"/>
    <p:sldId id="265" r:id="rId4"/>
    <p:sldId id="266" r:id="rId5"/>
    <p:sldId id="267" r:id="rId6"/>
    <p:sldId id="283" r:id="rId7"/>
    <p:sldId id="282" r:id="rId8"/>
    <p:sldId id="268" r:id="rId9"/>
    <p:sldId id="269" r:id="rId10"/>
    <p:sldId id="270" r:id="rId11"/>
    <p:sldId id="271" r:id="rId12"/>
    <p:sldId id="272" r:id="rId13"/>
    <p:sldId id="273" r:id="rId14"/>
    <p:sldId id="274" r:id="rId15"/>
    <p:sldId id="275" r:id="rId16"/>
    <p:sldId id="276" r:id="rId17"/>
    <p:sldId id="277" r:id="rId18"/>
    <p:sldId id="278" r:id="rId19"/>
    <p:sldId id="279" r:id="rId20"/>
    <p:sldId id="280" r:id="rId21"/>
    <p:sldId id="281"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C7E69"/>
    <a:srgbClr val="EC7E32"/>
    <a:srgbClr val="E77E32"/>
    <a:srgbClr val="E77E69"/>
    <a:srgbClr val="FF33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8140B5B-63D2-42AC-828E-97F250021DC6}" v="3" dt="2026-09-16T08:22:11.45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99" autoAdjust="0"/>
    <p:restoredTop sz="94660"/>
  </p:normalViewPr>
  <p:slideViewPr>
    <p:cSldViewPr snapToGrid="0">
      <p:cViewPr varScale="1">
        <p:scale>
          <a:sx n="82" d="100"/>
          <a:sy n="82" d="100"/>
        </p:scale>
        <p:origin x="672"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arsha Vardhan" userId="51c1f197de70b828" providerId="LiveId" clId="{DE310B51-CC64-4D6E-8F4C-93006508D9ED}"/>
    <pc:docChg chg="addSld modSld">
      <pc:chgData name="Harsha Vardhan" userId="51c1f197de70b828" providerId="LiveId" clId="{DE310B51-CC64-4D6E-8F4C-93006508D9ED}" dt="2026-09-16T08:24:01.454" v="291" actId="20577"/>
      <pc:docMkLst>
        <pc:docMk/>
      </pc:docMkLst>
      <pc:sldChg chg="modSp mod">
        <pc:chgData name="Harsha Vardhan" userId="51c1f197de70b828" providerId="LiveId" clId="{DE310B51-CC64-4D6E-8F4C-93006508D9ED}" dt="2026-09-16T08:18:39.352" v="74" actId="20577"/>
        <pc:sldMkLst>
          <pc:docMk/>
          <pc:sldMk cId="0" sldId="267"/>
        </pc:sldMkLst>
        <pc:spChg chg="mod">
          <ac:chgData name="Harsha Vardhan" userId="51c1f197de70b828" providerId="LiveId" clId="{DE310B51-CC64-4D6E-8F4C-93006508D9ED}" dt="2026-09-16T08:18:39.352" v="74" actId="20577"/>
          <ac:spMkLst>
            <pc:docMk/>
            <pc:sldMk cId="0" sldId="267"/>
            <ac:spMk id="7" creationId="{00000000-0000-0000-0000-000000000000}"/>
          </ac:spMkLst>
        </pc:spChg>
      </pc:sldChg>
      <pc:sldChg chg="addSp modSp add mod">
        <pc:chgData name="Harsha Vardhan" userId="51c1f197de70b828" providerId="LiveId" clId="{DE310B51-CC64-4D6E-8F4C-93006508D9ED}" dt="2026-09-16T08:24:01.454" v="291" actId="20577"/>
        <pc:sldMkLst>
          <pc:docMk/>
          <pc:sldMk cId="3717140659" sldId="283"/>
        </pc:sldMkLst>
        <pc:spChg chg="mod">
          <ac:chgData name="Harsha Vardhan" userId="51c1f197de70b828" providerId="LiveId" clId="{DE310B51-CC64-4D6E-8F4C-93006508D9ED}" dt="2026-09-16T08:21:44.854" v="80" actId="5793"/>
          <ac:spMkLst>
            <pc:docMk/>
            <pc:sldMk cId="3717140659" sldId="283"/>
            <ac:spMk id="7" creationId="{F6C5AA4F-1395-02D4-D7C0-84F16BF49A98}"/>
          </ac:spMkLst>
        </pc:spChg>
        <pc:spChg chg="add mod">
          <ac:chgData name="Harsha Vardhan" userId="51c1f197de70b828" providerId="LiveId" clId="{DE310B51-CC64-4D6E-8F4C-93006508D9ED}" dt="2026-09-16T08:24:01.454" v="291" actId="20577"/>
          <ac:spMkLst>
            <pc:docMk/>
            <pc:sldMk cId="3717140659" sldId="283"/>
            <ac:spMk id="10" creationId="{8726D69C-51D7-2BA7-599D-EE86CD8AFBAF}"/>
          </ac:spMkLst>
        </pc:spChg>
        <pc:picChg chg="add mod">
          <ac:chgData name="Harsha Vardhan" userId="51c1f197de70b828" providerId="LiveId" clId="{DE310B51-CC64-4D6E-8F4C-93006508D9ED}" dt="2026-09-16T08:22:02.201" v="84" actId="1076"/>
          <ac:picMkLst>
            <pc:docMk/>
            <pc:sldMk cId="3717140659" sldId="283"/>
            <ac:picMk id="9" creationId="{29B42B5D-4CEB-E776-5A19-AECDACB14BDD}"/>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F010C68-B77B-4431-A0A7-693CF58E734A}" type="datetimeFigureOut">
              <a:rPr lang="en-IN" smtClean="0"/>
              <a:t>16-09-2026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DB2EA21-F04E-4710-B9FC-7A1962EBE760}" type="slidenum">
              <a:rPr lang="en-IN" smtClean="0"/>
              <a:t>‹#›</a:t>
            </a:fld>
            <a:endParaRPr lang="en-IN"/>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8DB2EA21-F04E-4710-B9FC-7A1962EBE760}" type="slidenum">
              <a:rPr lang="en-IN" smtClean="0"/>
              <a:t>1</a:t>
            </a:fld>
            <a:endParaRPr lang="en-I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8DB2EA21-F04E-4710-B9FC-7A1962EBE760}" type="slidenum">
              <a:rPr lang="en-IN" smtClean="0"/>
              <a:t>2</a:t>
            </a:fld>
            <a:endParaRPr lang="en-I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8DB2EA21-F04E-4710-B9FC-7A1962EBE760}" type="slidenum">
              <a:rPr lang="en-IN" smtClean="0"/>
              <a:t>3</a:t>
            </a:fld>
            <a:endParaRPr lang="en-IN"/>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8DB2EA21-F04E-4710-B9FC-7A1962EBE760}" type="slidenum">
              <a:rPr lang="en-IN" smtClean="0"/>
              <a:t>4</a:t>
            </a:fld>
            <a:endParaRPr lang="en-IN"/>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8DB2EA21-F04E-4710-B9FC-7A1962EBE760}" type="slidenum">
              <a:rPr lang="en-IN" smtClean="0"/>
              <a:t>5</a:t>
            </a:fld>
            <a:endParaRPr lang="en-IN"/>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1BF50B-10B8-0ECD-2CCD-23D86A9D83B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2385525-C189-5B1B-B791-FE8ED7011B3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46D6FBE-5F82-21EE-C2CD-76DCE1CC70AF}"/>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A4FBF321-3E1C-2835-97AC-D6A6BAA9A2CA}"/>
              </a:ext>
            </a:extLst>
          </p:cNvPr>
          <p:cNvSpPr>
            <a:spLocks noGrp="1"/>
          </p:cNvSpPr>
          <p:nvPr>
            <p:ph type="sldNum" sz="quarter" idx="10"/>
          </p:nvPr>
        </p:nvSpPr>
        <p:spPr/>
        <p:txBody>
          <a:bodyPr/>
          <a:lstStyle/>
          <a:p>
            <a:fld id="{8DB2EA21-F04E-4710-B9FC-7A1962EBE760}" type="slidenum">
              <a:rPr lang="en-IN" smtClean="0"/>
              <a:t>6</a:t>
            </a:fld>
            <a:endParaRPr lang="en-IN"/>
          </a:p>
        </p:txBody>
      </p:sp>
    </p:spTree>
    <p:extLst>
      <p:ext uri="{BB962C8B-B14F-4D97-AF65-F5344CB8AC3E}">
        <p14:creationId xmlns:p14="http://schemas.microsoft.com/office/powerpoint/2010/main" val="217065156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554B03-165C-DCC5-74EA-7B92C17F7D4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92F1782-6A1D-78B0-197E-9412E65B95E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700833B-704B-C2A4-69A7-AF8AE8E5F11D}"/>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89F61734-D2E8-4E51-5FB0-EB04D1554CAC}"/>
              </a:ext>
            </a:extLst>
          </p:cNvPr>
          <p:cNvSpPr>
            <a:spLocks noGrp="1"/>
          </p:cNvSpPr>
          <p:nvPr>
            <p:ph type="sldNum" sz="quarter" idx="10"/>
          </p:nvPr>
        </p:nvSpPr>
        <p:spPr/>
        <p:txBody>
          <a:bodyPr/>
          <a:lstStyle/>
          <a:p>
            <a:fld id="{8DB2EA21-F04E-4710-B9FC-7A1962EBE760}" type="slidenum">
              <a:rPr lang="en-IN" smtClean="0"/>
              <a:t>7</a:t>
            </a:fld>
            <a:endParaRPr lang="en-IN"/>
          </a:p>
        </p:txBody>
      </p:sp>
    </p:spTree>
    <p:extLst>
      <p:ext uri="{BB962C8B-B14F-4D97-AF65-F5344CB8AC3E}">
        <p14:creationId xmlns:p14="http://schemas.microsoft.com/office/powerpoint/2010/main" val="78278996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8DB2EA21-F04E-4710-B9FC-7A1962EBE760}" type="slidenum">
              <a:rPr lang="en-IN" smtClean="0"/>
              <a:t>8</a:t>
            </a:fld>
            <a:endParaRPr lang="en-IN"/>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8DB2EA21-F04E-4710-B9FC-7A1962EBE760}" type="slidenum">
              <a:rPr lang="en-IN" smtClean="0"/>
              <a:t>9</a:t>
            </a:fld>
            <a:endParaRPr lang="en-IN"/>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8DB2EA21-F04E-4710-B9FC-7A1962EBE760}" type="slidenum">
              <a:rPr lang="en-IN" smtClean="0"/>
              <a:t>10</a:t>
            </a:fld>
            <a:endParaRPr lang="en-IN"/>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8DB2EA21-F04E-4710-B9FC-7A1962EBE760}" type="slidenum">
              <a:rPr lang="en-IN" smtClean="0"/>
              <a:t>11</a:t>
            </a:fld>
            <a:endParaRPr lang="en-IN"/>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8DB2EA21-F04E-4710-B9FC-7A1962EBE760}" type="slidenum">
              <a:rPr lang="en-IN" smtClean="0"/>
              <a:t>12</a:t>
            </a:fld>
            <a:endParaRPr lang="en-IN"/>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8DB2EA21-F04E-4710-B9FC-7A1962EBE760}" type="slidenum">
              <a:rPr lang="en-IN" smtClean="0"/>
              <a:t>13</a:t>
            </a:fld>
            <a:endParaRPr lang="en-IN"/>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8DB2EA21-F04E-4710-B9FC-7A1962EBE760}" type="slidenum">
              <a:rPr lang="en-IN" smtClean="0"/>
              <a:t>14</a:t>
            </a:fld>
            <a:endParaRPr lang="en-IN"/>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8DB2EA21-F04E-4710-B9FC-7A1962EBE760}" type="slidenum">
              <a:rPr lang="en-IN" smtClean="0"/>
              <a:t>15</a:t>
            </a:fld>
            <a:endParaRPr lang="en-IN"/>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8DB2EA21-F04E-4710-B9FC-7A1962EBE760}" type="slidenum">
              <a:rPr lang="en-IN" smtClean="0"/>
              <a:t>16</a:t>
            </a:fld>
            <a:endParaRPr lang="en-IN"/>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8DB2EA21-F04E-4710-B9FC-7A1962EBE760}" type="slidenum">
              <a:rPr lang="en-IN" smtClean="0"/>
              <a:t>17</a:t>
            </a:fld>
            <a:endParaRPr lang="en-IN"/>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8DB2EA21-F04E-4710-B9FC-7A1962EBE760}" type="slidenum">
              <a:rPr lang="en-IN" smtClean="0"/>
              <a:t>18</a:t>
            </a:fld>
            <a:endParaRPr lang="en-IN"/>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8DB2EA21-F04E-4710-B9FC-7A1962EBE760}" type="slidenum">
              <a:rPr lang="en-IN" smtClean="0"/>
              <a:t>19</a:t>
            </a:fld>
            <a:endParaRPr lang="en-IN"/>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8DB2EA21-F04E-4710-B9FC-7A1962EBE760}" type="slidenum">
              <a:rPr lang="en-IN" smtClean="0"/>
              <a:t>20</a:t>
            </a:fld>
            <a:endParaRPr lang="en-IN"/>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8DB2EA21-F04E-4710-B9FC-7A1962EBE760}" type="slidenum">
              <a:rPr lang="en-IN" smtClean="0"/>
              <a:t>21</a:t>
            </a:fld>
            <a:endParaRPr lang="en-I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6F881051-4A15-4975-B283-5AE4382EA000}" type="datetime1">
              <a:rPr lang="en-IN" smtClean="0"/>
              <a:t>16-09-2026</a:t>
            </a:fld>
            <a:endParaRPr lang="en-IN"/>
          </a:p>
        </p:txBody>
      </p:sp>
      <p:sp>
        <p:nvSpPr>
          <p:cNvPr id="5" name="Footer Placeholder 4"/>
          <p:cNvSpPr>
            <a:spLocks noGrp="1"/>
          </p:cNvSpPr>
          <p:nvPr>
            <p:ph type="ftr" sz="quarter" idx="11"/>
          </p:nvPr>
        </p:nvSpPr>
        <p:spPr/>
        <p:txBody>
          <a:bodyPr/>
          <a:lstStyle/>
          <a:p>
            <a:r>
              <a:rPr lang="en-IN"/>
              <a:t>VVIT @ Dept. CSM</a:t>
            </a:r>
          </a:p>
        </p:txBody>
      </p:sp>
      <p:sp>
        <p:nvSpPr>
          <p:cNvPr id="6" name="Slide Number Placeholder 5"/>
          <p:cNvSpPr>
            <a:spLocks noGrp="1"/>
          </p:cNvSpPr>
          <p:nvPr>
            <p:ph type="sldNum" sz="quarter" idx="12"/>
          </p:nvPr>
        </p:nvSpPr>
        <p:spPr/>
        <p:txBody>
          <a:bodyPr/>
          <a:lstStyle/>
          <a:p>
            <a:r>
              <a:rPr lang="en-IN" dirty="0"/>
              <a:t>Slide </a:t>
            </a:r>
            <a:fld id="{0F06A4E2-163B-4ABA-8562-AD05AC3F17C5}" type="slidenum">
              <a:rPr lang="en-IN" smtClean="0"/>
              <a:t>‹#›</a:t>
            </a:fld>
            <a:r>
              <a:rPr lang="en-IN" dirty="0"/>
              <a:t> 75</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448024DB-6B9A-4615-862D-DCC9162E1D46}" type="datetime1">
              <a:rPr lang="en-IN" smtClean="0"/>
              <a:t>16-09-2026</a:t>
            </a:fld>
            <a:endParaRPr lang="en-IN"/>
          </a:p>
        </p:txBody>
      </p:sp>
      <p:sp>
        <p:nvSpPr>
          <p:cNvPr id="5" name="Footer Placeholder 4"/>
          <p:cNvSpPr>
            <a:spLocks noGrp="1"/>
          </p:cNvSpPr>
          <p:nvPr>
            <p:ph type="ftr" sz="quarter" idx="11"/>
          </p:nvPr>
        </p:nvSpPr>
        <p:spPr/>
        <p:txBody>
          <a:bodyPr/>
          <a:lstStyle/>
          <a:p>
            <a:r>
              <a:rPr lang="en-IN"/>
              <a:t>VVIT @ Dept. CSM</a:t>
            </a:r>
          </a:p>
        </p:txBody>
      </p:sp>
      <p:sp>
        <p:nvSpPr>
          <p:cNvPr id="6" name="Slide Number Placeholder 5"/>
          <p:cNvSpPr>
            <a:spLocks noGrp="1"/>
          </p:cNvSpPr>
          <p:nvPr>
            <p:ph type="sldNum" sz="quarter" idx="12"/>
          </p:nvPr>
        </p:nvSpPr>
        <p:spPr/>
        <p:txBody>
          <a:bodyPr/>
          <a:lstStyle/>
          <a:p>
            <a:fld id="{0F06A4E2-163B-4ABA-8562-AD05AC3F17C5}" type="slidenum">
              <a:rPr lang="en-IN" smtClean="0"/>
              <a:t>‹#›</a:t>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56FCEB4-FD16-4B07-9207-FB300F7B14E0}" type="datetime1">
              <a:rPr lang="en-IN" smtClean="0"/>
              <a:t>16-09-2026</a:t>
            </a:fld>
            <a:endParaRPr lang="en-IN"/>
          </a:p>
        </p:txBody>
      </p:sp>
      <p:sp>
        <p:nvSpPr>
          <p:cNvPr id="5" name="Footer Placeholder 4"/>
          <p:cNvSpPr>
            <a:spLocks noGrp="1"/>
          </p:cNvSpPr>
          <p:nvPr>
            <p:ph type="ftr" sz="quarter" idx="11"/>
          </p:nvPr>
        </p:nvSpPr>
        <p:spPr/>
        <p:txBody>
          <a:bodyPr/>
          <a:lstStyle/>
          <a:p>
            <a:r>
              <a:rPr lang="en-IN"/>
              <a:t>VVIT @ Dept. CSM</a:t>
            </a:r>
          </a:p>
        </p:txBody>
      </p:sp>
      <p:sp>
        <p:nvSpPr>
          <p:cNvPr id="6" name="Slide Number Placeholder 5"/>
          <p:cNvSpPr>
            <a:spLocks noGrp="1"/>
          </p:cNvSpPr>
          <p:nvPr>
            <p:ph type="sldNum" sz="quarter" idx="12"/>
          </p:nvPr>
        </p:nvSpPr>
        <p:spPr/>
        <p:txBody>
          <a:bodyPr/>
          <a:lstStyle/>
          <a:p>
            <a:fld id="{0F06A4E2-163B-4ABA-8562-AD05AC3F17C5}" type="slidenum">
              <a:rPr lang="en-IN" smtClean="0"/>
              <a:t>‹#›</a:t>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76E49330-105E-4C2D-A945-D7CB0B65AA0D}" type="datetime1">
              <a:rPr lang="en-IN" smtClean="0"/>
              <a:t>16-09-2026</a:t>
            </a:fld>
            <a:endParaRPr lang="en-IN"/>
          </a:p>
        </p:txBody>
      </p:sp>
      <p:sp>
        <p:nvSpPr>
          <p:cNvPr id="6" name="Footer Placeholder 5"/>
          <p:cNvSpPr>
            <a:spLocks noGrp="1"/>
          </p:cNvSpPr>
          <p:nvPr>
            <p:ph type="ftr" sz="quarter" idx="11"/>
          </p:nvPr>
        </p:nvSpPr>
        <p:spPr/>
        <p:txBody>
          <a:bodyPr/>
          <a:lstStyle/>
          <a:p>
            <a:r>
              <a:rPr lang="en-IN"/>
              <a:t>VVIT @ Dept. CSM</a:t>
            </a:r>
          </a:p>
        </p:txBody>
      </p:sp>
      <p:sp>
        <p:nvSpPr>
          <p:cNvPr id="7" name="Slide Number Placeholder 6"/>
          <p:cNvSpPr>
            <a:spLocks noGrp="1"/>
          </p:cNvSpPr>
          <p:nvPr>
            <p:ph type="sldNum" sz="quarter" idx="12"/>
          </p:nvPr>
        </p:nvSpPr>
        <p:spPr/>
        <p:txBody>
          <a:bodyPr/>
          <a:lstStyle/>
          <a:p>
            <a:fld id="{0F06A4E2-163B-4ABA-8562-AD05AC3F17C5}" type="slidenum">
              <a:rPr lang="en-IN" smtClean="0"/>
              <a:t>‹#›</a:t>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B7A2F794-44E1-4BEF-BC28-A1686AB91B35}" type="datetime1">
              <a:rPr lang="en-IN" smtClean="0"/>
              <a:t>16-09-2026</a:t>
            </a:fld>
            <a:endParaRPr lang="en-IN"/>
          </a:p>
        </p:txBody>
      </p:sp>
      <p:sp>
        <p:nvSpPr>
          <p:cNvPr id="8" name="Footer Placeholder 7"/>
          <p:cNvSpPr>
            <a:spLocks noGrp="1"/>
          </p:cNvSpPr>
          <p:nvPr>
            <p:ph type="ftr" sz="quarter" idx="11"/>
          </p:nvPr>
        </p:nvSpPr>
        <p:spPr/>
        <p:txBody>
          <a:bodyPr/>
          <a:lstStyle/>
          <a:p>
            <a:r>
              <a:rPr lang="en-IN"/>
              <a:t>VVIT @ Dept. CSM</a:t>
            </a:r>
          </a:p>
        </p:txBody>
      </p:sp>
      <p:sp>
        <p:nvSpPr>
          <p:cNvPr id="9" name="Slide Number Placeholder 8"/>
          <p:cNvSpPr>
            <a:spLocks noGrp="1"/>
          </p:cNvSpPr>
          <p:nvPr>
            <p:ph type="sldNum" sz="quarter" idx="12"/>
          </p:nvPr>
        </p:nvSpPr>
        <p:spPr/>
        <p:txBody>
          <a:bodyPr/>
          <a:lstStyle/>
          <a:p>
            <a:fld id="{0F06A4E2-163B-4ABA-8562-AD05AC3F17C5}" type="slidenum">
              <a:rPr lang="en-IN" smtClean="0"/>
              <a:t>‹#›</a:t>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D43309A1-C81B-427D-BCEA-27B741B28E1A}" type="datetime1">
              <a:rPr lang="en-IN" smtClean="0"/>
              <a:t>16-09-2026</a:t>
            </a:fld>
            <a:endParaRPr lang="en-IN"/>
          </a:p>
        </p:txBody>
      </p:sp>
      <p:sp>
        <p:nvSpPr>
          <p:cNvPr id="4" name="Footer Placeholder 3"/>
          <p:cNvSpPr>
            <a:spLocks noGrp="1"/>
          </p:cNvSpPr>
          <p:nvPr>
            <p:ph type="ftr" sz="quarter" idx="11"/>
          </p:nvPr>
        </p:nvSpPr>
        <p:spPr/>
        <p:txBody>
          <a:bodyPr/>
          <a:lstStyle/>
          <a:p>
            <a:r>
              <a:rPr lang="en-IN"/>
              <a:t>VVIT @ Dept. CSM</a:t>
            </a:r>
          </a:p>
        </p:txBody>
      </p:sp>
      <p:sp>
        <p:nvSpPr>
          <p:cNvPr id="5" name="Slide Number Placeholder 4"/>
          <p:cNvSpPr>
            <a:spLocks noGrp="1"/>
          </p:cNvSpPr>
          <p:nvPr>
            <p:ph type="sldNum" sz="quarter" idx="12"/>
          </p:nvPr>
        </p:nvSpPr>
        <p:spPr/>
        <p:txBody>
          <a:bodyPr/>
          <a:lstStyle/>
          <a:p>
            <a:fld id="{0F06A4E2-163B-4ABA-8562-AD05AC3F17C5}" type="slidenum">
              <a:rPr lang="en-IN" smtClean="0"/>
              <a:t>‹#›</a:t>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D6757F5-B3DD-41B2-8AD1-E2C7F01E8325}" type="datetime1">
              <a:rPr lang="en-IN" smtClean="0"/>
              <a:t>16-09-2026</a:t>
            </a:fld>
            <a:endParaRPr lang="en-IN"/>
          </a:p>
        </p:txBody>
      </p:sp>
      <p:sp>
        <p:nvSpPr>
          <p:cNvPr id="3" name="Footer Placeholder 2"/>
          <p:cNvSpPr>
            <a:spLocks noGrp="1"/>
          </p:cNvSpPr>
          <p:nvPr>
            <p:ph type="ftr" sz="quarter" idx="11"/>
          </p:nvPr>
        </p:nvSpPr>
        <p:spPr/>
        <p:txBody>
          <a:bodyPr/>
          <a:lstStyle/>
          <a:p>
            <a:r>
              <a:rPr lang="en-IN"/>
              <a:t>VVIT @ Dept. CSM</a:t>
            </a:r>
          </a:p>
        </p:txBody>
      </p:sp>
      <p:sp>
        <p:nvSpPr>
          <p:cNvPr id="4" name="Slide Number Placeholder 3"/>
          <p:cNvSpPr>
            <a:spLocks noGrp="1"/>
          </p:cNvSpPr>
          <p:nvPr>
            <p:ph type="sldNum" sz="quarter" idx="12"/>
          </p:nvPr>
        </p:nvSpPr>
        <p:spPr/>
        <p:txBody>
          <a:bodyPr/>
          <a:lstStyle/>
          <a:p>
            <a:fld id="{0F06A4E2-163B-4ABA-8562-AD05AC3F17C5}" type="slidenum">
              <a:rPr lang="en-IN" smtClean="0"/>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2632F12-6279-426C-8A42-8E638B69DA5E}" type="datetime1">
              <a:rPr lang="en-IN" smtClean="0"/>
              <a:t>16-09-2026</a:t>
            </a:fld>
            <a:endParaRPr lang="en-IN"/>
          </a:p>
        </p:txBody>
      </p:sp>
      <p:sp>
        <p:nvSpPr>
          <p:cNvPr id="6" name="Footer Placeholder 5"/>
          <p:cNvSpPr>
            <a:spLocks noGrp="1"/>
          </p:cNvSpPr>
          <p:nvPr>
            <p:ph type="ftr" sz="quarter" idx="11"/>
          </p:nvPr>
        </p:nvSpPr>
        <p:spPr/>
        <p:txBody>
          <a:bodyPr/>
          <a:lstStyle/>
          <a:p>
            <a:r>
              <a:rPr lang="en-IN"/>
              <a:t>VVIT @ Dept. CSM</a:t>
            </a:r>
          </a:p>
        </p:txBody>
      </p:sp>
      <p:sp>
        <p:nvSpPr>
          <p:cNvPr id="7" name="Slide Number Placeholder 6"/>
          <p:cNvSpPr>
            <a:spLocks noGrp="1"/>
          </p:cNvSpPr>
          <p:nvPr>
            <p:ph type="sldNum" sz="quarter" idx="12"/>
          </p:nvPr>
        </p:nvSpPr>
        <p:spPr/>
        <p:txBody>
          <a:bodyPr/>
          <a:lstStyle/>
          <a:p>
            <a:fld id="{0F06A4E2-163B-4ABA-8562-AD05AC3F17C5}" type="slidenum">
              <a:rPr lang="en-IN" smtClean="0"/>
              <a:t>‹#›</a:t>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ABB4110-22B7-47D9-9F58-54C5B302AF6D}" type="datetime1">
              <a:rPr lang="en-IN" smtClean="0"/>
              <a:t>16-09-2026</a:t>
            </a:fld>
            <a:endParaRPr lang="en-IN"/>
          </a:p>
        </p:txBody>
      </p:sp>
      <p:sp>
        <p:nvSpPr>
          <p:cNvPr id="6" name="Footer Placeholder 5"/>
          <p:cNvSpPr>
            <a:spLocks noGrp="1"/>
          </p:cNvSpPr>
          <p:nvPr>
            <p:ph type="ftr" sz="quarter" idx="11"/>
          </p:nvPr>
        </p:nvSpPr>
        <p:spPr/>
        <p:txBody>
          <a:bodyPr/>
          <a:lstStyle/>
          <a:p>
            <a:r>
              <a:rPr lang="en-IN"/>
              <a:t>VVIT @ Dept. CSM</a:t>
            </a:r>
          </a:p>
        </p:txBody>
      </p:sp>
      <p:sp>
        <p:nvSpPr>
          <p:cNvPr id="7" name="Slide Number Placeholder 6"/>
          <p:cNvSpPr>
            <a:spLocks noGrp="1"/>
          </p:cNvSpPr>
          <p:nvPr>
            <p:ph type="sldNum" sz="quarter" idx="12"/>
          </p:nvPr>
        </p:nvSpPr>
        <p:spPr/>
        <p:txBody>
          <a:bodyPr/>
          <a:lstStyle/>
          <a:p>
            <a:fld id="{0F06A4E2-163B-4ABA-8562-AD05AC3F17C5}" type="slidenum">
              <a:rPr lang="en-IN" smtClean="0"/>
              <a:t>‹#›</a:t>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80575400-B1DF-4AF6-AB50-CBCE8962669C}" type="datetime1">
              <a:rPr lang="en-IN" smtClean="0"/>
              <a:t>16-09-2026</a:t>
            </a:fld>
            <a:endParaRPr lang="en-IN"/>
          </a:p>
        </p:txBody>
      </p:sp>
      <p:sp>
        <p:nvSpPr>
          <p:cNvPr id="5" name="Footer Placeholder 4"/>
          <p:cNvSpPr>
            <a:spLocks noGrp="1"/>
          </p:cNvSpPr>
          <p:nvPr>
            <p:ph type="ftr" sz="quarter" idx="11"/>
          </p:nvPr>
        </p:nvSpPr>
        <p:spPr/>
        <p:txBody>
          <a:bodyPr/>
          <a:lstStyle/>
          <a:p>
            <a:r>
              <a:rPr lang="en-IN"/>
              <a:t>VVIT @ Dept. CSM</a:t>
            </a:r>
          </a:p>
        </p:txBody>
      </p:sp>
      <p:sp>
        <p:nvSpPr>
          <p:cNvPr id="6" name="Slide Number Placeholder 5"/>
          <p:cNvSpPr>
            <a:spLocks noGrp="1"/>
          </p:cNvSpPr>
          <p:nvPr>
            <p:ph type="sldNum" sz="quarter" idx="12"/>
          </p:nvPr>
        </p:nvSpPr>
        <p:spPr/>
        <p:txBody>
          <a:bodyPr/>
          <a:lstStyle/>
          <a:p>
            <a:fld id="{0F06A4E2-163B-4ABA-8562-AD05AC3F17C5}" type="slidenum">
              <a:rPr lang="en-IN" smtClean="0"/>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E8A8D284-3CDB-49DE-A927-05878722C64F}" type="datetime1">
              <a:rPr lang="en-IN" smtClean="0"/>
              <a:t>16-09-2026</a:t>
            </a:fld>
            <a:endParaRPr lang="en-IN"/>
          </a:p>
        </p:txBody>
      </p:sp>
      <p:sp>
        <p:nvSpPr>
          <p:cNvPr id="5" name="Footer Placeholder 4"/>
          <p:cNvSpPr>
            <a:spLocks noGrp="1"/>
          </p:cNvSpPr>
          <p:nvPr>
            <p:ph type="ftr" sz="quarter" idx="11"/>
          </p:nvPr>
        </p:nvSpPr>
        <p:spPr/>
        <p:txBody>
          <a:bodyPr/>
          <a:lstStyle/>
          <a:p>
            <a:r>
              <a:rPr lang="en-IN"/>
              <a:t>VVIT @ Dept. CSM</a:t>
            </a:r>
          </a:p>
        </p:txBody>
      </p:sp>
      <p:sp>
        <p:nvSpPr>
          <p:cNvPr id="6" name="Slide Number Placeholder 5"/>
          <p:cNvSpPr>
            <a:spLocks noGrp="1"/>
          </p:cNvSpPr>
          <p:nvPr>
            <p:ph type="sldNum" sz="quarter" idx="12"/>
          </p:nvPr>
        </p:nvSpPr>
        <p:spPr/>
        <p:txBody>
          <a:bodyPr/>
          <a:lstStyle/>
          <a:p>
            <a:fld id="{0F06A4E2-163B-4ABA-8562-AD05AC3F17C5}" type="slidenum">
              <a:rPr lang="en-IN" smtClean="0"/>
              <a:t>‹#›</a:t>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72B7110-61B4-45BA-A110-4FCE83D5E720}" type="datetime1">
              <a:rPr lang="en-IN" smtClean="0"/>
              <a:t>16-09-2026</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IN"/>
              <a:t>VVIT @ Dept. CSM</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F06A4E2-163B-4ABA-8562-AD05AC3F17C5}" type="slidenum">
              <a:rPr lang="en-IN" smtClean="0"/>
              <a:t>‹#›</a:t>
            </a:fld>
            <a:endParaRPr lang="en-I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slide" Target="slide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2.jpe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3.jpe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1.xml"/><Relationship Id="rId1" Type="http://schemas.openxmlformats.org/officeDocument/2006/relationships/tags" Target="../tags/tag1.xml"/><Relationship Id="rId4" Type="http://schemas.openxmlformats.org/officeDocument/2006/relationships/image" Target="../media/image1.png"/></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9B1A8B0-3C3E-4DAC-946D-F1A2452D5558}" type="datetime1">
              <a:rPr lang="en-IN" smtClean="0">
                <a:solidFill>
                  <a:srgbClr val="E77E69"/>
                </a:solidFill>
              </a:rPr>
              <a:t>16-09-2026</a:t>
            </a:fld>
            <a:endParaRPr lang="en-IN" dirty="0">
              <a:solidFill>
                <a:srgbClr val="E77E69"/>
              </a:solidFill>
            </a:endParaRPr>
          </a:p>
        </p:txBody>
      </p:sp>
      <p:sp>
        <p:nvSpPr>
          <p:cNvPr id="4" name="Slide Number Placeholder 3"/>
          <p:cNvSpPr>
            <a:spLocks noGrp="1"/>
          </p:cNvSpPr>
          <p:nvPr>
            <p:ph type="sldNum" sz="quarter" idx="12"/>
          </p:nvPr>
        </p:nvSpPr>
        <p:spPr/>
        <p:txBody>
          <a:bodyPr/>
          <a:lstStyle/>
          <a:p>
            <a:fld id="{0F06A4E2-163B-4ABA-8562-AD05AC3F17C5}" type="slidenum">
              <a:rPr lang="en-IN" smtClean="0">
                <a:solidFill>
                  <a:srgbClr val="E77E69"/>
                </a:solidFill>
              </a:rPr>
              <a:t>1</a:t>
            </a:fld>
            <a:endParaRPr lang="en-IN" dirty="0">
              <a:solidFill>
                <a:srgbClr val="E77E69"/>
              </a:solidFill>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008880" y="223842"/>
            <a:ext cx="2174240" cy="1517438"/>
          </a:xfrm>
          <a:prstGeom prst="rect">
            <a:avLst/>
          </a:prstGeom>
        </p:spPr>
      </p:pic>
      <p:sp>
        <p:nvSpPr>
          <p:cNvPr id="6" name="TextBox 5">
            <a:hlinkClick r:id="rId4" action="ppaction://hlinksldjump"/>
          </p:cNvPr>
          <p:cNvSpPr txBox="1"/>
          <p:nvPr/>
        </p:nvSpPr>
        <p:spPr>
          <a:xfrm>
            <a:off x="1184698" y="1732772"/>
            <a:ext cx="9822608" cy="1384995"/>
          </a:xfrm>
          <a:prstGeom prst="rect">
            <a:avLst/>
          </a:prstGeom>
          <a:noFill/>
        </p:spPr>
        <p:txBody>
          <a:bodyPr wrap="square" rtlCol="0">
            <a:spAutoFit/>
          </a:bodyPr>
          <a:lstStyle/>
          <a:p>
            <a:pPr algn="ctr"/>
            <a:r>
              <a:rPr lang="en-IN" sz="2800" dirty="0">
                <a:latin typeface="Times New Roman" panose="02020603050405020304" pitchFamily="18" charset="0"/>
                <a:cs typeface="Times New Roman" panose="02020603050405020304" pitchFamily="18" charset="0"/>
              </a:rPr>
              <a:t>Contribution-Aware Trust Mechanism for </a:t>
            </a:r>
          </a:p>
          <a:p>
            <a:pPr algn="ctr"/>
            <a:r>
              <a:rPr lang="en-IN" sz="2800" dirty="0">
                <a:latin typeface="Times New Roman" panose="02020603050405020304" pitchFamily="18" charset="0"/>
                <a:cs typeface="Times New Roman" panose="02020603050405020304" pitchFamily="18" charset="0"/>
              </a:rPr>
              <a:t>Poisoning Attack Detection in Swarm Learning</a:t>
            </a:r>
          </a:p>
          <a:p>
            <a:pPr algn="ctr"/>
            <a:endParaRPr lang="en-IN" sz="2800" dirty="0">
              <a:latin typeface="Times New Roman" panose="02020603050405020304" pitchFamily="18" charset="0"/>
              <a:cs typeface="Times New Roman" panose="02020603050405020304" pitchFamily="18" charset="0"/>
            </a:endParaRPr>
          </a:p>
        </p:txBody>
      </p:sp>
      <p:sp>
        <p:nvSpPr>
          <p:cNvPr id="7" name="TextBox 6"/>
          <p:cNvSpPr txBox="1"/>
          <p:nvPr/>
        </p:nvSpPr>
        <p:spPr>
          <a:xfrm>
            <a:off x="4864925" y="2751597"/>
            <a:ext cx="2531462" cy="369332"/>
          </a:xfrm>
          <a:prstGeom prst="rect">
            <a:avLst/>
          </a:prstGeom>
          <a:noFill/>
        </p:spPr>
        <p:txBody>
          <a:bodyPr wrap="none" rtlCol="0">
            <a:spAutoFit/>
          </a:bodyPr>
          <a:lstStyle/>
          <a:p>
            <a:r>
              <a:rPr lang="en-IN" dirty="0">
                <a:solidFill>
                  <a:srgbClr val="E77E69"/>
                </a:solidFill>
                <a:latin typeface="Times New Roman" panose="02020603050405020304" pitchFamily="18" charset="0"/>
                <a:cs typeface="Times New Roman" panose="02020603050405020304" pitchFamily="18" charset="0"/>
              </a:rPr>
              <a:t>Major Project Review - 1</a:t>
            </a:r>
          </a:p>
        </p:txBody>
      </p:sp>
      <p:sp>
        <p:nvSpPr>
          <p:cNvPr id="8" name="TextBox 7"/>
          <p:cNvSpPr txBox="1"/>
          <p:nvPr/>
        </p:nvSpPr>
        <p:spPr>
          <a:xfrm>
            <a:off x="5038626" y="3102396"/>
            <a:ext cx="2114746" cy="369332"/>
          </a:xfrm>
          <a:prstGeom prst="rect">
            <a:avLst/>
          </a:prstGeom>
          <a:noFill/>
        </p:spPr>
        <p:txBody>
          <a:bodyPr wrap="none" rtlCol="0">
            <a:spAutoFit/>
          </a:bodyPr>
          <a:lstStyle/>
          <a:p>
            <a:pPr algn="ctr"/>
            <a:r>
              <a:rPr lang="en-IN" dirty="0">
                <a:latin typeface="Times New Roman" panose="02020603050405020304" pitchFamily="18" charset="0"/>
                <a:cs typeface="Times New Roman" panose="02020603050405020304" pitchFamily="18" charset="0"/>
              </a:rPr>
              <a:t>Batch ID: AIM-A14 </a:t>
            </a:r>
          </a:p>
        </p:txBody>
      </p:sp>
      <p:sp>
        <p:nvSpPr>
          <p:cNvPr id="9" name="TextBox 8"/>
          <p:cNvSpPr txBox="1"/>
          <p:nvPr/>
        </p:nvSpPr>
        <p:spPr>
          <a:xfrm>
            <a:off x="1757756" y="4841655"/>
            <a:ext cx="3216971" cy="646331"/>
          </a:xfrm>
          <a:prstGeom prst="rect">
            <a:avLst/>
          </a:prstGeom>
          <a:noFill/>
        </p:spPr>
        <p:txBody>
          <a:bodyPr wrap="none" rtlCol="0">
            <a:spAutoFit/>
          </a:bodyPr>
          <a:lstStyle/>
          <a:p>
            <a:pPr algn="ctr"/>
            <a:r>
              <a:rPr lang="en-IN" dirty="0">
                <a:latin typeface="Times New Roman" panose="02020603050405020304" pitchFamily="18" charset="0"/>
                <a:cs typeface="Times New Roman" panose="02020603050405020304" pitchFamily="18" charset="0"/>
              </a:rPr>
              <a:t>Mrs. B. Lalitha Rajeswari</a:t>
            </a:r>
          </a:p>
          <a:p>
            <a:pPr algn="ctr"/>
            <a:r>
              <a:rPr lang="en-IN" dirty="0">
                <a:latin typeface="Times New Roman" panose="02020603050405020304" pitchFamily="18" charset="0"/>
                <a:cs typeface="Times New Roman" panose="02020603050405020304" pitchFamily="18" charset="0"/>
              </a:rPr>
              <a:t>Assistant Professor, CSM, VVIT</a:t>
            </a:r>
          </a:p>
        </p:txBody>
      </p:sp>
      <p:sp>
        <p:nvSpPr>
          <p:cNvPr id="10" name="TextBox 9"/>
          <p:cNvSpPr txBox="1"/>
          <p:nvPr/>
        </p:nvSpPr>
        <p:spPr>
          <a:xfrm>
            <a:off x="7636329" y="4315108"/>
            <a:ext cx="2608535" cy="400110"/>
          </a:xfrm>
          <a:prstGeom prst="rect">
            <a:avLst/>
          </a:prstGeom>
          <a:noFill/>
        </p:spPr>
        <p:txBody>
          <a:bodyPr wrap="none" rtlCol="0">
            <a:spAutoFit/>
          </a:bodyPr>
          <a:lstStyle/>
          <a:p>
            <a:pPr algn="ctr"/>
            <a:r>
              <a:rPr lang="en-IN" sz="2000" i="1" dirty="0">
                <a:solidFill>
                  <a:srgbClr val="E77E69"/>
                </a:solidFill>
                <a:latin typeface="Times New Roman" panose="02020603050405020304" pitchFamily="18" charset="0"/>
                <a:cs typeface="Times New Roman" panose="02020603050405020304" pitchFamily="18" charset="0"/>
              </a:rPr>
              <a:t>Project Batch Members</a:t>
            </a:r>
          </a:p>
        </p:txBody>
      </p:sp>
      <p:sp>
        <p:nvSpPr>
          <p:cNvPr id="12" name="TextBox 11"/>
          <p:cNvSpPr txBox="1"/>
          <p:nvPr/>
        </p:nvSpPr>
        <p:spPr>
          <a:xfrm>
            <a:off x="5962262" y="4936546"/>
            <a:ext cx="3051110" cy="646331"/>
          </a:xfrm>
          <a:prstGeom prst="rect">
            <a:avLst/>
          </a:prstGeom>
          <a:noFill/>
        </p:spPr>
        <p:txBody>
          <a:bodyPr wrap="square" rtlCol="0">
            <a:spAutoFit/>
          </a:bodyPr>
          <a:lstStyle/>
          <a:p>
            <a:r>
              <a:rPr lang="en-IN" dirty="0">
                <a:latin typeface="Times New Roman" panose="02020603050405020304" pitchFamily="18" charset="0"/>
                <a:cs typeface="Times New Roman" panose="02020603050405020304" pitchFamily="18" charset="0"/>
              </a:rPr>
              <a:t>D.THRIPURA– 23BQ1A6129</a:t>
            </a:r>
          </a:p>
          <a:p>
            <a:r>
              <a:rPr lang="en-IN" dirty="0">
                <a:latin typeface="Times New Roman" panose="02020603050405020304" pitchFamily="18" charset="0"/>
                <a:cs typeface="Times New Roman" panose="02020603050405020304" pitchFamily="18" charset="0"/>
              </a:rPr>
              <a:t>G.HARSHA – 23BQ1A6136</a:t>
            </a:r>
          </a:p>
        </p:txBody>
      </p:sp>
      <p:sp>
        <p:nvSpPr>
          <p:cNvPr id="13" name="TextBox 12"/>
          <p:cNvSpPr txBox="1"/>
          <p:nvPr/>
        </p:nvSpPr>
        <p:spPr>
          <a:xfrm>
            <a:off x="8836090" y="4936546"/>
            <a:ext cx="3051110" cy="646331"/>
          </a:xfrm>
          <a:prstGeom prst="rect">
            <a:avLst/>
          </a:prstGeom>
          <a:noFill/>
        </p:spPr>
        <p:txBody>
          <a:bodyPr wrap="square" rtlCol="0">
            <a:spAutoFit/>
          </a:bodyPr>
          <a:lstStyle/>
          <a:p>
            <a:r>
              <a:rPr lang="en-IN" dirty="0">
                <a:latin typeface="Times New Roman" panose="02020603050405020304" pitchFamily="18" charset="0"/>
                <a:cs typeface="Times New Roman" panose="02020603050405020304" pitchFamily="18" charset="0"/>
              </a:rPr>
              <a:t>CH.TEJASRI – 23BQ1A6123</a:t>
            </a:r>
          </a:p>
          <a:p>
            <a:r>
              <a:rPr lang="en-IN" dirty="0">
                <a:latin typeface="Times New Roman" panose="02020603050405020304" pitchFamily="18" charset="0"/>
                <a:cs typeface="Times New Roman" panose="02020603050405020304" pitchFamily="18" charset="0"/>
              </a:rPr>
              <a:t> – 24BQ5A6125</a:t>
            </a:r>
          </a:p>
        </p:txBody>
      </p:sp>
      <p:sp>
        <p:nvSpPr>
          <p:cNvPr id="14" name="TextBox 13"/>
          <p:cNvSpPr txBox="1"/>
          <p:nvPr/>
        </p:nvSpPr>
        <p:spPr>
          <a:xfrm>
            <a:off x="2556497" y="4315108"/>
            <a:ext cx="1619482" cy="400110"/>
          </a:xfrm>
          <a:prstGeom prst="rect">
            <a:avLst/>
          </a:prstGeom>
          <a:noFill/>
        </p:spPr>
        <p:txBody>
          <a:bodyPr wrap="none" rtlCol="0">
            <a:spAutoFit/>
          </a:bodyPr>
          <a:lstStyle/>
          <a:p>
            <a:pPr algn="ctr"/>
            <a:r>
              <a:rPr lang="en-IN" sz="2000" i="1" dirty="0">
                <a:solidFill>
                  <a:srgbClr val="E77E69"/>
                </a:solidFill>
                <a:latin typeface="Times New Roman" panose="02020603050405020304" pitchFamily="18" charset="0"/>
                <a:cs typeface="Times New Roman" panose="02020603050405020304" pitchFamily="18" charset="0"/>
              </a:rPr>
              <a:t>Project Guide</a:t>
            </a:r>
          </a:p>
        </p:txBody>
      </p:sp>
      <p:sp>
        <p:nvSpPr>
          <p:cNvPr id="15" name="Footer Placeholder 11"/>
          <p:cNvSpPr>
            <a:spLocks noGrp="1"/>
          </p:cNvSpPr>
          <p:nvPr>
            <p:ph type="ftr" sz="quarter" idx="11"/>
          </p:nvPr>
        </p:nvSpPr>
        <p:spPr>
          <a:xfrm>
            <a:off x="3999271" y="6460922"/>
            <a:ext cx="4114800" cy="365125"/>
          </a:xfrm>
        </p:spPr>
        <p:txBody>
          <a:bodyPr/>
          <a:lstStyle/>
          <a:p>
            <a:r>
              <a:rPr lang="en-IN" dirty="0">
                <a:solidFill>
                  <a:srgbClr val="E77E32"/>
                </a:solidFill>
              </a:rPr>
              <a:t>Dept. CSM @ VVIT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 y="6980"/>
            <a:ext cx="12192000" cy="837398"/>
          </a:xfrm>
          <a:prstGeom prst="rect">
            <a:avLst/>
          </a:prstGeom>
          <a:solidFill>
            <a:srgbClr val="E77E69"/>
          </a:soli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IN" dirty="0">
              <a:solidFill>
                <a:srgbClr val="FFFF00"/>
              </a:solidFill>
              <a:latin typeface="Times New Roman" panose="02020603050405020304" pitchFamily="18" charset="0"/>
              <a:cs typeface="Times New Roman" panose="02020603050405020304" pitchFamily="18" charset="0"/>
            </a:endParaRPr>
          </a:p>
        </p:txBody>
      </p:sp>
      <p:sp>
        <p:nvSpPr>
          <p:cNvPr id="5" name="Rectangle 4"/>
          <p:cNvSpPr/>
          <p:nvPr/>
        </p:nvSpPr>
        <p:spPr>
          <a:xfrm>
            <a:off x="0" y="6451517"/>
            <a:ext cx="12192000" cy="393289"/>
          </a:xfrm>
          <a:prstGeom prst="rect">
            <a:avLst/>
          </a:prstGeom>
          <a:solidFill>
            <a:srgbClr val="E77E69"/>
          </a:soli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IN"/>
          </a:p>
        </p:txBody>
      </p:sp>
      <p:sp>
        <p:nvSpPr>
          <p:cNvPr id="11" name="Date Placeholder 10"/>
          <p:cNvSpPr>
            <a:spLocks noGrp="1"/>
          </p:cNvSpPr>
          <p:nvPr>
            <p:ph type="dt" sz="half" idx="10"/>
          </p:nvPr>
        </p:nvSpPr>
        <p:spPr>
          <a:xfrm>
            <a:off x="0" y="6460922"/>
            <a:ext cx="997974" cy="365125"/>
          </a:xfrm>
        </p:spPr>
        <p:txBody>
          <a:bodyPr/>
          <a:lstStyle/>
          <a:p>
            <a:fld id="{C72AAC90-D07C-417D-96C6-81B39DB87062}" type="datetime1">
              <a:rPr lang="en-IN" smtClean="0">
                <a:solidFill>
                  <a:schemeClr val="tx1"/>
                </a:solidFill>
              </a:rPr>
              <a:t>16-09-2026</a:t>
            </a:fld>
            <a:endParaRPr lang="en-IN" dirty="0">
              <a:solidFill>
                <a:schemeClr val="tx1"/>
              </a:solidFill>
            </a:endParaRPr>
          </a:p>
        </p:txBody>
      </p:sp>
      <p:sp>
        <p:nvSpPr>
          <p:cNvPr id="12" name="Footer Placeholder 11"/>
          <p:cNvSpPr>
            <a:spLocks noGrp="1"/>
          </p:cNvSpPr>
          <p:nvPr>
            <p:ph type="ftr" sz="quarter" idx="11"/>
          </p:nvPr>
        </p:nvSpPr>
        <p:spPr>
          <a:xfrm>
            <a:off x="3999271" y="6460922"/>
            <a:ext cx="4114800" cy="365125"/>
          </a:xfrm>
        </p:spPr>
        <p:txBody>
          <a:bodyPr/>
          <a:lstStyle/>
          <a:p>
            <a:r>
              <a:rPr lang="en-IN" dirty="0">
                <a:solidFill>
                  <a:schemeClr val="tx1"/>
                </a:solidFill>
              </a:rPr>
              <a:t>Dept. CSM @ VVIT</a:t>
            </a:r>
          </a:p>
        </p:txBody>
      </p:sp>
      <p:sp>
        <p:nvSpPr>
          <p:cNvPr id="13" name="Slide Number Placeholder 12"/>
          <p:cNvSpPr>
            <a:spLocks noGrp="1"/>
          </p:cNvSpPr>
          <p:nvPr>
            <p:ph type="sldNum" sz="quarter" idx="12"/>
          </p:nvPr>
        </p:nvSpPr>
        <p:spPr>
          <a:xfrm>
            <a:off x="11227443" y="6478792"/>
            <a:ext cx="876067" cy="379208"/>
          </a:xfrm>
        </p:spPr>
        <p:txBody>
          <a:bodyPr/>
          <a:lstStyle/>
          <a:p>
            <a:fld id="{0F06A4E2-163B-4ABA-8562-AD05AC3F17C5}" type="slidenum">
              <a:rPr lang="en-IN" sz="1800" smtClean="0">
                <a:solidFill>
                  <a:schemeClr val="tx1"/>
                </a:solidFill>
              </a:rPr>
              <a:t>2</a:t>
            </a:fld>
            <a:endParaRPr lang="en-IN" sz="1800" dirty="0">
              <a:solidFill>
                <a:schemeClr val="tx1"/>
              </a:solidFill>
            </a:endParaRPr>
          </a:p>
        </p:txBody>
      </p:sp>
      <p:sp>
        <p:nvSpPr>
          <p:cNvPr id="15" name="TextBox 14"/>
          <p:cNvSpPr txBox="1"/>
          <p:nvPr/>
        </p:nvSpPr>
        <p:spPr>
          <a:xfrm flipH="1">
            <a:off x="335901" y="877163"/>
            <a:ext cx="11720167" cy="461665"/>
          </a:xfrm>
          <a:prstGeom prst="rect">
            <a:avLst/>
          </a:prstGeom>
          <a:noFill/>
        </p:spPr>
        <p:txBody>
          <a:bodyPr wrap="square" rtlCol="0">
            <a:spAutoFit/>
          </a:bodyPr>
          <a:lstStyle/>
          <a:p>
            <a:r>
              <a:rPr lang="en-IN" sz="2400" b="1" dirty="0">
                <a:latin typeface="Times New Roman" panose="02020603050405020304" pitchFamily="18" charset="0"/>
                <a:cs typeface="Times New Roman" panose="02020603050405020304" pitchFamily="18" charset="0"/>
              </a:rPr>
              <a:t>Problem statement:</a:t>
            </a:r>
          </a:p>
        </p:txBody>
      </p:sp>
      <p:sp>
        <p:nvSpPr>
          <p:cNvPr id="2" name="TextBox 1"/>
          <p:cNvSpPr txBox="1"/>
          <p:nvPr/>
        </p:nvSpPr>
        <p:spPr>
          <a:xfrm>
            <a:off x="8955476" y="31393"/>
            <a:ext cx="3148033" cy="830997"/>
          </a:xfrm>
          <a:prstGeom prst="rect">
            <a:avLst/>
          </a:prstGeom>
          <a:noFill/>
        </p:spPr>
        <p:txBody>
          <a:bodyPr wrap="square" rtlCol="0">
            <a:spAutoFit/>
          </a:bodyPr>
          <a:lstStyle/>
          <a:p>
            <a:r>
              <a:rPr lang="en-IN" sz="1200" dirty="0">
                <a:latin typeface="Times New Roman" panose="02020603050405020304" pitchFamily="18" charset="0"/>
                <a:cs typeface="Times New Roman" panose="02020603050405020304" pitchFamily="18" charset="0"/>
              </a:rPr>
              <a:t>Guide: Mrs. B. Lalitha Rajeswari</a:t>
            </a:r>
          </a:p>
          <a:p>
            <a:r>
              <a:rPr lang="en-IN" sz="1200" dirty="0">
                <a:latin typeface="Times New Roman" panose="02020603050405020304" pitchFamily="18" charset="0"/>
                <a:cs typeface="Times New Roman" panose="02020603050405020304" pitchFamily="18" charset="0"/>
              </a:rPr>
              <a:t>Batch ID: A14</a:t>
            </a:r>
          </a:p>
          <a:p>
            <a:r>
              <a:rPr lang="en-IN" sz="1200" dirty="0">
                <a:latin typeface="Times New Roman" panose="02020603050405020304" pitchFamily="18" charset="0"/>
                <a:cs typeface="Times New Roman" panose="02020603050405020304" pitchFamily="18" charset="0"/>
              </a:rPr>
              <a:t>23BQ1A6129(TL),	23BQ1A6136,</a:t>
            </a:r>
          </a:p>
          <a:p>
            <a:r>
              <a:rPr lang="en-IN" sz="1200" dirty="0">
                <a:latin typeface="Times New Roman" panose="02020603050405020304" pitchFamily="18" charset="0"/>
                <a:cs typeface="Times New Roman" panose="02020603050405020304" pitchFamily="18" charset="0"/>
              </a:rPr>
              <a:t>23BQ1A6123,                         24BQ5A6125</a:t>
            </a:r>
            <a:endParaRPr lang="en-IN" sz="1200" dirty="0"/>
          </a:p>
        </p:txBody>
      </p:sp>
      <p:pic>
        <p:nvPicPr>
          <p:cNvPr id="3" name="Picture 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4186" y="92353"/>
            <a:ext cx="993618" cy="693462"/>
          </a:xfrm>
          <a:prstGeom prst="rect">
            <a:avLst/>
          </a:prstGeom>
        </p:spPr>
      </p:pic>
      <p:sp>
        <p:nvSpPr>
          <p:cNvPr id="14" name="TextBox 13"/>
          <p:cNvSpPr txBox="1"/>
          <p:nvPr/>
        </p:nvSpPr>
        <p:spPr>
          <a:xfrm>
            <a:off x="1531467" y="82617"/>
            <a:ext cx="7424010" cy="646331"/>
          </a:xfrm>
          <a:prstGeom prst="rect">
            <a:avLst/>
          </a:prstGeom>
          <a:noFill/>
        </p:spPr>
        <p:txBody>
          <a:bodyPr wrap="square" rtlCol="0">
            <a:spAutoFit/>
          </a:bodyPr>
          <a:lstStyle/>
          <a:p>
            <a:r>
              <a:rPr lang="en-IN" dirty="0">
                <a:latin typeface="Times New Roman" panose="02020603050405020304" pitchFamily="18" charset="0"/>
                <a:cs typeface="Times New Roman" panose="02020603050405020304" pitchFamily="18" charset="0"/>
              </a:rPr>
              <a:t>Contribution-Aware Trust Mechanism for Poisoning Attack Detection in Swarm Learning</a:t>
            </a:r>
          </a:p>
        </p:txBody>
      </p:sp>
      <p:sp>
        <p:nvSpPr>
          <p:cNvPr id="6" name="TextBox 5"/>
          <p:cNvSpPr txBox="1"/>
          <p:nvPr/>
        </p:nvSpPr>
        <p:spPr>
          <a:xfrm>
            <a:off x="522513" y="1548881"/>
            <a:ext cx="10704930" cy="4197559"/>
          </a:xfrm>
          <a:prstGeom prst="rect">
            <a:avLst/>
          </a:prstGeom>
          <a:noFill/>
        </p:spPr>
        <p:txBody>
          <a:bodyPr wrap="square" rtlCol="0">
            <a:spAutoFit/>
          </a:bodyPr>
          <a:lstStyle/>
          <a:p>
            <a:pPr algn="just">
              <a:lnSpc>
                <a:spcPct val="150000"/>
              </a:lnSpc>
            </a:pPr>
            <a:r>
              <a:rPr lang="en-IN" dirty="0">
                <a:latin typeface="Times New Roman" panose="02020603050405020304" pitchFamily="18" charset="0"/>
                <a:cs typeface="Times New Roman" panose="02020603050405020304" pitchFamily="18" charset="0"/>
              </a:rPr>
              <a:t>In an ideal Swarm Learning environment, participating nodes should securely contribute to a global model while accurately distinguishing malicious poisoning updates from legitimate updates generated by honest participants. However, existing detection approaches that rely primarily on update similarity may incorrectly identify honest participants as malicious when their local data distributions are Non-IID, while sophisticated malicious updates may remain undetected. This can increase the false positive rate, attack success rate, and degradation of global model accuracy. Therefore, an effective mechanism is required to evaluate participant contribution and behavioural characteristics using multiple factors such as contribution, validation performance, update magnitude, similarity, and historical behaviour, thereby improving poisoning detection while preserving the contributions of honest Non-IID participants.</a:t>
            </a:r>
          </a:p>
          <a:p>
            <a:pPr>
              <a:lnSpc>
                <a:spcPct val="150000"/>
              </a:lnSpc>
            </a:pPr>
            <a:endParaRPr lang="en-IN"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 y="6980"/>
            <a:ext cx="12192000" cy="837398"/>
          </a:xfrm>
          <a:prstGeom prst="rect">
            <a:avLst/>
          </a:prstGeom>
          <a:solidFill>
            <a:srgbClr val="E77E69"/>
          </a:soli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IN" dirty="0">
              <a:solidFill>
                <a:srgbClr val="FFFF00"/>
              </a:solidFill>
              <a:latin typeface="Times New Roman" panose="02020603050405020304" pitchFamily="18" charset="0"/>
              <a:cs typeface="Times New Roman" panose="02020603050405020304" pitchFamily="18" charset="0"/>
            </a:endParaRPr>
          </a:p>
        </p:txBody>
      </p:sp>
      <p:sp>
        <p:nvSpPr>
          <p:cNvPr id="5" name="Rectangle 4"/>
          <p:cNvSpPr/>
          <p:nvPr/>
        </p:nvSpPr>
        <p:spPr>
          <a:xfrm>
            <a:off x="0" y="6451517"/>
            <a:ext cx="12192000" cy="393289"/>
          </a:xfrm>
          <a:prstGeom prst="rect">
            <a:avLst/>
          </a:prstGeom>
          <a:solidFill>
            <a:srgbClr val="E77E69"/>
          </a:soli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IN"/>
          </a:p>
        </p:txBody>
      </p:sp>
      <p:sp>
        <p:nvSpPr>
          <p:cNvPr id="11" name="Date Placeholder 10"/>
          <p:cNvSpPr>
            <a:spLocks noGrp="1"/>
          </p:cNvSpPr>
          <p:nvPr>
            <p:ph type="dt" sz="half" idx="10"/>
          </p:nvPr>
        </p:nvSpPr>
        <p:spPr>
          <a:xfrm>
            <a:off x="0" y="6460922"/>
            <a:ext cx="997974" cy="365125"/>
          </a:xfrm>
        </p:spPr>
        <p:txBody>
          <a:bodyPr/>
          <a:lstStyle/>
          <a:p>
            <a:fld id="{C72AAC90-D07C-417D-96C6-81B39DB87062}" type="datetime1">
              <a:rPr lang="en-IN" smtClean="0">
                <a:solidFill>
                  <a:schemeClr val="tx1"/>
                </a:solidFill>
              </a:rPr>
              <a:t>16-09-2026</a:t>
            </a:fld>
            <a:endParaRPr lang="en-IN" dirty="0">
              <a:solidFill>
                <a:schemeClr val="tx1"/>
              </a:solidFill>
            </a:endParaRPr>
          </a:p>
        </p:txBody>
      </p:sp>
      <p:sp>
        <p:nvSpPr>
          <p:cNvPr id="13" name="Slide Number Placeholder 12"/>
          <p:cNvSpPr>
            <a:spLocks noGrp="1"/>
          </p:cNvSpPr>
          <p:nvPr>
            <p:ph type="sldNum" sz="quarter" idx="12"/>
          </p:nvPr>
        </p:nvSpPr>
        <p:spPr>
          <a:xfrm>
            <a:off x="11227443" y="6478792"/>
            <a:ext cx="876067" cy="379208"/>
          </a:xfrm>
        </p:spPr>
        <p:txBody>
          <a:bodyPr/>
          <a:lstStyle/>
          <a:p>
            <a:fld id="{0F06A4E2-163B-4ABA-8562-AD05AC3F17C5}" type="slidenum">
              <a:rPr lang="en-IN" sz="1800" smtClean="0">
                <a:solidFill>
                  <a:schemeClr val="tx1"/>
                </a:solidFill>
              </a:rPr>
              <a:t>3</a:t>
            </a:fld>
            <a:endParaRPr lang="en-IN" sz="1800" dirty="0">
              <a:solidFill>
                <a:schemeClr val="tx1"/>
              </a:solidFill>
            </a:endParaRPr>
          </a:p>
        </p:txBody>
      </p:sp>
      <p:sp>
        <p:nvSpPr>
          <p:cNvPr id="15" name="TextBox 14"/>
          <p:cNvSpPr txBox="1"/>
          <p:nvPr/>
        </p:nvSpPr>
        <p:spPr>
          <a:xfrm flipH="1">
            <a:off x="135928" y="877163"/>
            <a:ext cx="2063808" cy="400110"/>
          </a:xfrm>
          <a:prstGeom prst="rect">
            <a:avLst/>
          </a:prstGeom>
          <a:noFill/>
        </p:spPr>
        <p:txBody>
          <a:bodyPr wrap="square" rtlCol="0">
            <a:spAutoFit/>
          </a:bodyPr>
          <a:lstStyle/>
          <a:p>
            <a:r>
              <a:rPr lang="en-IN" sz="2000" dirty="0">
                <a:latin typeface="Times New Roman" panose="02020603050405020304" pitchFamily="18" charset="0"/>
                <a:cs typeface="Times New Roman" panose="02020603050405020304" pitchFamily="18" charset="0"/>
              </a:rPr>
              <a:t>Literature Review</a:t>
            </a:r>
          </a:p>
        </p:txBody>
      </p:sp>
      <p:sp>
        <p:nvSpPr>
          <p:cNvPr id="2" name="TextBox 1"/>
          <p:cNvSpPr txBox="1"/>
          <p:nvPr/>
        </p:nvSpPr>
        <p:spPr>
          <a:xfrm>
            <a:off x="8955476" y="31393"/>
            <a:ext cx="3148033" cy="830997"/>
          </a:xfrm>
          <a:prstGeom prst="rect">
            <a:avLst/>
          </a:prstGeom>
          <a:noFill/>
        </p:spPr>
        <p:txBody>
          <a:bodyPr wrap="square" rtlCol="0">
            <a:spAutoFit/>
          </a:bodyPr>
          <a:lstStyle/>
          <a:p>
            <a:r>
              <a:rPr lang="en-IN" sz="1200" dirty="0">
                <a:latin typeface="Times New Roman" panose="02020603050405020304" pitchFamily="18" charset="0"/>
                <a:cs typeface="Times New Roman" panose="02020603050405020304" pitchFamily="18" charset="0"/>
              </a:rPr>
              <a:t>Guide: Mrs. B. Lalitha Rajeswari</a:t>
            </a:r>
          </a:p>
          <a:p>
            <a:r>
              <a:rPr lang="en-IN" sz="1200" dirty="0">
                <a:latin typeface="Times New Roman" panose="02020603050405020304" pitchFamily="18" charset="0"/>
                <a:cs typeface="Times New Roman" panose="02020603050405020304" pitchFamily="18" charset="0"/>
              </a:rPr>
              <a:t>Batch ID: A14</a:t>
            </a:r>
          </a:p>
          <a:p>
            <a:r>
              <a:rPr lang="en-IN" sz="1200" dirty="0">
                <a:latin typeface="Times New Roman" panose="02020603050405020304" pitchFamily="18" charset="0"/>
                <a:cs typeface="Times New Roman" panose="02020603050405020304" pitchFamily="18" charset="0"/>
              </a:rPr>
              <a:t>23BQ1A6129(TL),	23BQ1A6136,</a:t>
            </a:r>
          </a:p>
          <a:p>
            <a:r>
              <a:rPr lang="en-IN" sz="1200" dirty="0">
                <a:latin typeface="Times New Roman" panose="02020603050405020304" pitchFamily="18" charset="0"/>
                <a:cs typeface="Times New Roman" panose="02020603050405020304" pitchFamily="18" charset="0"/>
              </a:rPr>
              <a:t>23BQ1A6123,                         24BQ5A6125</a:t>
            </a:r>
            <a:endParaRPr lang="en-IN" dirty="0"/>
          </a:p>
        </p:txBody>
      </p:sp>
      <p:pic>
        <p:nvPicPr>
          <p:cNvPr id="3" name="Picture 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4186" y="92353"/>
            <a:ext cx="993618" cy="693462"/>
          </a:xfrm>
          <a:prstGeom prst="rect">
            <a:avLst/>
          </a:prstGeom>
        </p:spPr>
      </p:pic>
      <p:sp>
        <p:nvSpPr>
          <p:cNvPr id="14" name="TextBox 13"/>
          <p:cNvSpPr txBox="1"/>
          <p:nvPr/>
        </p:nvSpPr>
        <p:spPr>
          <a:xfrm>
            <a:off x="1531467" y="82617"/>
            <a:ext cx="7424010" cy="646331"/>
          </a:xfrm>
          <a:prstGeom prst="rect">
            <a:avLst/>
          </a:prstGeom>
          <a:noFill/>
        </p:spPr>
        <p:txBody>
          <a:bodyPr wrap="square" rtlCol="0">
            <a:spAutoFit/>
          </a:bodyPr>
          <a:lstStyle/>
          <a:p>
            <a:r>
              <a:rPr lang="en-IN" dirty="0">
                <a:latin typeface="Times New Roman" panose="02020603050405020304" pitchFamily="18" charset="0"/>
                <a:cs typeface="Times New Roman" panose="02020603050405020304" pitchFamily="18" charset="0"/>
              </a:rPr>
              <a:t>Contribution-Aware Trust Mechanism for Poisoning Attack Detection in Swarm Learning</a:t>
            </a:r>
          </a:p>
        </p:txBody>
      </p:sp>
      <p:sp>
        <p:nvSpPr>
          <p:cNvPr id="16" name="Footer Placeholder 11"/>
          <p:cNvSpPr>
            <a:spLocks noGrp="1"/>
          </p:cNvSpPr>
          <p:nvPr>
            <p:ph type="ftr" sz="quarter" idx="11"/>
          </p:nvPr>
        </p:nvSpPr>
        <p:spPr>
          <a:xfrm>
            <a:off x="3999271" y="6460922"/>
            <a:ext cx="4114800" cy="365125"/>
          </a:xfrm>
        </p:spPr>
        <p:txBody>
          <a:bodyPr/>
          <a:lstStyle/>
          <a:p>
            <a:r>
              <a:rPr lang="en-IN" dirty="0">
                <a:solidFill>
                  <a:schemeClr val="tx1"/>
                </a:solidFill>
              </a:rPr>
              <a:t>Dept. CSM @ VVIT</a:t>
            </a:r>
          </a:p>
        </p:txBody>
      </p:sp>
      <p:sp>
        <p:nvSpPr>
          <p:cNvPr id="17" name="TextBox 16"/>
          <p:cNvSpPr txBox="1"/>
          <p:nvPr/>
        </p:nvSpPr>
        <p:spPr>
          <a:xfrm flipH="1">
            <a:off x="135928" y="1326501"/>
            <a:ext cx="11920141" cy="307777"/>
          </a:xfrm>
          <a:prstGeom prst="rect">
            <a:avLst/>
          </a:prstGeom>
          <a:noFill/>
        </p:spPr>
        <p:txBody>
          <a:bodyPr wrap="square" rtlCol="0">
            <a:spAutoFit/>
          </a:bodyPr>
          <a:lstStyle/>
          <a:p>
            <a:r>
              <a:rPr lang="en-IN" sz="1400" dirty="0">
                <a:latin typeface="Times New Roman" panose="02020603050405020304" pitchFamily="18" charset="0"/>
                <a:cs typeface="Times New Roman" panose="02020603050405020304" pitchFamily="18" charset="0"/>
              </a:rPr>
              <a:t>| Proposed Method | </a:t>
            </a:r>
            <a:r>
              <a:rPr lang="en-IN" sz="1400" dirty="0">
                <a:solidFill>
                  <a:schemeClr val="bg1">
                    <a:lumMod val="75000"/>
                  </a:schemeClr>
                </a:solidFill>
                <a:latin typeface="Times New Roman" panose="02020603050405020304" pitchFamily="18" charset="0"/>
                <a:cs typeface="Times New Roman" panose="02020603050405020304" pitchFamily="18" charset="0"/>
              </a:rPr>
              <a:t>Data &amp; Setup | key Results | Strengths &amp; Limitations | Relevance to my research |</a:t>
            </a:r>
          </a:p>
        </p:txBody>
      </p:sp>
      <p:sp>
        <p:nvSpPr>
          <p:cNvPr id="6" name="Rectangle 5"/>
          <p:cNvSpPr/>
          <p:nvPr/>
        </p:nvSpPr>
        <p:spPr>
          <a:xfrm>
            <a:off x="2082799" y="862390"/>
            <a:ext cx="10020709" cy="438582"/>
          </a:xfrm>
          <a:prstGeom prst="rect">
            <a:avLst/>
          </a:prstGeom>
        </p:spPr>
        <p:txBody>
          <a:bodyPr wrap="square">
            <a:spAutoFit/>
          </a:bodyPr>
          <a:lstStyle/>
          <a:p>
            <a:r>
              <a:rPr lang="en-US" sz="1100" b="1" dirty="0">
                <a:latin typeface="Times New Roman" panose="02020603050405020304" pitchFamily="18" charset="0"/>
                <a:cs typeface="Times New Roman" panose="02020603050405020304" pitchFamily="18" charset="0"/>
              </a:rPr>
              <a:t>Byzantine robust federated learning for heterogeneous brain MRI using </a:t>
            </a:r>
            <a:r>
              <a:rPr lang="en-US" sz="1100" b="1" dirty="0" err="1">
                <a:latin typeface="Times New Roman" panose="02020603050405020304" pitchFamily="18" charset="0"/>
                <a:cs typeface="Times New Roman" panose="02020603050405020304" pitchFamily="18" charset="0"/>
              </a:rPr>
              <a:t>multisignal</a:t>
            </a:r>
            <a:r>
              <a:rPr lang="en-US" sz="1100" b="1" dirty="0">
                <a:latin typeface="Times New Roman" panose="02020603050405020304" pitchFamily="18" charset="0"/>
                <a:cs typeface="Times New Roman" panose="02020603050405020304" pitchFamily="18" charset="0"/>
              </a:rPr>
              <a:t> gradient fingerprinting and adaptive trust aggregation </a:t>
            </a:r>
            <a:endParaRPr lang="en-US" sz="1100" dirty="0">
              <a:latin typeface="Times New Roman" panose="02020603050405020304" pitchFamily="18" charset="0"/>
              <a:cs typeface="Times New Roman" panose="02020603050405020304" pitchFamily="18" charset="0"/>
            </a:endParaRPr>
          </a:p>
          <a:p>
            <a:r>
              <a:rPr lang="en-IN" sz="1100" b="1" dirty="0">
                <a:latin typeface="Times New Roman" panose="02020603050405020304" pitchFamily="18" charset="0"/>
                <a:cs typeface="Times New Roman" panose="02020603050405020304" pitchFamily="18" charset="0"/>
              </a:rPr>
              <a:t>Mohammad Karami1, Hamed Kebriaei1</a:t>
            </a:r>
            <a:r>
              <a:rPr lang="en-IN" sz="1100" dirty="0">
                <a:latin typeface="Times New Roman" panose="02020603050405020304" pitchFamily="18" charset="0"/>
                <a:cs typeface="Times New Roman" panose="02020603050405020304" pitchFamily="18" charset="0"/>
              </a:rPr>
              <a:t></a:t>
            </a:r>
            <a:r>
              <a:rPr lang="en-IN" sz="1100" b="1" dirty="0">
                <a:latin typeface="Times New Roman" panose="02020603050405020304" pitchFamily="18" charset="0"/>
                <a:cs typeface="Times New Roman" panose="02020603050405020304" pitchFamily="18" charset="0"/>
              </a:rPr>
              <a:t>, Fatemeh Ghassemi1 &amp; Hamid Azadegan2 </a:t>
            </a:r>
            <a:r>
              <a:rPr lang="en-US" sz="1100" i="1" dirty="0">
                <a:latin typeface="Times New Roman" panose="02020603050405020304" pitchFamily="18" charset="0"/>
                <a:cs typeface="Times New Roman" panose="02020603050405020304" pitchFamily="18" charset="0"/>
              </a:rPr>
              <a:t>| </a:t>
            </a:r>
            <a:r>
              <a:rPr lang="en-IN" sz="1100" dirty="0">
                <a:latin typeface="Times New Roman" panose="02020603050405020304" pitchFamily="18" charset="0"/>
                <a:cs typeface="Times New Roman" panose="02020603050405020304" pitchFamily="18" charset="0"/>
              </a:rPr>
              <a:t>www.nature.com/scientificreports</a:t>
            </a:r>
          </a:p>
        </p:txBody>
      </p:sp>
      <p:sp>
        <p:nvSpPr>
          <p:cNvPr id="7" name="TextBox 6"/>
          <p:cNvSpPr txBox="1"/>
          <p:nvPr/>
        </p:nvSpPr>
        <p:spPr>
          <a:xfrm>
            <a:off x="498987" y="1771693"/>
            <a:ext cx="10658276" cy="2951064"/>
          </a:xfrm>
          <a:prstGeom prst="rect">
            <a:avLst/>
          </a:prstGeom>
          <a:noFill/>
        </p:spPr>
        <p:txBody>
          <a:bodyPr wrap="square" rtlCol="0">
            <a:spAutoFit/>
          </a:bodyPr>
          <a:lstStyle/>
          <a:p>
            <a:pPr marL="285750" indent="-285750" algn="just">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Multi-signal gradient fingerprinting characterizes client updates using cosine similarity, peer similarity, gradient norm, sign consistency, and contribution.</a:t>
            </a:r>
          </a:p>
          <a:p>
            <a:pPr marL="285750" indent="-285750" algn="just">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Client contribution assessment evaluates the functional impact of each update on the global model.</a:t>
            </a:r>
          </a:p>
          <a:p>
            <a:pPr marL="285750" indent="-285750" algn="just">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A trust-aware aggregation mechanism combines these signals to assign adaptive trust weights.</a:t>
            </a:r>
          </a:p>
          <a:p>
            <a:pPr marL="285750" indent="-285750" algn="just">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Trust weights reduce the influence of malicious or unreliable updates during aggregation.</a:t>
            </a:r>
          </a:p>
          <a:p>
            <a:pPr marL="285750" indent="-285750" algn="just">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The framework improves Byzantine robustness under Non-IID data while maintaining model performance.</a:t>
            </a:r>
          </a:p>
          <a:p>
            <a:pPr marL="285750" indent="-285750" algn="just">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Experiments demonstrate improved robustness against multiple poisoning attacks.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 y="6980"/>
            <a:ext cx="12192000" cy="837398"/>
          </a:xfrm>
          <a:prstGeom prst="rect">
            <a:avLst/>
          </a:prstGeom>
          <a:solidFill>
            <a:srgbClr val="E77E69"/>
          </a:soli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IN" dirty="0">
              <a:solidFill>
                <a:srgbClr val="FFFF00"/>
              </a:solidFill>
              <a:latin typeface="Times New Roman" panose="02020603050405020304" pitchFamily="18" charset="0"/>
              <a:cs typeface="Times New Roman" panose="02020603050405020304" pitchFamily="18" charset="0"/>
            </a:endParaRPr>
          </a:p>
        </p:txBody>
      </p:sp>
      <p:sp>
        <p:nvSpPr>
          <p:cNvPr id="5" name="Rectangle 4"/>
          <p:cNvSpPr/>
          <p:nvPr/>
        </p:nvSpPr>
        <p:spPr>
          <a:xfrm>
            <a:off x="0" y="6451517"/>
            <a:ext cx="12192000" cy="393289"/>
          </a:xfrm>
          <a:prstGeom prst="rect">
            <a:avLst/>
          </a:prstGeom>
          <a:solidFill>
            <a:srgbClr val="E77E69"/>
          </a:soli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IN"/>
          </a:p>
        </p:txBody>
      </p:sp>
      <p:sp>
        <p:nvSpPr>
          <p:cNvPr id="11" name="Date Placeholder 10"/>
          <p:cNvSpPr>
            <a:spLocks noGrp="1"/>
          </p:cNvSpPr>
          <p:nvPr>
            <p:ph type="dt" sz="half" idx="10"/>
          </p:nvPr>
        </p:nvSpPr>
        <p:spPr>
          <a:xfrm>
            <a:off x="0" y="6460922"/>
            <a:ext cx="997974" cy="365125"/>
          </a:xfrm>
        </p:spPr>
        <p:txBody>
          <a:bodyPr/>
          <a:lstStyle/>
          <a:p>
            <a:fld id="{C72AAC90-D07C-417D-96C6-81B39DB87062}" type="datetime1">
              <a:rPr lang="en-IN" smtClean="0">
                <a:solidFill>
                  <a:schemeClr val="tx1"/>
                </a:solidFill>
              </a:rPr>
              <a:t>16-09-2026</a:t>
            </a:fld>
            <a:endParaRPr lang="en-IN" dirty="0">
              <a:solidFill>
                <a:schemeClr val="tx1"/>
              </a:solidFill>
            </a:endParaRPr>
          </a:p>
        </p:txBody>
      </p:sp>
      <p:sp>
        <p:nvSpPr>
          <p:cNvPr id="13" name="Slide Number Placeholder 12"/>
          <p:cNvSpPr>
            <a:spLocks noGrp="1"/>
          </p:cNvSpPr>
          <p:nvPr>
            <p:ph type="sldNum" sz="quarter" idx="12"/>
          </p:nvPr>
        </p:nvSpPr>
        <p:spPr>
          <a:xfrm>
            <a:off x="11227443" y="6478792"/>
            <a:ext cx="876067" cy="379208"/>
          </a:xfrm>
        </p:spPr>
        <p:txBody>
          <a:bodyPr/>
          <a:lstStyle/>
          <a:p>
            <a:fld id="{0F06A4E2-163B-4ABA-8562-AD05AC3F17C5}" type="slidenum">
              <a:rPr lang="en-IN" sz="1800" smtClean="0">
                <a:solidFill>
                  <a:schemeClr val="tx1"/>
                </a:solidFill>
              </a:rPr>
              <a:t>4</a:t>
            </a:fld>
            <a:endParaRPr lang="en-IN" sz="1800" dirty="0">
              <a:solidFill>
                <a:schemeClr val="tx1"/>
              </a:solidFill>
            </a:endParaRPr>
          </a:p>
        </p:txBody>
      </p:sp>
      <p:sp>
        <p:nvSpPr>
          <p:cNvPr id="15" name="TextBox 14"/>
          <p:cNvSpPr txBox="1"/>
          <p:nvPr/>
        </p:nvSpPr>
        <p:spPr>
          <a:xfrm flipH="1">
            <a:off x="135928" y="877163"/>
            <a:ext cx="2063808" cy="400110"/>
          </a:xfrm>
          <a:prstGeom prst="rect">
            <a:avLst/>
          </a:prstGeom>
          <a:noFill/>
        </p:spPr>
        <p:txBody>
          <a:bodyPr wrap="square" rtlCol="0">
            <a:spAutoFit/>
          </a:bodyPr>
          <a:lstStyle/>
          <a:p>
            <a:r>
              <a:rPr lang="en-IN" sz="2000" dirty="0">
                <a:latin typeface="Times New Roman" panose="02020603050405020304" pitchFamily="18" charset="0"/>
                <a:cs typeface="Times New Roman" panose="02020603050405020304" pitchFamily="18" charset="0"/>
              </a:rPr>
              <a:t>Literature Review</a:t>
            </a:r>
          </a:p>
        </p:txBody>
      </p:sp>
      <p:sp>
        <p:nvSpPr>
          <p:cNvPr id="2" name="TextBox 1"/>
          <p:cNvSpPr txBox="1"/>
          <p:nvPr/>
        </p:nvSpPr>
        <p:spPr>
          <a:xfrm>
            <a:off x="8955476" y="31393"/>
            <a:ext cx="3148033" cy="830997"/>
          </a:xfrm>
          <a:prstGeom prst="rect">
            <a:avLst/>
          </a:prstGeom>
          <a:noFill/>
        </p:spPr>
        <p:txBody>
          <a:bodyPr wrap="square" rtlCol="0">
            <a:spAutoFit/>
          </a:bodyPr>
          <a:lstStyle/>
          <a:p>
            <a:r>
              <a:rPr lang="en-IN" sz="1200" dirty="0">
                <a:latin typeface="Times New Roman" panose="02020603050405020304" pitchFamily="18" charset="0"/>
                <a:cs typeface="Times New Roman" panose="02020603050405020304" pitchFamily="18" charset="0"/>
              </a:rPr>
              <a:t>Guide: Mrs. B. Lalitha Rajeswari</a:t>
            </a:r>
          </a:p>
          <a:p>
            <a:r>
              <a:rPr lang="en-IN" sz="1200" dirty="0">
                <a:latin typeface="Times New Roman" panose="02020603050405020304" pitchFamily="18" charset="0"/>
                <a:cs typeface="Times New Roman" panose="02020603050405020304" pitchFamily="18" charset="0"/>
              </a:rPr>
              <a:t>Batch ID: A14</a:t>
            </a:r>
          </a:p>
          <a:p>
            <a:r>
              <a:rPr lang="en-IN" sz="1200" dirty="0">
                <a:latin typeface="Times New Roman" panose="02020603050405020304" pitchFamily="18" charset="0"/>
                <a:cs typeface="Times New Roman" panose="02020603050405020304" pitchFamily="18" charset="0"/>
              </a:rPr>
              <a:t>23BQ1A6129(TL),	23BQ1A6136,</a:t>
            </a:r>
          </a:p>
          <a:p>
            <a:r>
              <a:rPr lang="en-IN" sz="1200" dirty="0">
                <a:latin typeface="Times New Roman" panose="02020603050405020304" pitchFamily="18" charset="0"/>
                <a:cs typeface="Times New Roman" panose="02020603050405020304" pitchFamily="18" charset="0"/>
              </a:rPr>
              <a:t>23BQ1A6123,                         24BQ5A6125</a:t>
            </a:r>
            <a:endParaRPr lang="en-IN" sz="1200" dirty="0"/>
          </a:p>
        </p:txBody>
      </p:sp>
      <p:pic>
        <p:nvPicPr>
          <p:cNvPr id="3" name="Picture 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4186" y="92353"/>
            <a:ext cx="993618" cy="693462"/>
          </a:xfrm>
          <a:prstGeom prst="rect">
            <a:avLst/>
          </a:prstGeom>
        </p:spPr>
      </p:pic>
      <p:sp>
        <p:nvSpPr>
          <p:cNvPr id="14" name="TextBox 13"/>
          <p:cNvSpPr txBox="1"/>
          <p:nvPr/>
        </p:nvSpPr>
        <p:spPr>
          <a:xfrm>
            <a:off x="1531467" y="82617"/>
            <a:ext cx="7424010" cy="646331"/>
          </a:xfrm>
          <a:prstGeom prst="rect">
            <a:avLst/>
          </a:prstGeom>
          <a:noFill/>
        </p:spPr>
        <p:txBody>
          <a:bodyPr wrap="square" rtlCol="0">
            <a:spAutoFit/>
          </a:bodyPr>
          <a:lstStyle/>
          <a:p>
            <a:r>
              <a:rPr lang="en-IN" dirty="0">
                <a:latin typeface="Times New Roman" panose="02020603050405020304" pitchFamily="18" charset="0"/>
                <a:cs typeface="Times New Roman" panose="02020603050405020304" pitchFamily="18" charset="0"/>
              </a:rPr>
              <a:t>Contribution-Aware Trust Mechanism for Poisoning Attack Detection in Swarm Learning</a:t>
            </a:r>
          </a:p>
        </p:txBody>
      </p:sp>
      <p:sp>
        <p:nvSpPr>
          <p:cNvPr id="16" name="Footer Placeholder 11"/>
          <p:cNvSpPr>
            <a:spLocks noGrp="1"/>
          </p:cNvSpPr>
          <p:nvPr>
            <p:ph type="ftr" sz="quarter" idx="11"/>
          </p:nvPr>
        </p:nvSpPr>
        <p:spPr>
          <a:xfrm>
            <a:off x="3999271" y="6460922"/>
            <a:ext cx="4114800" cy="365125"/>
          </a:xfrm>
        </p:spPr>
        <p:txBody>
          <a:bodyPr/>
          <a:lstStyle/>
          <a:p>
            <a:r>
              <a:rPr lang="en-IN" dirty="0">
                <a:solidFill>
                  <a:schemeClr val="tx1"/>
                </a:solidFill>
              </a:rPr>
              <a:t>Dept. CSM @ VVIT</a:t>
            </a:r>
          </a:p>
        </p:txBody>
      </p:sp>
      <p:sp>
        <p:nvSpPr>
          <p:cNvPr id="17" name="TextBox 16"/>
          <p:cNvSpPr txBox="1"/>
          <p:nvPr/>
        </p:nvSpPr>
        <p:spPr>
          <a:xfrm flipH="1">
            <a:off x="135928" y="1326501"/>
            <a:ext cx="11920141" cy="307777"/>
          </a:xfrm>
          <a:prstGeom prst="rect">
            <a:avLst/>
          </a:prstGeom>
          <a:noFill/>
        </p:spPr>
        <p:txBody>
          <a:bodyPr wrap="square" rtlCol="0">
            <a:spAutoFit/>
          </a:bodyPr>
          <a:lstStyle/>
          <a:p>
            <a:r>
              <a:rPr lang="en-IN" sz="1400" dirty="0">
                <a:solidFill>
                  <a:schemeClr val="bg1">
                    <a:lumMod val="75000"/>
                  </a:schemeClr>
                </a:solidFill>
                <a:latin typeface="Times New Roman" panose="02020603050405020304" pitchFamily="18" charset="0"/>
                <a:cs typeface="Times New Roman" panose="02020603050405020304" pitchFamily="18" charset="0"/>
              </a:rPr>
              <a:t>| Proposed Method </a:t>
            </a:r>
            <a:r>
              <a:rPr lang="en-IN" sz="1400" dirty="0">
                <a:latin typeface="Times New Roman" panose="02020603050405020304" pitchFamily="18" charset="0"/>
                <a:cs typeface="Times New Roman" panose="02020603050405020304" pitchFamily="18" charset="0"/>
              </a:rPr>
              <a:t>| Data &amp; Setup | </a:t>
            </a:r>
            <a:r>
              <a:rPr lang="en-IN" sz="1400" dirty="0">
                <a:solidFill>
                  <a:schemeClr val="bg1">
                    <a:lumMod val="75000"/>
                  </a:schemeClr>
                </a:solidFill>
                <a:latin typeface="Times New Roman" panose="02020603050405020304" pitchFamily="18" charset="0"/>
                <a:cs typeface="Times New Roman" panose="02020603050405020304" pitchFamily="18" charset="0"/>
              </a:rPr>
              <a:t>key Results | Strengths &amp; Limitations | Relevance to my research |</a:t>
            </a:r>
          </a:p>
        </p:txBody>
      </p:sp>
      <p:sp>
        <p:nvSpPr>
          <p:cNvPr id="6" name="Rectangle 5"/>
          <p:cNvSpPr/>
          <p:nvPr/>
        </p:nvSpPr>
        <p:spPr>
          <a:xfrm>
            <a:off x="2082799" y="862390"/>
            <a:ext cx="10020709" cy="430887"/>
          </a:xfrm>
          <a:prstGeom prst="rect">
            <a:avLst/>
          </a:prstGeom>
        </p:spPr>
        <p:txBody>
          <a:bodyPr wrap="square">
            <a:spAutoFit/>
          </a:bodyPr>
          <a:lstStyle/>
          <a:p>
            <a:r>
              <a:rPr lang="en-US" sz="1100" b="1" dirty="0">
                <a:latin typeface="Times New Roman" panose="02020603050405020304" pitchFamily="18" charset="0"/>
                <a:cs typeface="Times New Roman" panose="02020603050405020304" pitchFamily="18" charset="0"/>
              </a:rPr>
              <a:t>Byzantine robust federated learning for heterogeneous brain MRI using </a:t>
            </a:r>
            <a:r>
              <a:rPr lang="en-US" sz="1100" b="1" dirty="0" err="1">
                <a:latin typeface="Times New Roman" panose="02020603050405020304" pitchFamily="18" charset="0"/>
                <a:cs typeface="Times New Roman" panose="02020603050405020304" pitchFamily="18" charset="0"/>
              </a:rPr>
              <a:t>multisignal</a:t>
            </a:r>
            <a:r>
              <a:rPr lang="en-US" sz="1100" b="1" dirty="0">
                <a:latin typeface="Times New Roman" panose="02020603050405020304" pitchFamily="18" charset="0"/>
                <a:cs typeface="Times New Roman" panose="02020603050405020304" pitchFamily="18" charset="0"/>
              </a:rPr>
              <a:t> gradient fingerprinting and adaptive trust aggregation </a:t>
            </a:r>
            <a:endParaRPr lang="en-US" sz="1100" dirty="0">
              <a:latin typeface="Times New Roman" panose="02020603050405020304" pitchFamily="18" charset="0"/>
              <a:cs typeface="Times New Roman" panose="02020603050405020304" pitchFamily="18" charset="0"/>
            </a:endParaRPr>
          </a:p>
          <a:p>
            <a:r>
              <a:rPr lang="en-IN" sz="1100" b="1" dirty="0">
                <a:latin typeface="Times New Roman" panose="02020603050405020304" pitchFamily="18" charset="0"/>
                <a:cs typeface="Times New Roman" panose="02020603050405020304" pitchFamily="18" charset="0"/>
              </a:rPr>
              <a:t>Mohammad Karami1, Hamed Kebriaei1</a:t>
            </a:r>
            <a:r>
              <a:rPr lang="en-IN" sz="1100" dirty="0">
                <a:latin typeface="Times New Roman" panose="02020603050405020304" pitchFamily="18" charset="0"/>
                <a:cs typeface="Times New Roman" panose="02020603050405020304" pitchFamily="18" charset="0"/>
              </a:rPr>
              <a:t></a:t>
            </a:r>
            <a:r>
              <a:rPr lang="en-IN" sz="1100" b="1" dirty="0">
                <a:latin typeface="Times New Roman" panose="02020603050405020304" pitchFamily="18" charset="0"/>
                <a:cs typeface="Times New Roman" panose="02020603050405020304" pitchFamily="18" charset="0"/>
              </a:rPr>
              <a:t>, Fatemeh Ghassemi1 &amp; Hamid Azadegan2 </a:t>
            </a:r>
            <a:r>
              <a:rPr lang="en-US" sz="1100" i="1" dirty="0">
                <a:latin typeface="Times New Roman" panose="02020603050405020304" pitchFamily="18" charset="0"/>
                <a:cs typeface="Times New Roman" panose="02020603050405020304" pitchFamily="18" charset="0"/>
              </a:rPr>
              <a:t>| </a:t>
            </a:r>
            <a:r>
              <a:rPr lang="en-IN" sz="1100" dirty="0">
                <a:latin typeface="Times New Roman" panose="02020603050405020304" pitchFamily="18" charset="0"/>
                <a:cs typeface="Times New Roman" panose="02020603050405020304" pitchFamily="18" charset="0"/>
              </a:rPr>
              <a:t>www.nature.com/scientificreports</a:t>
            </a:r>
          </a:p>
        </p:txBody>
      </p:sp>
      <p:sp>
        <p:nvSpPr>
          <p:cNvPr id="7" name="TextBox 6"/>
          <p:cNvSpPr txBox="1"/>
          <p:nvPr/>
        </p:nvSpPr>
        <p:spPr>
          <a:xfrm>
            <a:off x="498987" y="1795477"/>
            <a:ext cx="8744702" cy="2951064"/>
          </a:xfrm>
          <a:prstGeom prst="rect">
            <a:avLst/>
          </a:prstGeom>
          <a:noFill/>
        </p:spPr>
        <p:txBody>
          <a:bodyPr wrap="none" rtlCol="0">
            <a:spAutoFit/>
          </a:bodyPr>
          <a:lstStyle/>
          <a:p>
            <a:pPr marL="285750" lvl="0" indent="-285750" algn="just">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Datasets: MNIST, CIFAR-10, Alzheimer’s MRI, and OASIS MRI. </a:t>
            </a:r>
          </a:p>
          <a:p>
            <a:pPr marL="285750" lvl="0" indent="-285750" algn="just">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Models: 3-layer CNN for MNIST; ResNet-18 for CIFAR-10 and MRI datasets. </a:t>
            </a:r>
          </a:p>
          <a:p>
            <a:pPr marL="285750" lvl="0" indent="-285750" algn="just">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Data split: 80% training and 20% testing across clients. </a:t>
            </a:r>
          </a:p>
          <a:p>
            <a:pPr marL="285750" lvl="0" indent="-285750" algn="just">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Non-IID setting: Dirichlet-based heterogeneous data distribution. </a:t>
            </a:r>
          </a:p>
          <a:p>
            <a:pPr marL="285750" lvl="0" indent="-285750" algn="just">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Federation: Up to 50 clients and 25–30 communication rounds. </a:t>
            </a:r>
          </a:p>
          <a:p>
            <a:pPr marL="285750" lvl="0" indent="-285750" algn="just">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Attacks: Scaling, partial scaling, sign-flipping, Gaussian noise, and label-flipping attacks.</a:t>
            </a:r>
          </a:p>
          <a:p>
            <a:pPr marL="285750" indent="-285750" algn="just">
              <a:lnSpc>
                <a:spcPct val="150000"/>
              </a:lnSpc>
              <a:buFont typeface="Arial" panose="020B0604020202020204" pitchFamily="34" charset="0"/>
              <a:buChar char="•"/>
            </a:pPr>
            <a:endParaRPr lang="en-IN"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 y="6980"/>
            <a:ext cx="12192000" cy="837398"/>
          </a:xfrm>
          <a:prstGeom prst="rect">
            <a:avLst/>
          </a:prstGeom>
          <a:solidFill>
            <a:srgbClr val="E77E69"/>
          </a:soli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IN" dirty="0">
              <a:solidFill>
                <a:srgbClr val="FFFF00"/>
              </a:solidFill>
              <a:latin typeface="Times New Roman" panose="02020603050405020304" pitchFamily="18" charset="0"/>
              <a:cs typeface="Times New Roman" panose="02020603050405020304" pitchFamily="18" charset="0"/>
            </a:endParaRPr>
          </a:p>
        </p:txBody>
      </p:sp>
      <p:sp>
        <p:nvSpPr>
          <p:cNvPr id="5" name="Rectangle 4"/>
          <p:cNvSpPr/>
          <p:nvPr/>
        </p:nvSpPr>
        <p:spPr>
          <a:xfrm>
            <a:off x="0" y="6451517"/>
            <a:ext cx="12192000" cy="393289"/>
          </a:xfrm>
          <a:prstGeom prst="rect">
            <a:avLst/>
          </a:prstGeom>
          <a:solidFill>
            <a:srgbClr val="E77E69"/>
          </a:soli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IN"/>
          </a:p>
        </p:txBody>
      </p:sp>
      <p:sp>
        <p:nvSpPr>
          <p:cNvPr id="11" name="Date Placeholder 10"/>
          <p:cNvSpPr>
            <a:spLocks noGrp="1"/>
          </p:cNvSpPr>
          <p:nvPr>
            <p:ph type="dt" sz="half" idx="10"/>
          </p:nvPr>
        </p:nvSpPr>
        <p:spPr>
          <a:xfrm>
            <a:off x="0" y="6460922"/>
            <a:ext cx="997974" cy="365125"/>
          </a:xfrm>
        </p:spPr>
        <p:txBody>
          <a:bodyPr/>
          <a:lstStyle/>
          <a:p>
            <a:fld id="{C72AAC90-D07C-417D-96C6-81B39DB87062}" type="datetime1">
              <a:rPr lang="en-IN" smtClean="0">
                <a:solidFill>
                  <a:schemeClr val="tx1"/>
                </a:solidFill>
              </a:rPr>
              <a:t>16-09-2026</a:t>
            </a:fld>
            <a:endParaRPr lang="en-IN" dirty="0">
              <a:solidFill>
                <a:schemeClr val="tx1"/>
              </a:solidFill>
            </a:endParaRPr>
          </a:p>
        </p:txBody>
      </p:sp>
      <p:sp>
        <p:nvSpPr>
          <p:cNvPr id="13" name="Slide Number Placeholder 12"/>
          <p:cNvSpPr>
            <a:spLocks noGrp="1"/>
          </p:cNvSpPr>
          <p:nvPr>
            <p:ph type="sldNum" sz="quarter" idx="12"/>
          </p:nvPr>
        </p:nvSpPr>
        <p:spPr>
          <a:xfrm>
            <a:off x="11227443" y="6478792"/>
            <a:ext cx="876067" cy="379208"/>
          </a:xfrm>
        </p:spPr>
        <p:txBody>
          <a:bodyPr/>
          <a:lstStyle/>
          <a:p>
            <a:fld id="{0F06A4E2-163B-4ABA-8562-AD05AC3F17C5}" type="slidenum">
              <a:rPr lang="en-IN" sz="1800" smtClean="0">
                <a:solidFill>
                  <a:schemeClr val="tx1"/>
                </a:solidFill>
              </a:rPr>
              <a:t>5</a:t>
            </a:fld>
            <a:endParaRPr lang="en-IN" sz="1800" dirty="0">
              <a:solidFill>
                <a:schemeClr val="tx1"/>
              </a:solidFill>
            </a:endParaRPr>
          </a:p>
        </p:txBody>
      </p:sp>
      <p:sp>
        <p:nvSpPr>
          <p:cNvPr id="15" name="TextBox 14"/>
          <p:cNvSpPr txBox="1"/>
          <p:nvPr/>
        </p:nvSpPr>
        <p:spPr>
          <a:xfrm flipH="1">
            <a:off x="135928" y="877163"/>
            <a:ext cx="2063808" cy="400110"/>
          </a:xfrm>
          <a:prstGeom prst="rect">
            <a:avLst/>
          </a:prstGeom>
          <a:noFill/>
        </p:spPr>
        <p:txBody>
          <a:bodyPr wrap="square" rtlCol="0">
            <a:spAutoFit/>
          </a:bodyPr>
          <a:lstStyle/>
          <a:p>
            <a:r>
              <a:rPr lang="en-IN" sz="2000" dirty="0">
                <a:latin typeface="Times New Roman" panose="02020603050405020304" pitchFamily="18" charset="0"/>
                <a:cs typeface="Times New Roman" panose="02020603050405020304" pitchFamily="18" charset="0"/>
              </a:rPr>
              <a:t>Literature Review</a:t>
            </a:r>
          </a:p>
        </p:txBody>
      </p:sp>
      <p:sp>
        <p:nvSpPr>
          <p:cNvPr id="2" name="TextBox 1"/>
          <p:cNvSpPr txBox="1"/>
          <p:nvPr/>
        </p:nvSpPr>
        <p:spPr>
          <a:xfrm>
            <a:off x="8955476" y="31393"/>
            <a:ext cx="3148033" cy="830997"/>
          </a:xfrm>
          <a:prstGeom prst="rect">
            <a:avLst/>
          </a:prstGeom>
          <a:noFill/>
        </p:spPr>
        <p:txBody>
          <a:bodyPr wrap="square" rtlCol="0">
            <a:spAutoFit/>
          </a:bodyPr>
          <a:lstStyle/>
          <a:p>
            <a:r>
              <a:rPr lang="en-IN" sz="1200" dirty="0">
                <a:latin typeface="Times New Roman" panose="02020603050405020304" pitchFamily="18" charset="0"/>
                <a:cs typeface="Times New Roman" panose="02020603050405020304" pitchFamily="18" charset="0"/>
              </a:rPr>
              <a:t>Guide: Mrs. B. Lalitha Rajeswari</a:t>
            </a:r>
          </a:p>
          <a:p>
            <a:r>
              <a:rPr lang="en-IN" sz="1200" dirty="0">
                <a:latin typeface="Times New Roman" panose="02020603050405020304" pitchFamily="18" charset="0"/>
                <a:cs typeface="Times New Roman" panose="02020603050405020304" pitchFamily="18" charset="0"/>
              </a:rPr>
              <a:t>Batch ID: A14</a:t>
            </a:r>
          </a:p>
          <a:p>
            <a:r>
              <a:rPr lang="en-IN" sz="1200" dirty="0">
                <a:latin typeface="Times New Roman" panose="02020603050405020304" pitchFamily="18" charset="0"/>
                <a:cs typeface="Times New Roman" panose="02020603050405020304" pitchFamily="18" charset="0"/>
              </a:rPr>
              <a:t>23BQ1A6129(TL),	23BQ1A6136,</a:t>
            </a:r>
          </a:p>
          <a:p>
            <a:r>
              <a:rPr lang="en-IN" sz="1200" dirty="0">
                <a:latin typeface="Times New Roman" panose="02020603050405020304" pitchFamily="18" charset="0"/>
                <a:cs typeface="Times New Roman" panose="02020603050405020304" pitchFamily="18" charset="0"/>
              </a:rPr>
              <a:t>23BQ1A6123,                         24BQ5A6125</a:t>
            </a:r>
            <a:endParaRPr lang="en-IN" sz="1200" dirty="0"/>
          </a:p>
        </p:txBody>
      </p:sp>
      <p:pic>
        <p:nvPicPr>
          <p:cNvPr id="3" name="Picture 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4186" y="92353"/>
            <a:ext cx="993618" cy="693462"/>
          </a:xfrm>
          <a:prstGeom prst="rect">
            <a:avLst/>
          </a:prstGeom>
        </p:spPr>
      </p:pic>
      <p:sp>
        <p:nvSpPr>
          <p:cNvPr id="14" name="TextBox 13"/>
          <p:cNvSpPr txBox="1"/>
          <p:nvPr/>
        </p:nvSpPr>
        <p:spPr>
          <a:xfrm>
            <a:off x="1531467" y="82617"/>
            <a:ext cx="7424010" cy="646331"/>
          </a:xfrm>
          <a:prstGeom prst="rect">
            <a:avLst/>
          </a:prstGeom>
          <a:noFill/>
        </p:spPr>
        <p:txBody>
          <a:bodyPr wrap="square" rtlCol="0">
            <a:spAutoFit/>
          </a:bodyPr>
          <a:lstStyle/>
          <a:p>
            <a:r>
              <a:rPr lang="en-IN" dirty="0">
                <a:latin typeface="Times New Roman" panose="02020603050405020304" pitchFamily="18" charset="0"/>
                <a:cs typeface="Times New Roman" panose="02020603050405020304" pitchFamily="18" charset="0"/>
              </a:rPr>
              <a:t>Contribution-Aware Trust Mechanism for Poisoning Attack Detection in Swarm Learning</a:t>
            </a:r>
          </a:p>
        </p:txBody>
      </p:sp>
      <p:sp>
        <p:nvSpPr>
          <p:cNvPr id="16" name="Footer Placeholder 11"/>
          <p:cNvSpPr>
            <a:spLocks noGrp="1"/>
          </p:cNvSpPr>
          <p:nvPr>
            <p:ph type="ftr" sz="quarter" idx="11"/>
          </p:nvPr>
        </p:nvSpPr>
        <p:spPr>
          <a:xfrm>
            <a:off x="3999271" y="6460922"/>
            <a:ext cx="4114800" cy="365125"/>
          </a:xfrm>
        </p:spPr>
        <p:txBody>
          <a:bodyPr/>
          <a:lstStyle/>
          <a:p>
            <a:r>
              <a:rPr lang="en-IN" dirty="0">
                <a:solidFill>
                  <a:schemeClr val="tx1"/>
                </a:solidFill>
              </a:rPr>
              <a:t>Dept. CSM @ VVIT</a:t>
            </a:r>
          </a:p>
        </p:txBody>
      </p:sp>
      <p:sp>
        <p:nvSpPr>
          <p:cNvPr id="17" name="TextBox 16"/>
          <p:cNvSpPr txBox="1"/>
          <p:nvPr/>
        </p:nvSpPr>
        <p:spPr>
          <a:xfrm flipH="1">
            <a:off x="135928" y="1326501"/>
            <a:ext cx="11920141" cy="307777"/>
          </a:xfrm>
          <a:prstGeom prst="rect">
            <a:avLst/>
          </a:prstGeom>
          <a:noFill/>
        </p:spPr>
        <p:txBody>
          <a:bodyPr wrap="square" rtlCol="0">
            <a:spAutoFit/>
          </a:bodyPr>
          <a:lstStyle/>
          <a:p>
            <a:r>
              <a:rPr lang="en-IN" sz="1400" dirty="0">
                <a:solidFill>
                  <a:schemeClr val="bg1">
                    <a:lumMod val="75000"/>
                  </a:schemeClr>
                </a:solidFill>
                <a:latin typeface="Times New Roman" panose="02020603050405020304" pitchFamily="18" charset="0"/>
                <a:cs typeface="Times New Roman" panose="02020603050405020304" pitchFamily="18" charset="0"/>
              </a:rPr>
              <a:t>| Proposed Method | Data &amp; Setup </a:t>
            </a:r>
            <a:r>
              <a:rPr lang="en-IN" sz="1400" dirty="0">
                <a:latin typeface="Times New Roman" panose="02020603050405020304" pitchFamily="18" charset="0"/>
                <a:cs typeface="Times New Roman" panose="02020603050405020304" pitchFamily="18" charset="0"/>
              </a:rPr>
              <a:t>| Key Results | </a:t>
            </a:r>
            <a:r>
              <a:rPr lang="en-IN" sz="1400" dirty="0">
                <a:solidFill>
                  <a:schemeClr val="bg1">
                    <a:lumMod val="75000"/>
                  </a:schemeClr>
                </a:solidFill>
                <a:latin typeface="Times New Roman" panose="02020603050405020304" pitchFamily="18" charset="0"/>
                <a:cs typeface="Times New Roman" panose="02020603050405020304" pitchFamily="18" charset="0"/>
              </a:rPr>
              <a:t>Strengths &amp; Limitations | Relevance to my research |</a:t>
            </a:r>
          </a:p>
        </p:txBody>
      </p:sp>
      <p:sp>
        <p:nvSpPr>
          <p:cNvPr id="6" name="Rectangle 5"/>
          <p:cNvSpPr/>
          <p:nvPr/>
        </p:nvSpPr>
        <p:spPr>
          <a:xfrm>
            <a:off x="2082799" y="862390"/>
            <a:ext cx="10020709" cy="430887"/>
          </a:xfrm>
          <a:prstGeom prst="rect">
            <a:avLst/>
          </a:prstGeom>
        </p:spPr>
        <p:txBody>
          <a:bodyPr wrap="square">
            <a:spAutoFit/>
          </a:bodyPr>
          <a:lstStyle/>
          <a:p>
            <a:r>
              <a:rPr lang="en-US" sz="1100" b="1" dirty="0">
                <a:latin typeface="Times New Roman" panose="02020603050405020304" pitchFamily="18" charset="0"/>
                <a:cs typeface="Times New Roman" panose="02020603050405020304" pitchFamily="18" charset="0"/>
              </a:rPr>
              <a:t>Byzantine robust federated learning for heterogeneous brain MRI using </a:t>
            </a:r>
            <a:r>
              <a:rPr lang="en-US" sz="1100" b="1" dirty="0" err="1">
                <a:latin typeface="Times New Roman" panose="02020603050405020304" pitchFamily="18" charset="0"/>
                <a:cs typeface="Times New Roman" panose="02020603050405020304" pitchFamily="18" charset="0"/>
              </a:rPr>
              <a:t>multisignal</a:t>
            </a:r>
            <a:r>
              <a:rPr lang="en-US" sz="1100" b="1" dirty="0">
                <a:latin typeface="Times New Roman" panose="02020603050405020304" pitchFamily="18" charset="0"/>
                <a:cs typeface="Times New Roman" panose="02020603050405020304" pitchFamily="18" charset="0"/>
              </a:rPr>
              <a:t> gradient fingerprinting and adaptive trust aggregation </a:t>
            </a:r>
            <a:endParaRPr lang="en-US" sz="1100" dirty="0">
              <a:latin typeface="Times New Roman" panose="02020603050405020304" pitchFamily="18" charset="0"/>
              <a:cs typeface="Times New Roman" panose="02020603050405020304" pitchFamily="18" charset="0"/>
            </a:endParaRPr>
          </a:p>
          <a:p>
            <a:r>
              <a:rPr lang="en-IN" sz="1100" b="1" dirty="0">
                <a:latin typeface="Times New Roman" panose="02020603050405020304" pitchFamily="18" charset="0"/>
                <a:cs typeface="Times New Roman" panose="02020603050405020304" pitchFamily="18" charset="0"/>
              </a:rPr>
              <a:t>Mohammad Karami1, Hamed Kebriaei1</a:t>
            </a:r>
            <a:r>
              <a:rPr lang="en-IN" sz="1100" dirty="0">
                <a:latin typeface="Times New Roman" panose="02020603050405020304" pitchFamily="18" charset="0"/>
                <a:cs typeface="Times New Roman" panose="02020603050405020304" pitchFamily="18" charset="0"/>
              </a:rPr>
              <a:t></a:t>
            </a:r>
            <a:r>
              <a:rPr lang="en-IN" sz="1100" b="1" dirty="0">
                <a:latin typeface="Times New Roman" panose="02020603050405020304" pitchFamily="18" charset="0"/>
                <a:cs typeface="Times New Roman" panose="02020603050405020304" pitchFamily="18" charset="0"/>
              </a:rPr>
              <a:t>, Fatemeh Ghassemi1 &amp; Hamid Azadegan2 </a:t>
            </a:r>
            <a:r>
              <a:rPr lang="en-US" sz="1100" i="1" dirty="0">
                <a:latin typeface="Times New Roman" panose="02020603050405020304" pitchFamily="18" charset="0"/>
                <a:cs typeface="Times New Roman" panose="02020603050405020304" pitchFamily="18" charset="0"/>
              </a:rPr>
              <a:t>| </a:t>
            </a:r>
            <a:r>
              <a:rPr lang="en-IN" sz="1100" dirty="0">
                <a:latin typeface="Times New Roman" panose="02020603050405020304" pitchFamily="18" charset="0"/>
                <a:cs typeface="Times New Roman" panose="02020603050405020304" pitchFamily="18" charset="0"/>
              </a:rPr>
              <a:t>www.nature.com/scientificreports</a:t>
            </a:r>
          </a:p>
        </p:txBody>
      </p:sp>
      <p:sp>
        <p:nvSpPr>
          <p:cNvPr id="7" name="TextBox 6"/>
          <p:cNvSpPr txBox="1"/>
          <p:nvPr/>
        </p:nvSpPr>
        <p:spPr>
          <a:xfrm>
            <a:off x="498987" y="1777465"/>
            <a:ext cx="7992765" cy="2535566"/>
          </a:xfrm>
          <a:prstGeom prst="rect">
            <a:avLst/>
          </a:prstGeom>
          <a:noFill/>
        </p:spPr>
        <p:txBody>
          <a:bodyPr wrap="none" rtlCol="0">
            <a:spAutoFit/>
          </a:bodyPr>
          <a:lstStyle/>
          <a:p>
            <a:pPr marL="285750" lvl="0" indent="-285750" algn="just">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Improved robustness against five types of Byzantine poisoning attacks. </a:t>
            </a:r>
          </a:p>
          <a:p>
            <a:pPr marL="285750" lvl="0" indent="-285750" algn="just">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Higher global accuracy compared with </a:t>
            </a:r>
            <a:r>
              <a:rPr lang="en-IN" dirty="0" err="1">
                <a:latin typeface="Times New Roman" panose="02020603050405020304" pitchFamily="18" charset="0"/>
                <a:cs typeface="Times New Roman" panose="02020603050405020304" pitchFamily="18" charset="0"/>
              </a:rPr>
              <a:t>FedAvg</a:t>
            </a:r>
            <a:r>
              <a:rPr lang="en-IN" dirty="0">
                <a:latin typeface="Times New Roman" panose="02020603050405020304" pitchFamily="18" charset="0"/>
                <a:cs typeface="Times New Roman" panose="02020603050405020304" pitchFamily="18" charset="0"/>
              </a:rPr>
              <a:t> and other baseline defences. </a:t>
            </a:r>
          </a:p>
          <a:p>
            <a:pPr marL="285750" lvl="0" indent="-285750" algn="just">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Effective under Non-IID data with heterogeneous client distributions. </a:t>
            </a:r>
          </a:p>
          <a:p>
            <a:pPr marL="285750" lvl="0" indent="-285750" algn="just">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Trust-based aggregation successfully reduces the influence of malicious updates. </a:t>
            </a:r>
          </a:p>
          <a:p>
            <a:pPr marL="285750" lvl="0" indent="-285750" algn="just">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Shapley contribution was identified as the most impactful component. </a:t>
            </a:r>
          </a:p>
          <a:p>
            <a:pPr marL="285750" indent="-285750" algn="just">
              <a:lnSpc>
                <a:spcPct val="150000"/>
              </a:lnSpc>
              <a:buFont typeface="Arial" panose="020B0604020202020204" pitchFamily="34" charset="0"/>
              <a:buChar char="•"/>
            </a:pPr>
            <a:endParaRPr lang="en-IN"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B08E6C-C9F5-7D0A-90EF-168966789668}"/>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74F5C6A7-6967-D0F7-9376-B21F8FB0BB68}"/>
              </a:ext>
            </a:extLst>
          </p:cNvPr>
          <p:cNvSpPr/>
          <p:nvPr/>
        </p:nvSpPr>
        <p:spPr>
          <a:xfrm>
            <a:off x="-1" y="6980"/>
            <a:ext cx="12192000" cy="837398"/>
          </a:xfrm>
          <a:prstGeom prst="rect">
            <a:avLst/>
          </a:prstGeom>
          <a:solidFill>
            <a:srgbClr val="E77E69"/>
          </a:soli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IN" dirty="0">
              <a:solidFill>
                <a:srgbClr val="FFFF00"/>
              </a:solidFill>
              <a:latin typeface="Times New Roman" panose="02020603050405020304" pitchFamily="18" charset="0"/>
              <a:cs typeface="Times New Roman" panose="02020603050405020304" pitchFamily="18" charset="0"/>
            </a:endParaRPr>
          </a:p>
        </p:txBody>
      </p:sp>
      <p:sp>
        <p:nvSpPr>
          <p:cNvPr id="5" name="Rectangle 4">
            <a:extLst>
              <a:ext uri="{FF2B5EF4-FFF2-40B4-BE49-F238E27FC236}">
                <a16:creationId xmlns:a16="http://schemas.microsoft.com/office/drawing/2014/main" id="{F6380F30-A515-0070-0EEC-4963FB73A15F}"/>
              </a:ext>
            </a:extLst>
          </p:cNvPr>
          <p:cNvSpPr/>
          <p:nvPr/>
        </p:nvSpPr>
        <p:spPr>
          <a:xfrm>
            <a:off x="0" y="6451517"/>
            <a:ext cx="12192000" cy="393289"/>
          </a:xfrm>
          <a:prstGeom prst="rect">
            <a:avLst/>
          </a:prstGeom>
          <a:solidFill>
            <a:srgbClr val="E77E69"/>
          </a:soli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IN"/>
          </a:p>
        </p:txBody>
      </p:sp>
      <p:sp>
        <p:nvSpPr>
          <p:cNvPr id="11" name="Date Placeholder 10">
            <a:extLst>
              <a:ext uri="{FF2B5EF4-FFF2-40B4-BE49-F238E27FC236}">
                <a16:creationId xmlns:a16="http://schemas.microsoft.com/office/drawing/2014/main" id="{E184C0BE-AB5F-8307-F0EA-3BD609DEA2E3}"/>
              </a:ext>
            </a:extLst>
          </p:cNvPr>
          <p:cNvSpPr>
            <a:spLocks noGrp="1"/>
          </p:cNvSpPr>
          <p:nvPr>
            <p:ph type="dt" sz="half" idx="10"/>
          </p:nvPr>
        </p:nvSpPr>
        <p:spPr>
          <a:xfrm>
            <a:off x="0" y="6460922"/>
            <a:ext cx="997974" cy="365125"/>
          </a:xfrm>
        </p:spPr>
        <p:txBody>
          <a:bodyPr/>
          <a:lstStyle/>
          <a:p>
            <a:fld id="{C72AAC90-D07C-417D-96C6-81B39DB87062}" type="datetime1">
              <a:rPr lang="en-IN" smtClean="0">
                <a:solidFill>
                  <a:schemeClr val="tx1"/>
                </a:solidFill>
              </a:rPr>
              <a:t>16-09-2026</a:t>
            </a:fld>
            <a:endParaRPr lang="en-IN" dirty="0">
              <a:solidFill>
                <a:schemeClr val="tx1"/>
              </a:solidFill>
            </a:endParaRPr>
          </a:p>
        </p:txBody>
      </p:sp>
      <p:sp>
        <p:nvSpPr>
          <p:cNvPr id="13" name="Slide Number Placeholder 12">
            <a:extLst>
              <a:ext uri="{FF2B5EF4-FFF2-40B4-BE49-F238E27FC236}">
                <a16:creationId xmlns:a16="http://schemas.microsoft.com/office/drawing/2014/main" id="{FEC70CBD-E2DD-4BCA-9265-3746FBD6B6DE}"/>
              </a:ext>
            </a:extLst>
          </p:cNvPr>
          <p:cNvSpPr>
            <a:spLocks noGrp="1"/>
          </p:cNvSpPr>
          <p:nvPr>
            <p:ph type="sldNum" sz="quarter" idx="12"/>
          </p:nvPr>
        </p:nvSpPr>
        <p:spPr>
          <a:xfrm>
            <a:off x="11227443" y="6478792"/>
            <a:ext cx="876067" cy="379208"/>
          </a:xfrm>
        </p:spPr>
        <p:txBody>
          <a:bodyPr/>
          <a:lstStyle/>
          <a:p>
            <a:fld id="{0F06A4E2-163B-4ABA-8562-AD05AC3F17C5}" type="slidenum">
              <a:rPr lang="en-IN" sz="1800" smtClean="0">
                <a:solidFill>
                  <a:schemeClr val="tx1"/>
                </a:solidFill>
              </a:rPr>
              <a:t>6</a:t>
            </a:fld>
            <a:endParaRPr lang="en-IN" sz="1800" dirty="0">
              <a:solidFill>
                <a:schemeClr val="tx1"/>
              </a:solidFill>
            </a:endParaRPr>
          </a:p>
        </p:txBody>
      </p:sp>
      <p:sp>
        <p:nvSpPr>
          <p:cNvPr id="15" name="TextBox 14">
            <a:extLst>
              <a:ext uri="{FF2B5EF4-FFF2-40B4-BE49-F238E27FC236}">
                <a16:creationId xmlns:a16="http://schemas.microsoft.com/office/drawing/2014/main" id="{A0BE76F2-6106-93EC-795A-B657B75DDA58}"/>
              </a:ext>
            </a:extLst>
          </p:cNvPr>
          <p:cNvSpPr txBox="1"/>
          <p:nvPr/>
        </p:nvSpPr>
        <p:spPr>
          <a:xfrm flipH="1">
            <a:off x="135928" y="877163"/>
            <a:ext cx="2063808" cy="400110"/>
          </a:xfrm>
          <a:prstGeom prst="rect">
            <a:avLst/>
          </a:prstGeom>
          <a:noFill/>
        </p:spPr>
        <p:txBody>
          <a:bodyPr wrap="square" rtlCol="0">
            <a:spAutoFit/>
          </a:bodyPr>
          <a:lstStyle/>
          <a:p>
            <a:r>
              <a:rPr lang="en-IN" sz="2000" dirty="0">
                <a:latin typeface="Times New Roman" panose="02020603050405020304" pitchFamily="18" charset="0"/>
                <a:cs typeface="Times New Roman" panose="02020603050405020304" pitchFamily="18" charset="0"/>
              </a:rPr>
              <a:t>Literature Review</a:t>
            </a:r>
          </a:p>
        </p:txBody>
      </p:sp>
      <p:sp>
        <p:nvSpPr>
          <p:cNvPr id="2" name="TextBox 1">
            <a:extLst>
              <a:ext uri="{FF2B5EF4-FFF2-40B4-BE49-F238E27FC236}">
                <a16:creationId xmlns:a16="http://schemas.microsoft.com/office/drawing/2014/main" id="{455853FC-8A1A-B782-49EA-AEDBE555B8BC}"/>
              </a:ext>
            </a:extLst>
          </p:cNvPr>
          <p:cNvSpPr txBox="1"/>
          <p:nvPr/>
        </p:nvSpPr>
        <p:spPr>
          <a:xfrm>
            <a:off x="8955476" y="31393"/>
            <a:ext cx="3148033" cy="830997"/>
          </a:xfrm>
          <a:prstGeom prst="rect">
            <a:avLst/>
          </a:prstGeom>
          <a:noFill/>
        </p:spPr>
        <p:txBody>
          <a:bodyPr wrap="square" rtlCol="0">
            <a:spAutoFit/>
          </a:bodyPr>
          <a:lstStyle/>
          <a:p>
            <a:r>
              <a:rPr lang="en-IN" sz="1200" dirty="0">
                <a:latin typeface="Times New Roman" panose="02020603050405020304" pitchFamily="18" charset="0"/>
                <a:cs typeface="Times New Roman" panose="02020603050405020304" pitchFamily="18" charset="0"/>
              </a:rPr>
              <a:t>Guide: Mrs. B. Lalitha Rajeswari</a:t>
            </a:r>
          </a:p>
          <a:p>
            <a:r>
              <a:rPr lang="en-IN" sz="1200" dirty="0">
                <a:latin typeface="Times New Roman" panose="02020603050405020304" pitchFamily="18" charset="0"/>
                <a:cs typeface="Times New Roman" panose="02020603050405020304" pitchFamily="18" charset="0"/>
              </a:rPr>
              <a:t>Batch ID: A14</a:t>
            </a:r>
          </a:p>
          <a:p>
            <a:r>
              <a:rPr lang="en-IN" sz="1200" dirty="0">
                <a:latin typeface="Times New Roman" panose="02020603050405020304" pitchFamily="18" charset="0"/>
                <a:cs typeface="Times New Roman" panose="02020603050405020304" pitchFamily="18" charset="0"/>
              </a:rPr>
              <a:t>23BQ1A6129(TL),	23BQ1A6136,</a:t>
            </a:r>
          </a:p>
          <a:p>
            <a:r>
              <a:rPr lang="en-IN" sz="1200" dirty="0">
                <a:latin typeface="Times New Roman" panose="02020603050405020304" pitchFamily="18" charset="0"/>
                <a:cs typeface="Times New Roman" panose="02020603050405020304" pitchFamily="18" charset="0"/>
              </a:rPr>
              <a:t>23BQ1A6123,                         24BQ5A6125</a:t>
            </a:r>
            <a:endParaRPr lang="en-IN" sz="1200" dirty="0"/>
          </a:p>
        </p:txBody>
      </p:sp>
      <p:pic>
        <p:nvPicPr>
          <p:cNvPr id="3" name="Picture 2">
            <a:extLst>
              <a:ext uri="{FF2B5EF4-FFF2-40B4-BE49-F238E27FC236}">
                <a16:creationId xmlns:a16="http://schemas.microsoft.com/office/drawing/2014/main" id="{5196850F-A7CB-C964-97E1-D9974F48F96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4186" y="92353"/>
            <a:ext cx="993618" cy="693462"/>
          </a:xfrm>
          <a:prstGeom prst="rect">
            <a:avLst/>
          </a:prstGeom>
        </p:spPr>
      </p:pic>
      <p:sp>
        <p:nvSpPr>
          <p:cNvPr id="14" name="TextBox 13">
            <a:extLst>
              <a:ext uri="{FF2B5EF4-FFF2-40B4-BE49-F238E27FC236}">
                <a16:creationId xmlns:a16="http://schemas.microsoft.com/office/drawing/2014/main" id="{060BC04C-48F1-D5BB-8F97-975AEE11DA77}"/>
              </a:ext>
            </a:extLst>
          </p:cNvPr>
          <p:cNvSpPr txBox="1"/>
          <p:nvPr/>
        </p:nvSpPr>
        <p:spPr>
          <a:xfrm>
            <a:off x="1531467" y="82617"/>
            <a:ext cx="7424010" cy="646331"/>
          </a:xfrm>
          <a:prstGeom prst="rect">
            <a:avLst/>
          </a:prstGeom>
          <a:noFill/>
        </p:spPr>
        <p:txBody>
          <a:bodyPr wrap="square" rtlCol="0">
            <a:spAutoFit/>
          </a:bodyPr>
          <a:lstStyle/>
          <a:p>
            <a:r>
              <a:rPr lang="en-IN" dirty="0">
                <a:latin typeface="Times New Roman" panose="02020603050405020304" pitchFamily="18" charset="0"/>
                <a:cs typeface="Times New Roman" panose="02020603050405020304" pitchFamily="18" charset="0"/>
              </a:rPr>
              <a:t>Contribution-Aware Trust Mechanism for Poisoning Attack Detection in Swarm Learning</a:t>
            </a:r>
          </a:p>
        </p:txBody>
      </p:sp>
      <p:sp>
        <p:nvSpPr>
          <p:cNvPr id="16" name="Footer Placeholder 11">
            <a:extLst>
              <a:ext uri="{FF2B5EF4-FFF2-40B4-BE49-F238E27FC236}">
                <a16:creationId xmlns:a16="http://schemas.microsoft.com/office/drawing/2014/main" id="{2F714027-ECB3-A786-0867-850BD01FF540}"/>
              </a:ext>
            </a:extLst>
          </p:cNvPr>
          <p:cNvSpPr>
            <a:spLocks noGrp="1"/>
          </p:cNvSpPr>
          <p:nvPr>
            <p:ph type="ftr" sz="quarter" idx="11"/>
          </p:nvPr>
        </p:nvSpPr>
        <p:spPr>
          <a:xfrm>
            <a:off x="3999271" y="6460922"/>
            <a:ext cx="4114800" cy="365125"/>
          </a:xfrm>
        </p:spPr>
        <p:txBody>
          <a:bodyPr/>
          <a:lstStyle/>
          <a:p>
            <a:r>
              <a:rPr lang="en-IN" dirty="0">
                <a:solidFill>
                  <a:schemeClr val="tx1"/>
                </a:solidFill>
              </a:rPr>
              <a:t>Dept. CSM @ VVIT</a:t>
            </a:r>
          </a:p>
        </p:txBody>
      </p:sp>
      <p:sp>
        <p:nvSpPr>
          <p:cNvPr id="17" name="TextBox 16">
            <a:extLst>
              <a:ext uri="{FF2B5EF4-FFF2-40B4-BE49-F238E27FC236}">
                <a16:creationId xmlns:a16="http://schemas.microsoft.com/office/drawing/2014/main" id="{A42C6DDC-B1E9-98A4-2606-C9CD8F389610}"/>
              </a:ext>
            </a:extLst>
          </p:cNvPr>
          <p:cNvSpPr txBox="1"/>
          <p:nvPr/>
        </p:nvSpPr>
        <p:spPr>
          <a:xfrm flipH="1">
            <a:off x="135928" y="1326501"/>
            <a:ext cx="11920141" cy="307777"/>
          </a:xfrm>
          <a:prstGeom prst="rect">
            <a:avLst/>
          </a:prstGeom>
          <a:noFill/>
        </p:spPr>
        <p:txBody>
          <a:bodyPr wrap="square" rtlCol="0">
            <a:spAutoFit/>
          </a:bodyPr>
          <a:lstStyle/>
          <a:p>
            <a:r>
              <a:rPr lang="en-IN" sz="1400" dirty="0">
                <a:solidFill>
                  <a:schemeClr val="bg1">
                    <a:lumMod val="75000"/>
                  </a:schemeClr>
                </a:solidFill>
                <a:latin typeface="Times New Roman" panose="02020603050405020304" pitchFamily="18" charset="0"/>
                <a:cs typeface="Times New Roman" panose="02020603050405020304" pitchFamily="18" charset="0"/>
              </a:rPr>
              <a:t>| Proposed Method | Data &amp; Setup </a:t>
            </a:r>
            <a:r>
              <a:rPr lang="en-IN" sz="1400" dirty="0">
                <a:latin typeface="Times New Roman" panose="02020603050405020304" pitchFamily="18" charset="0"/>
                <a:cs typeface="Times New Roman" panose="02020603050405020304" pitchFamily="18" charset="0"/>
              </a:rPr>
              <a:t>| Key Results | </a:t>
            </a:r>
            <a:r>
              <a:rPr lang="en-IN" sz="1400" dirty="0">
                <a:solidFill>
                  <a:schemeClr val="bg1">
                    <a:lumMod val="75000"/>
                  </a:schemeClr>
                </a:solidFill>
                <a:latin typeface="Times New Roman" panose="02020603050405020304" pitchFamily="18" charset="0"/>
                <a:cs typeface="Times New Roman" panose="02020603050405020304" pitchFamily="18" charset="0"/>
              </a:rPr>
              <a:t>Strengths &amp; Limitations | Relevance to my research |</a:t>
            </a:r>
          </a:p>
        </p:txBody>
      </p:sp>
      <p:sp>
        <p:nvSpPr>
          <p:cNvPr id="6" name="Rectangle 5">
            <a:extLst>
              <a:ext uri="{FF2B5EF4-FFF2-40B4-BE49-F238E27FC236}">
                <a16:creationId xmlns:a16="http://schemas.microsoft.com/office/drawing/2014/main" id="{05CCF1B1-5EED-38E9-F3C9-17690A59F376}"/>
              </a:ext>
            </a:extLst>
          </p:cNvPr>
          <p:cNvSpPr/>
          <p:nvPr/>
        </p:nvSpPr>
        <p:spPr>
          <a:xfrm>
            <a:off x="2082799" y="862390"/>
            <a:ext cx="10020709" cy="430887"/>
          </a:xfrm>
          <a:prstGeom prst="rect">
            <a:avLst/>
          </a:prstGeom>
        </p:spPr>
        <p:txBody>
          <a:bodyPr wrap="square">
            <a:spAutoFit/>
          </a:bodyPr>
          <a:lstStyle/>
          <a:p>
            <a:r>
              <a:rPr lang="en-US" sz="1100" b="1" dirty="0">
                <a:latin typeface="Times New Roman" panose="02020603050405020304" pitchFamily="18" charset="0"/>
                <a:cs typeface="Times New Roman" panose="02020603050405020304" pitchFamily="18" charset="0"/>
              </a:rPr>
              <a:t>Byzantine robust federated learning for heterogeneous brain MRI using </a:t>
            </a:r>
            <a:r>
              <a:rPr lang="en-US" sz="1100" b="1" dirty="0" err="1">
                <a:latin typeface="Times New Roman" panose="02020603050405020304" pitchFamily="18" charset="0"/>
                <a:cs typeface="Times New Roman" panose="02020603050405020304" pitchFamily="18" charset="0"/>
              </a:rPr>
              <a:t>multisignal</a:t>
            </a:r>
            <a:r>
              <a:rPr lang="en-US" sz="1100" b="1" dirty="0">
                <a:latin typeface="Times New Roman" panose="02020603050405020304" pitchFamily="18" charset="0"/>
                <a:cs typeface="Times New Roman" panose="02020603050405020304" pitchFamily="18" charset="0"/>
              </a:rPr>
              <a:t> gradient fingerprinting and adaptive trust aggregation </a:t>
            </a:r>
            <a:endParaRPr lang="en-US" sz="1100" dirty="0">
              <a:latin typeface="Times New Roman" panose="02020603050405020304" pitchFamily="18" charset="0"/>
              <a:cs typeface="Times New Roman" panose="02020603050405020304" pitchFamily="18" charset="0"/>
            </a:endParaRPr>
          </a:p>
          <a:p>
            <a:r>
              <a:rPr lang="en-IN" sz="1100" b="1" dirty="0">
                <a:latin typeface="Times New Roman" panose="02020603050405020304" pitchFamily="18" charset="0"/>
                <a:cs typeface="Times New Roman" panose="02020603050405020304" pitchFamily="18" charset="0"/>
              </a:rPr>
              <a:t>Mohammad Karami1, Hamed Kebriaei1</a:t>
            </a:r>
            <a:r>
              <a:rPr lang="en-IN" sz="1100" dirty="0">
                <a:latin typeface="Times New Roman" panose="02020603050405020304" pitchFamily="18" charset="0"/>
                <a:cs typeface="Times New Roman" panose="02020603050405020304" pitchFamily="18" charset="0"/>
              </a:rPr>
              <a:t></a:t>
            </a:r>
            <a:r>
              <a:rPr lang="en-IN" sz="1100" b="1" dirty="0">
                <a:latin typeface="Times New Roman" panose="02020603050405020304" pitchFamily="18" charset="0"/>
                <a:cs typeface="Times New Roman" panose="02020603050405020304" pitchFamily="18" charset="0"/>
              </a:rPr>
              <a:t>, Fatemeh Ghassemi1 &amp; Hamid Azadegan2 </a:t>
            </a:r>
            <a:r>
              <a:rPr lang="en-US" sz="1100" i="1" dirty="0">
                <a:latin typeface="Times New Roman" panose="02020603050405020304" pitchFamily="18" charset="0"/>
                <a:cs typeface="Times New Roman" panose="02020603050405020304" pitchFamily="18" charset="0"/>
              </a:rPr>
              <a:t>| </a:t>
            </a:r>
            <a:r>
              <a:rPr lang="en-IN" sz="1100" dirty="0">
                <a:latin typeface="Times New Roman" panose="02020603050405020304" pitchFamily="18" charset="0"/>
                <a:cs typeface="Times New Roman" panose="02020603050405020304" pitchFamily="18" charset="0"/>
              </a:rPr>
              <a:t>www.nature.com/scientificreports</a:t>
            </a:r>
          </a:p>
        </p:txBody>
      </p:sp>
      <p:sp>
        <p:nvSpPr>
          <p:cNvPr id="7" name="TextBox 6">
            <a:extLst>
              <a:ext uri="{FF2B5EF4-FFF2-40B4-BE49-F238E27FC236}">
                <a16:creationId xmlns:a16="http://schemas.microsoft.com/office/drawing/2014/main" id="{F6C5AA4F-1395-02D4-D7C0-84F16BF49A98}"/>
              </a:ext>
            </a:extLst>
          </p:cNvPr>
          <p:cNvSpPr txBox="1"/>
          <p:nvPr/>
        </p:nvSpPr>
        <p:spPr>
          <a:xfrm>
            <a:off x="4172204" y="1777465"/>
            <a:ext cx="646331" cy="458074"/>
          </a:xfrm>
          <a:prstGeom prst="rect">
            <a:avLst/>
          </a:prstGeom>
          <a:noFill/>
        </p:spPr>
        <p:txBody>
          <a:bodyPr wrap="none" rtlCol="0">
            <a:spAutoFit/>
          </a:bodyPr>
          <a:lstStyle/>
          <a:p>
            <a:pPr lvl="1" algn="just">
              <a:lnSpc>
                <a:spcPct val="150000"/>
              </a:lnSpc>
            </a:pPr>
            <a:endParaRPr lang="en-IN" dirty="0">
              <a:latin typeface="Times New Roman" panose="02020603050405020304" pitchFamily="18" charset="0"/>
              <a:cs typeface="Times New Roman" panose="02020603050405020304" pitchFamily="18" charset="0"/>
            </a:endParaRPr>
          </a:p>
        </p:txBody>
      </p:sp>
      <p:pic>
        <p:nvPicPr>
          <p:cNvPr id="9" name="Picture 8">
            <a:extLst>
              <a:ext uri="{FF2B5EF4-FFF2-40B4-BE49-F238E27FC236}">
                <a16:creationId xmlns:a16="http://schemas.microsoft.com/office/drawing/2014/main" id="{29B42B5D-4CEB-E776-5A19-AECDACB14BD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016620" y="1626922"/>
            <a:ext cx="4482095" cy="4474947"/>
          </a:xfrm>
          <a:prstGeom prst="rect">
            <a:avLst/>
          </a:prstGeom>
        </p:spPr>
      </p:pic>
      <p:sp>
        <p:nvSpPr>
          <p:cNvPr id="10" name="TextBox 9">
            <a:extLst>
              <a:ext uri="{FF2B5EF4-FFF2-40B4-BE49-F238E27FC236}">
                <a16:creationId xmlns:a16="http://schemas.microsoft.com/office/drawing/2014/main" id="{8726D69C-51D7-2BA7-599D-EE86CD8AFBAF}"/>
              </a:ext>
            </a:extLst>
          </p:cNvPr>
          <p:cNvSpPr txBox="1"/>
          <p:nvPr/>
        </p:nvSpPr>
        <p:spPr>
          <a:xfrm>
            <a:off x="402237" y="2194060"/>
            <a:ext cx="5485379" cy="2535566"/>
          </a:xfrm>
          <a:prstGeom prst="rect">
            <a:avLst/>
          </a:prstGeom>
          <a:noFill/>
        </p:spPr>
        <p:txBody>
          <a:bodyPr wrap="square" rtlCol="0">
            <a:spAutoFit/>
          </a:bodyPr>
          <a:lstStyle/>
          <a:p>
            <a:pPr marL="285750" indent="-285750" algn="just">
              <a:lnSpc>
                <a:spcPct val="150000"/>
              </a:lnSpc>
              <a:buFont typeface="Arial" panose="020B0604020202020204" pitchFamily="34" charset="0"/>
              <a:buChar char="•"/>
            </a:pPr>
            <a:r>
              <a:rPr lang="en-IN" dirty="0" err="1">
                <a:latin typeface="Times New Roman" panose="02020603050405020304" pitchFamily="18" charset="0"/>
                <a:cs typeface="Times New Roman" panose="02020603050405020304" pitchFamily="18" charset="0"/>
              </a:rPr>
              <a:t>Comparision</a:t>
            </a:r>
            <a:r>
              <a:rPr lang="en-IN" dirty="0">
                <a:latin typeface="Times New Roman" panose="02020603050405020304" pitchFamily="18" charset="0"/>
                <a:cs typeface="Times New Roman" panose="02020603050405020304" pitchFamily="18" charset="0"/>
              </a:rPr>
              <a:t> of </a:t>
            </a:r>
            <a:r>
              <a:rPr lang="en-IN" dirty="0" err="1">
                <a:latin typeface="Times New Roman" panose="02020603050405020304" pitchFamily="18" charset="0"/>
                <a:cs typeface="Times New Roman" panose="02020603050405020304" pitchFamily="18" charset="0"/>
              </a:rPr>
              <a:t>FegAvg</a:t>
            </a:r>
            <a:r>
              <a:rPr lang="en-IN" dirty="0">
                <a:latin typeface="Times New Roman" panose="02020603050405020304" pitchFamily="18" charset="0"/>
                <a:cs typeface="Times New Roman" panose="02020603050405020304" pitchFamily="18" charset="0"/>
              </a:rPr>
              <a:t> and </a:t>
            </a:r>
            <a:r>
              <a:rPr lang="en-IN" dirty="0" err="1">
                <a:latin typeface="Times New Roman" panose="02020603050405020304" pitchFamily="18" charset="0"/>
                <a:cs typeface="Times New Roman" panose="02020603050405020304" pitchFamily="18" charset="0"/>
              </a:rPr>
              <a:t>OptiGradTrust</a:t>
            </a:r>
            <a:r>
              <a:rPr lang="en-IN" dirty="0">
                <a:latin typeface="Times New Roman" panose="02020603050405020304" pitchFamily="18" charset="0"/>
                <a:cs typeface="Times New Roman" panose="02020603050405020304" pitchFamily="18" charset="0"/>
              </a:rPr>
              <a:t> for 4 types if attacks that are mentioned below:</a:t>
            </a:r>
          </a:p>
          <a:p>
            <a:pPr marL="1257300" lvl="2" indent="-342900" algn="just">
              <a:lnSpc>
                <a:spcPct val="150000"/>
              </a:lnSpc>
              <a:buFont typeface="+mj-lt"/>
              <a:buAutoNum type="arabicPeriod"/>
            </a:pPr>
            <a:r>
              <a:rPr lang="en-IN" dirty="0">
                <a:latin typeface="Times New Roman" panose="02020603050405020304" pitchFamily="18" charset="0"/>
                <a:cs typeface="Times New Roman" panose="02020603050405020304" pitchFamily="18" charset="0"/>
              </a:rPr>
              <a:t>Label-Flip</a:t>
            </a:r>
          </a:p>
          <a:p>
            <a:pPr marL="1257300" lvl="2" indent="-342900" algn="just">
              <a:lnSpc>
                <a:spcPct val="150000"/>
              </a:lnSpc>
              <a:buFont typeface="+mj-lt"/>
              <a:buAutoNum type="arabicPeriod"/>
            </a:pPr>
            <a:r>
              <a:rPr lang="en-IN" dirty="0">
                <a:latin typeface="Times New Roman" panose="02020603050405020304" pitchFamily="18" charset="0"/>
                <a:cs typeface="Times New Roman" panose="02020603050405020304" pitchFamily="18" charset="0"/>
              </a:rPr>
              <a:t>Noise</a:t>
            </a:r>
          </a:p>
          <a:p>
            <a:pPr marL="1257300" lvl="2" indent="-342900" algn="just">
              <a:lnSpc>
                <a:spcPct val="150000"/>
              </a:lnSpc>
              <a:buFont typeface="+mj-lt"/>
              <a:buAutoNum type="arabicPeriod"/>
            </a:pPr>
            <a:r>
              <a:rPr lang="en-IN" dirty="0">
                <a:latin typeface="Times New Roman" panose="02020603050405020304" pitchFamily="18" charset="0"/>
                <a:cs typeface="Times New Roman" panose="02020603050405020304" pitchFamily="18" charset="0"/>
              </a:rPr>
              <a:t>Scaling</a:t>
            </a:r>
          </a:p>
          <a:p>
            <a:pPr marL="1257300" lvl="2" indent="-342900" algn="just">
              <a:lnSpc>
                <a:spcPct val="150000"/>
              </a:lnSpc>
              <a:buFont typeface="+mj-lt"/>
              <a:buAutoNum type="arabicPeriod"/>
            </a:pPr>
            <a:r>
              <a:rPr lang="en-IN" dirty="0">
                <a:latin typeface="Times New Roman" panose="02020603050405020304" pitchFamily="18" charset="0"/>
                <a:cs typeface="Times New Roman" panose="02020603050405020304" pitchFamily="18" charset="0"/>
              </a:rPr>
              <a:t>Sign-Flip</a:t>
            </a:r>
          </a:p>
        </p:txBody>
      </p:sp>
    </p:spTree>
    <p:extLst>
      <p:ext uri="{BB962C8B-B14F-4D97-AF65-F5344CB8AC3E}">
        <p14:creationId xmlns:p14="http://schemas.microsoft.com/office/powerpoint/2010/main" val="371714065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98D2EB-ABB4-2447-3B0B-DEFAD88CB95E}"/>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C5F4BCDA-E8D4-F29A-5A7E-315AB8C33F97}"/>
              </a:ext>
            </a:extLst>
          </p:cNvPr>
          <p:cNvSpPr/>
          <p:nvPr/>
        </p:nvSpPr>
        <p:spPr>
          <a:xfrm>
            <a:off x="-1" y="6980"/>
            <a:ext cx="12192000" cy="837398"/>
          </a:xfrm>
          <a:prstGeom prst="rect">
            <a:avLst/>
          </a:prstGeom>
          <a:solidFill>
            <a:srgbClr val="E77E69"/>
          </a:soli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IN" dirty="0">
              <a:solidFill>
                <a:srgbClr val="FFFF00"/>
              </a:solidFill>
              <a:latin typeface="Times New Roman" panose="02020603050405020304" pitchFamily="18" charset="0"/>
              <a:cs typeface="Times New Roman" panose="02020603050405020304" pitchFamily="18" charset="0"/>
            </a:endParaRPr>
          </a:p>
        </p:txBody>
      </p:sp>
      <p:sp>
        <p:nvSpPr>
          <p:cNvPr id="5" name="Rectangle 4">
            <a:extLst>
              <a:ext uri="{FF2B5EF4-FFF2-40B4-BE49-F238E27FC236}">
                <a16:creationId xmlns:a16="http://schemas.microsoft.com/office/drawing/2014/main" id="{13CC7C6E-AF53-3D05-DBEB-FAF911227C89}"/>
              </a:ext>
            </a:extLst>
          </p:cNvPr>
          <p:cNvSpPr/>
          <p:nvPr/>
        </p:nvSpPr>
        <p:spPr>
          <a:xfrm>
            <a:off x="0" y="6451517"/>
            <a:ext cx="12192000" cy="393289"/>
          </a:xfrm>
          <a:prstGeom prst="rect">
            <a:avLst/>
          </a:prstGeom>
          <a:solidFill>
            <a:srgbClr val="E77E69"/>
          </a:soli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IN"/>
          </a:p>
        </p:txBody>
      </p:sp>
      <p:sp>
        <p:nvSpPr>
          <p:cNvPr id="11" name="Date Placeholder 10">
            <a:extLst>
              <a:ext uri="{FF2B5EF4-FFF2-40B4-BE49-F238E27FC236}">
                <a16:creationId xmlns:a16="http://schemas.microsoft.com/office/drawing/2014/main" id="{EB7B51F4-56FB-7891-C3EB-476BC602B724}"/>
              </a:ext>
            </a:extLst>
          </p:cNvPr>
          <p:cNvSpPr>
            <a:spLocks noGrp="1"/>
          </p:cNvSpPr>
          <p:nvPr>
            <p:ph type="dt" sz="half" idx="10"/>
          </p:nvPr>
        </p:nvSpPr>
        <p:spPr>
          <a:xfrm>
            <a:off x="0" y="6460922"/>
            <a:ext cx="997974" cy="365125"/>
          </a:xfrm>
        </p:spPr>
        <p:txBody>
          <a:bodyPr/>
          <a:lstStyle/>
          <a:p>
            <a:fld id="{C72AAC90-D07C-417D-96C6-81B39DB87062}" type="datetime1">
              <a:rPr lang="en-IN" smtClean="0">
                <a:solidFill>
                  <a:schemeClr val="tx1"/>
                </a:solidFill>
              </a:rPr>
              <a:t>16-09-2026</a:t>
            </a:fld>
            <a:endParaRPr lang="en-IN" dirty="0">
              <a:solidFill>
                <a:schemeClr val="tx1"/>
              </a:solidFill>
            </a:endParaRPr>
          </a:p>
        </p:txBody>
      </p:sp>
      <p:sp>
        <p:nvSpPr>
          <p:cNvPr id="13" name="Slide Number Placeholder 12">
            <a:extLst>
              <a:ext uri="{FF2B5EF4-FFF2-40B4-BE49-F238E27FC236}">
                <a16:creationId xmlns:a16="http://schemas.microsoft.com/office/drawing/2014/main" id="{4D5D7615-3799-DAF2-E38B-2831B3903A47}"/>
              </a:ext>
            </a:extLst>
          </p:cNvPr>
          <p:cNvSpPr>
            <a:spLocks noGrp="1"/>
          </p:cNvSpPr>
          <p:nvPr>
            <p:ph type="sldNum" sz="quarter" idx="12"/>
          </p:nvPr>
        </p:nvSpPr>
        <p:spPr>
          <a:xfrm>
            <a:off x="11227443" y="6478792"/>
            <a:ext cx="876067" cy="379208"/>
          </a:xfrm>
        </p:spPr>
        <p:txBody>
          <a:bodyPr/>
          <a:lstStyle/>
          <a:p>
            <a:fld id="{0F06A4E2-163B-4ABA-8562-AD05AC3F17C5}" type="slidenum">
              <a:rPr lang="en-IN" sz="1800" smtClean="0">
                <a:solidFill>
                  <a:schemeClr val="tx1"/>
                </a:solidFill>
              </a:rPr>
              <a:t>7</a:t>
            </a:fld>
            <a:endParaRPr lang="en-IN" sz="1800" dirty="0">
              <a:solidFill>
                <a:schemeClr val="tx1"/>
              </a:solidFill>
            </a:endParaRPr>
          </a:p>
        </p:txBody>
      </p:sp>
      <p:sp>
        <p:nvSpPr>
          <p:cNvPr id="15" name="TextBox 14">
            <a:extLst>
              <a:ext uri="{FF2B5EF4-FFF2-40B4-BE49-F238E27FC236}">
                <a16:creationId xmlns:a16="http://schemas.microsoft.com/office/drawing/2014/main" id="{F71FAE36-E273-359B-0CAE-CA9120C85CB3}"/>
              </a:ext>
            </a:extLst>
          </p:cNvPr>
          <p:cNvSpPr txBox="1"/>
          <p:nvPr/>
        </p:nvSpPr>
        <p:spPr>
          <a:xfrm flipH="1">
            <a:off x="135928" y="877163"/>
            <a:ext cx="2063808" cy="400110"/>
          </a:xfrm>
          <a:prstGeom prst="rect">
            <a:avLst/>
          </a:prstGeom>
          <a:noFill/>
        </p:spPr>
        <p:txBody>
          <a:bodyPr wrap="square" rtlCol="0">
            <a:spAutoFit/>
          </a:bodyPr>
          <a:lstStyle/>
          <a:p>
            <a:r>
              <a:rPr lang="en-IN" sz="2000" dirty="0">
                <a:latin typeface="Times New Roman" panose="02020603050405020304" pitchFamily="18" charset="0"/>
                <a:cs typeface="Times New Roman" panose="02020603050405020304" pitchFamily="18" charset="0"/>
              </a:rPr>
              <a:t>Literature Review</a:t>
            </a:r>
          </a:p>
        </p:txBody>
      </p:sp>
      <p:sp>
        <p:nvSpPr>
          <p:cNvPr id="2" name="TextBox 1">
            <a:extLst>
              <a:ext uri="{FF2B5EF4-FFF2-40B4-BE49-F238E27FC236}">
                <a16:creationId xmlns:a16="http://schemas.microsoft.com/office/drawing/2014/main" id="{69F429A8-32E0-CD57-9B47-4C6B08EB6B1E}"/>
              </a:ext>
            </a:extLst>
          </p:cNvPr>
          <p:cNvSpPr txBox="1"/>
          <p:nvPr/>
        </p:nvSpPr>
        <p:spPr>
          <a:xfrm>
            <a:off x="8955476" y="31393"/>
            <a:ext cx="3148033" cy="830997"/>
          </a:xfrm>
          <a:prstGeom prst="rect">
            <a:avLst/>
          </a:prstGeom>
          <a:noFill/>
        </p:spPr>
        <p:txBody>
          <a:bodyPr wrap="square" rtlCol="0">
            <a:spAutoFit/>
          </a:bodyPr>
          <a:lstStyle/>
          <a:p>
            <a:r>
              <a:rPr lang="en-IN" sz="1200" dirty="0">
                <a:latin typeface="Times New Roman" panose="02020603050405020304" pitchFamily="18" charset="0"/>
                <a:cs typeface="Times New Roman" panose="02020603050405020304" pitchFamily="18" charset="0"/>
              </a:rPr>
              <a:t>Guide: Mrs. B. Lalitha Rajeswari</a:t>
            </a:r>
          </a:p>
          <a:p>
            <a:r>
              <a:rPr lang="en-IN" sz="1200" dirty="0">
                <a:latin typeface="Times New Roman" panose="02020603050405020304" pitchFamily="18" charset="0"/>
                <a:cs typeface="Times New Roman" panose="02020603050405020304" pitchFamily="18" charset="0"/>
              </a:rPr>
              <a:t>Batch ID: A14</a:t>
            </a:r>
          </a:p>
          <a:p>
            <a:r>
              <a:rPr lang="en-IN" sz="1200" dirty="0">
                <a:latin typeface="Times New Roman" panose="02020603050405020304" pitchFamily="18" charset="0"/>
                <a:cs typeface="Times New Roman" panose="02020603050405020304" pitchFamily="18" charset="0"/>
              </a:rPr>
              <a:t>23BQ1A6129(TL),	23BQ1A6136,</a:t>
            </a:r>
          </a:p>
          <a:p>
            <a:r>
              <a:rPr lang="en-IN" sz="1200" dirty="0">
                <a:latin typeface="Times New Roman" panose="02020603050405020304" pitchFamily="18" charset="0"/>
                <a:cs typeface="Times New Roman" panose="02020603050405020304" pitchFamily="18" charset="0"/>
              </a:rPr>
              <a:t>23BQ1A6123,                         24BQ5A6125</a:t>
            </a:r>
            <a:endParaRPr lang="en-IN" sz="1200" dirty="0"/>
          </a:p>
        </p:txBody>
      </p:sp>
      <p:pic>
        <p:nvPicPr>
          <p:cNvPr id="3" name="Picture 2">
            <a:extLst>
              <a:ext uri="{FF2B5EF4-FFF2-40B4-BE49-F238E27FC236}">
                <a16:creationId xmlns:a16="http://schemas.microsoft.com/office/drawing/2014/main" id="{2FECCE9D-BE49-F6E5-6762-34754AF0489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4186" y="92353"/>
            <a:ext cx="993618" cy="693462"/>
          </a:xfrm>
          <a:prstGeom prst="rect">
            <a:avLst/>
          </a:prstGeom>
        </p:spPr>
      </p:pic>
      <p:sp>
        <p:nvSpPr>
          <p:cNvPr id="14" name="TextBox 13">
            <a:extLst>
              <a:ext uri="{FF2B5EF4-FFF2-40B4-BE49-F238E27FC236}">
                <a16:creationId xmlns:a16="http://schemas.microsoft.com/office/drawing/2014/main" id="{8A4985B3-CB1F-FACC-B06F-80D6088411F2}"/>
              </a:ext>
            </a:extLst>
          </p:cNvPr>
          <p:cNvSpPr txBox="1"/>
          <p:nvPr/>
        </p:nvSpPr>
        <p:spPr>
          <a:xfrm>
            <a:off x="1531467" y="82617"/>
            <a:ext cx="7424010" cy="646331"/>
          </a:xfrm>
          <a:prstGeom prst="rect">
            <a:avLst/>
          </a:prstGeom>
          <a:noFill/>
        </p:spPr>
        <p:txBody>
          <a:bodyPr wrap="square" rtlCol="0">
            <a:spAutoFit/>
          </a:bodyPr>
          <a:lstStyle/>
          <a:p>
            <a:r>
              <a:rPr lang="en-IN" dirty="0">
                <a:latin typeface="Times New Roman" panose="02020603050405020304" pitchFamily="18" charset="0"/>
                <a:cs typeface="Times New Roman" panose="02020603050405020304" pitchFamily="18" charset="0"/>
              </a:rPr>
              <a:t>Contribution-Aware Trust Mechanism for Poisoning Attack Detection in Swarm Learning</a:t>
            </a:r>
          </a:p>
        </p:txBody>
      </p:sp>
      <p:sp>
        <p:nvSpPr>
          <p:cNvPr id="16" name="Footer Placeholder 11">
            <a:extLst>
              <a:ext uri="{FF2B5EF4-FFF2-40B4-BE49-F238E27FC236}">
                <a16:creationId xmlns:a16="http://schemas.microsoft.com/office/drawing/2014/main" id="{540F3DA7-6E97-E58A-AD92-E3DE94B7D9F5}"/>
              </a:ext>
            </a:extLst>
          </p:cNvPr>
          <p:cNvSpPr>
            <a:spLocks noGrp="1"/>
          </p:cNvSpPr>
          <p:nvPr>
            <p:ph type="ftr" sz="quarter" idx="11"/>
          </p:nvPr>
        </p:nvSpPr>
        <p:spPr>
          <a:xfrm>
            <a:off x="3999271" y="6460922"/>
            <a:ext cx="4114800" cy="365125"/>
          </a:xfrm>
        </p:spPr>
        <p:txBody>
          <a:bodyPr/>
          <a:lstStyle/>
          <a:p>
            <a:r>
              <a:rPr lang="en-IN" dirty="0">
                <a:solidFill>
                  <a:schemeClr val="tx1"/>
                </a:solidFill>
              </a:rPr>
              <a:t>Dept. CSM @ VVIT</a:t>
            </a:r>
          </a:p>
        </p:txBody>
      </p:sp>
      <p:sp>
        <p:nvSpPr>
          <p:cNvPr id="17" name="TextBox 16">
            <a:extLst>
              <a:ext uri="{FF2B5EF4-FFF2-40B4-BE49-F238E27FC236}">
                <a16:creationId xmlns:a16="http://schemas.microsoft.com/office/drawing/2014/main" id="{431CE2C9-B092-67BE-AFCD-15D5D007A7D7}"/>
              </a:ext>
            </a:extLst>
          </p:cNvPr>
          <p:cNvSpPr txBox="1"/>
          <p:nvPr/>
        </p:nvSpPr>
        <p:spPr>
          <a:xfrm flipH="1">
            <a:off x="135928" y="1326501"/>
            <a:ext cx="11920141" cy="307777"/>
          </a:xfrm>
          <a:prstGeom prst="rect">
            <a:avLst/>
          </a:prstGeom>
          <a:noFill/>
        </p:spPr>
        <p:txBody>
          <a:bodyPr wrap="square" rtlCol="0">
            <a:spAutoFit/>
          </a:bodyPr>
          <a:lstStyle/>
          <a:p>
            <a:r>
              <a:rPr lang="en-IN" sz="1400" dirty="0">
                <a:solidFill>
                  <a:schemeClr val="bg1">
                    <a:lumMod val="75000"/>
                  </a:schemeClr>
                </a:solidFill>
                <a:latin typeface="Times New Roman" panose="02020603050405020304" pitchFamily="18" charset="0"/>
                <a:cs typeface="Times New Roman" panose="02020603050405020304" pitchFamily="18" charset="0"/>
              </a:rPr>
              <a:t>| Proposed Method | Data &amp; Setup </a:t>
            </a:r>
            <a:r>
              <a:rPr lang="en-IN" sz="1400" dirty="0">
                <a:latin typeface="Times New Roman" panose="02020603050405020304" pitchFamily="18" charset="0"/>
                <a:cs typeface="Times New Roman" panose="02020603050405020304" pitchFamily="18" charset="0"/>
              </a:rPr>
              <a:t>| Key Results | </a:t>
            </a:r>
            <a:r>
              <a:rPr lang="en-IN" sz="1400" dirty="0">
                <a:solidFill>
                  <a:schemeClr val="bg1">
                    <a:lumMod val="75000"/>
                  </a:schemeClr>
                </a:solidFill>
                <a:latin typeface="Times New Roman" panose="02020603050405020304" pitchFamily="18" charset="0"/>
                <a:cs typeface="Times New Roman" panose="02020603050405020304" pitchFamily="18" charset="0"/>
              </a:rPr>
              <a:t>Strengths &amp; Limitations | Relevance to my research |</a:t>
            </a:r>
          </a:p>
        </p:txBody>
      </p:sp>
      <p:sp>
        <p:nvSpPr>
          <p:cNvPr id="6" name="Rectangle 5">
            <a:extLst>
              <a:ext uri="{FF2B5EF4-FFF2-40B4-BE49-F238E27FC236}">
                <a16:creationId xmlns:a16="http://schemas.microsoft.com/office/drawing/2014/main" id="{D6CFC93D-0C10-E9A6-0CAB-C493E841A8DA}"/>
              </a:ext>
            </a:extLst>
          </p:cNvPr>
          <p:cNvSpPr/>
          <p:nvPr/>
        </p:nvSpPr>
        <p:spPr>
          <a:xfrm>
            <a:off x="2082799" y="871721"/>
            <a:ext cx="10020709" cy="430887"/>
          </a:xfrm>
          <a:prstGeom prst="rect">
            <a:avLst/>
          </a:prstGeom>
        </p:spPr>
        <p:txBody>
          <a:bodyPr wrap="square">
            <a:spAutoFit/>
          </a:bodyPr>
          <a:lstStyle/>
          <a:p>
            <a:r>
              <a:rPr lang="en-US" sz="1100" b="1" dirty="0">
                <a:latin typeface="Times New Roman" panose="02020603050405020304" pitchFamily="18" charset="0"/>
                <a:cs typeface="Times New Roman" panose="02020603050405020304" pitchFamily="18" charset="0"/>
              </a:rPr>
              <a:t>Byzantine robust federated learning for heterogeneous brain MRI using </a:t>
            </a:r>
            <a:r>
              <a:rPr lang="en-US" sz="1100" b="1" dirty="0" err="1">
                <a:latin typeface="Times New Roman" panose="02020603050405020304" pitchFamily="18" charset="0"/>
                <a:cs typeface="Times New Roman" panose="02020603050405020304" pitchFamily="18" charset="0"/>
              </a:rPr>
              <a:t>multisignal</a:t>
            </a:r>
            <a:r>
              <a:rPr lang="en-US" sz="1100" b="1" dirty="0">
                <a:latin typeface="Times New Roman" panose="02020603050405020304" pitchFamily="18" charset="0"/>
                <a:cs typeface="Times New Roman" panose="02020603050405020304" pitchFamily="18" charset="0"/>
              </a:rPr>
              <a:t> gradient fingerprinting and adaptive trust aggregation </a:t>
            </a:r>
            <a:endParaRPr lang="en-US" sz="1100" dirty="0">
              <a:latin typeface="Times New Roman" panose="02020603050405020304" pitchFamily="18" charset="0"/>
              <a:cs typeface="Times New Roman" panose="02020603050405020304" pitchFamily="18" charset="0"/>
            </a:endParaRPr>
          </a:p>
          <a:p>
            <a:r>
              <a:rPr lang="en-IN" sz="1100" b="1" dirty="0">
                <a:latin typeface="Times New Roman" panose="02020603050405020304" pitchFamily="18" charset="0"/>
                <a:cs typeface="Times New Roman" panose="02020603050405020304" pitchFamily="18" charset="0"/>
              </a:rPr>
              <a:t>Mohammad Karami1, Hamed Kebriaei1</a:t>
            </a:r>
            <a:r>
              <a:rPr lang="en-IN" sz="1100" dirty="0">
                <a:latin typeface="Times New Roman" panose="02020603050405020304" pitchFamily="18" charset="0"/>
                <a:cs typeface="Times New Roman" panose="02020603050405020304" pitchFamily="18" charset="0"/>
              </a:rPr>
              <a:t></a:t>
            </a:r>
            <a:r>
              <a:rPr lang="en-IN" sz="1100" b="1" dirty="0">
                <a:latin typeface="Times New Roman" panose="02020603050405020304" pitchFamily="18" charset="0"/>
                <a:cs typeface="Times New Roman" panose="02020603050405020304" pitchFamily="18" charset="0"/>
              </a:rPr>
              <a:t>, Fatemeh Ghassemi1 &amp; Hamid Azadegan2 </a:t>
            </a:r>
            <a:r>
              <a:rPr lang="en-US" sz="1100" i="1" dirty="0">
                <a:latin typeface="Times New Roman" panose="02020603050405020304" pitchFamily="18" charset="0"/>
                <a:cs typeface="Times New Roman" panose="02020603050405020304" pitchFamily="18" charset="0"/>
              </a:rPr>
              <a:t>| </a:t>
            </a:r>
            <a:r>
              <a:rPr lang="en-IN" sz="1100" dirty="0">
                <a:latin typeface="Times New Roman" panose="02020603050405020304" pitchFamily="18" charset="0"/>
                <a:cs typeface="Times New Roman" panose="02020603050405020304" pitchFamily="18" charset="0"/>
              </a:rPr>
              <a:t>www.nature.com/scientificreports</a:t>
            </a:r>
          </a:p>
        </p:txBody>
      </p:sp>
      <p:pic>
        <p:nvPicPr>
          <p:cNvPr id="9" name="Picture 8">
            <a:extLst>
              <a:ext uri="{FF2B5EF4-FFF2-40B4-BE49-F238E27FC236}">
                <a16:creationId xmlns:a16="http://schemas.microsoft.com/office/drawing/2014/main" id="{0AFED052-203F-F044-EFEF-0858564615C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484776" y="1564229"/>
            <a:ext cx="4883311" cy="4875522"/>
          </a:xfrm>
          <a:prstGeom prst="rect">
            <a:avLst/>
          </a:prstGeom>
        </p:spPr>
      </p:pic>
      <p:sp>
        <p:nvSpPr>
          <p:cNvPr id="10" name="TextBox 9">
            <a:extLst>
              <a:ext uri="{FF2B5EF4-FFF2-40B4-BE49-F238E27FC236}">
                <a16:creationId xmlns:a16="http://schemas.microsoft.com/office/drawing/2014/main" id="{FAEC769B-DE1A-588B-E65A-3A5637BC0801}"/>
              </a:ext>
            </a:extLst>
          </p:cNvPr>
          <p:cNvSpPr txBox="1"/>
          <p:nvPr/>
        </p:nvSpPr>
        <p:spPr>
          <a:xfrm>
            <a:off x="347121" y="2024742"/>
            <a:ext cx="5748880" cy="5028556"/>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The graph shows test accuracy for all five Byzantine attacks across different datasets and Non-IID conditions.</a:t>
            </a:r>
          </a:p>
          <a:p>
            <a:pPr marL="285750" indent="-28575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It shows that the impact of each attack varies depending on the dataset and data heterogeneity.</a:t>
            </a:r>
          </a:p>
          <a:p>
            <a:pPr marL="285750" indent="-28575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The Attacks mentioned in the Graphs are:</a:t>
            </a:r>
          </a:p>
          <a:p>
            <a:pPr marL="1257300" lvl="2" indent="-342900">
              <a:lnSpc>
                <a:spcPct val="150000"/>
              </a:lnSpc>
              <a:buFont typeface="+mj-lt"/>
              <a:buAutoNum type="arabicPeriod"/>
            </a:pPr>
            <a:r>
              <a:rPr lang="en-IN" dirty="0">
                <a:latin typeface="Times New Roman" panose="02020603050405020304" pitchFamily="18" charset="0"/>
                <a:cs typeface="Times New Roman" panose="02020603050405020304" pitchFamily="18" charset="0"/>
              </a:rPr>
              <a:t>Scaling</a:t>
            </a:r>
          </a:p>
          <a:p>
            <a:pPr marL="1257300" lvl="2" indent="-342900">
              <a:lnSpc>
                <a:spcPct val="150000"/>
              </a:lnSpc>
              <a:buFont typeface="+mj-lt"/>
              <a:buAutoNum type="arabicPeriod"/>
            </a:pPr>
            <a:r>
              <a:rPr lang="en-IN" dirty="0">
                <a:latin typeface="Times New Roman" panose="02020603050405020304" pitchFamily="18" charset="0"/>
                <a:cs typeface="Times New Roman" panose="02020603050405020304" pitchFamily="18" charset="0"/>
              </a:rPr>
              <a:t>Partial Scaling</a:t>
            </a:r>
          </a:p>
          <a:p>
            <a:pPr marL="1257300" lvl="2" indent="-342900">
              <a:lnSpc>
                <a:spcPct val="150000"/>
              </a:lnSpc>
              <a:buFont typeface="+mj-lt"/>
              <a:buAutoNum type="arabicPeriod"/>
            </a:pPr>
            <a:r>
              <a:rPr lang="en-IN" dirty="0">
                <a:latin typeface="Times New Roman" panose="02020603050405020304" pitchFamily="18" charset="0"/>
                <a:cs typeface="Times New Roman" panose="02020603050405020304" pitchFamily="18" charset="0"/>
              </a:rPr>
              <a:t>Sign-Flipping</a:t>
            </a:r>
          </a:p>
          <a:p>
            <a:pPr marL="1257300" lvl="2" indent="-342900">
              <a:lnSpc>
                <a:spcPct val="150000"/>
              </a:lnSpc>
              <a:buFont typeface="+mj-lt"/>
              <a:buAutoNum type="arabicPeriod"/>
            </a:pPr>
            <a:r>
              <a:rPr lang="en-IN" dirty="0">
                <a:latin typeface="Times New Roman" panose="02020603050405020304" pitchFamily="18" charset="0"/>
                <a:cs typeface="Times New Roman" panose="02020603050405020304" pitchFamily="18" charset="0"/>
              </a:rPr>
              <a:t>Gaussian Noise</a:t>
            </a:r>
          </a:p>
          <a:p>
            <a:pPr marL="1257300" lvl="2" indent="-342900">
              <a:lnSpc>
                <a:spcPct val="150000"/>
              </a:lnSpc>
              <a:buFont typeface="+mj-lt"/>
              <a:buAutoNum type="arabicPeriod"/>
            </a:pPr>
            <a:r>
              <a:rPr lang="en-IN" dirty="0">
                <a:latin typeface="Times New Roman" panose="02020603050405020304" pitchFamily="18" charset="0"/>
                <a:cs typeface="Times New Roman" panose="02020603050405020304" pitchFamily="18" charset="0"/>
              </a:rPr>
              <a:t>Label-Flipping</a:t>
            </a:r>
          </a:p>
          <a:p>
            <a:pPr>
              <a:lnSpc>
                <a:spcPct val="150000"/>
              </a:lnSpc>
            </a:pPr>
            <a:endParaRPr lang="en-IN" dirty="0">
              <a:latin typeface="Times New Roman" panose="02020603050405020304" pitchFamily="18" charset="0"/>
              <a:cs typeface="Times New Roman" panose="02020603050405020304" pitchFamily="18" charset="0"/>
            </a:endParaRPr>
          </a:p>
          <a:p>
            <a:pPr marL="285750" indent="-285750">
              <a:lnSpc>
                <a:spcPct val="150000"/>
              </a:lnSpc>
              <a:buFont typeface="Arial" panose="020B0604020202020204" pitchFamily="34" charset="0"/>
              <a:buChar char="•"/>
            </a:pP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5013230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 y="6980"/>
            <a:ext cx="12192000" cy="837398"/>
          </a:xfrm>
          <a:prstGeom prst="rect">
            <a:avLst/>
          </a:prstGeom>
          <a:solidFill>
            <a:srgbClr val="E77E69"/>
          </a:soli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IN" dirty="0">
              <a:solidFill>
                <a:srgbClr val="FFFF00"/>
              </a:solidFill>
              <a:latin typeface="Times New Roman" panose="02020603050405020304" pitchFamily="18" charset="0"/>
              <a:cs typeface="Times New Roman" panose="02020603050405020304" pitchFamily="18" charset="0"/>
            </a:endParaRPr>
          </a:p>
        </p:txBody>
      </p:sp>
      <p:sp>
        <p:nvSpPr>
          <p:cNvPr id="5" name="Rectangle 4"/>
          <p:cNvSpPr/>
          <p:nvPr/>
        </p:nvSpPr>
        <p:spPr>
          <a:xfrm>
            <a:off x="0" y="6451517"/>
            <a:ext cx="12192000" cy="393289"/>
          </a:xfrm>
          <a:prstGeom prst="rect">
            <a:avLst/>
          </a:prstGeom>
          <a:solidFill>
            <a:srgbClr val="E77E69"/>
          </a:soli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IN"/>
          </a:p>
        </p:txBody>
      </p:sp>
      <p:sp>
        <p:nvSpPr>
          <p:cNvPr id="11" name="Date Placeholder 10"/>
          <p:cNvSpPr>
            <a:spLocks noGrp="1"/>
          </p:cNvSpPr>
          <p:nvPr>
            <p:ph type="dt" sz="half" idx="10"/>
          </p:nvPr>
        </p:nvSpPr>
        <p:spPr>
          <a:xfrm>
            <a:off x="0" y="6460922"/>
            <a:ext cx="997974" cy="365125"/>
          </a:xfrm>
        </p:spPr>
        <p:txBody>
          <a:bodyPr/>
          <a:lstStyle/>
          <a:p>
            <a:fld id="{C72AAC90-D07C-417D-96C6-81B39DB87062}" type="datetime1">
              <a:rPr lang="en-IN" smtClean="0">
                <a:solidFill>
                  <a:schemeClr val="tx1"/>
                </a:solidFill>
              </a:rPr>
              <a:t>16-09-2026</a:t>
            </a:fld>
            <a:endParaRPr lang="en-IN" dirty="0">
              <a:solidFill>
                <a:schemeClr val="tx1"/>
              </a:solidFill>
            </a:endParaRPr>
          </a:p>
        </p:txBody>
      </p:sp>
      <p:sp>
        <p:nvSpPr>
          <p:cNvPr id="13" name="Slide Number Placeholder 12"/>
          <p:cNvSpPr>
            <a:spLocks noGrp="1"/>
          </p:cNvSpPr>
          <p:nvPr>
            <p:ph type="sldNum" sz="quarter" idx="12"/>
          </p:nvPr>
        </p:nvSpPr>
        <p:spPr>
          <a:xfrm>
            <a:off x="11227443" y="6478792"/>
            <a:ext cx="876067" cy="379208"/>
          </a:xfrm>
        </p:spPr>
        <p:txBody>
          <a:bodyPr/>
          <a:lstStyle/>
          <a:p>
            <a:fld id="{0F06A4E2-163B-4ABA-8562-AD05AC3F17C5}" type="slidenum">
              <a:rPr lang="en-IN" sz="1800" smtClean="0">
                <a:solidFill>
                  <a:schemeClr val="tx1"/>
                </a:solidFill>
              </a:rPr>
              <a:t>8</a:t>
            </a:fld>
            <a:endParaRPr lang="en-IN" sz="1800" dirty="0">
              <a:solidFill>
                <a:schemeClr val="tx1"/>
              </a:solidFill>
            </a:endParaRPr>
          </a:p>
        </p:txBody>
      </p:sp>
      <p:sp>
        <p:nvSpPr>
          <p:cNvPr id="15" name="TextBox 14"/>
          <p:cNvSpPr txBox="1"/>
          <p:nvPr/>
        </p:nvSpPr>
        <p:spPr>
          <a:xfrm flipH="1">
            <a:off x="135928" y="877163"/>
            <a:ext cx="2063808" cy="400110"/>
          </a:xfrm>
          <a:prstGeom prst="rect">
            <a:avLst/>
          </a:prstGeom>
          <a:noFill/>
        </p:spPr>
        <p:txBody>
          <a:bodyPr wrap="square" rtlCol="0">
            <a:spAutoFit/>
          </a:bodyPr>
          <a:lstStyle/>
          <a:p>
            <a:r>
              <a:rPr lang="en-IN" sz="2000" dirty="0">
                <a:latin typeface="Times New Roman" panose="02020603050405020304" pitchFamily="18" charset="0"/>
                <a:cs typeface="Times New Roman" panose="02020603050405020304" pitchFamily="18" charset="0"/>
              </a:rPr>
              <a:t>Literature Review</a:t>
            </a:r>
          </a:p>
        </p:txBody>
      </p:sp>
      <p:sp>
        <p:nvSpPr>
          <p:cNvPr id="2" name="TextBox 1"/>
          <p:cNvSpPr txBox="1"/>
          <p:nvPr/>
        </p:nvSpPr>
        <p:spPr>
          <a:xfrm>
            <a:off x="8955476" y="31393"/>
            <a:ext cx="3148033" cy="830997"/>
          </a:xfrm>
          <a:prstGeom prst="rect">
            <a:avLst/>
          </a:prstGeom>
          <a:noFill/>
        </p:spPr>
        <p:txBody>
          <a:bodyPr wrap="square" rtlCol="0">
            <a:spAutoFit/>
          </a:bodyPr>
          <a:lstStyle/>
          <a:p>
            <a:r>
              <a:rPr lang="en-IN" sz="1200" dirty="0">
                <a:latin typeface="Times New Roman" panose="02020603050405020304" pitchFamily="18" charset="0"/>
                <a:cs typeface="Times New Roman" panose="02020603050405020304" pitchFamily="18" charset="0"/>
              </a:rPr>
              <a:t>Guide: Mrs. B. Lalitha Rajeswari</a:t>
            </a:r>
          </a:p>
          <a:p>
            <a:r>
              <a:rPr lang="en-IN" sz="1200" dirty="0">
                <a:latin typeface="Times New Roman" panose="02020603050405020304" pitchFamily="18" charset="0"/>
                <a:cs typeface="Times New Roman" panose="02020603050405020304" pitchFamily="18" charset="0"/>
              </a:rPr>
              <a:t>Batch ID: A14</a:t>
            </a:r>
          </a:p>
          <a:p>
            <a:r>
              <a:rPr lang="en-IN" sz="1200" dirty="0">
                <a:latin typeface="Times New Roman" panose="02020603050405020304" pitchFamily="18" charset="0"/>
                <a:cs typeface="Times New Roman" panose="02020603050405020304" pitchFamily="18" charset="0"/>
              </a:rPr>
              <a:t>23BQ1A6129(TL),	23BQ1A6136,</a:t>
            </a:r>
          </a:p>
          <a:p>
            <a:r>
              <a:rPr lang="en-IN" sz="1200" dirty="0">
                <a:latin typeface="Times New Roman" panose="02020603050405020304" pitchFamily="18" charset="0"/>
                <a:cs typeface="Times New Roman" panose="02020603050405020304" pitchFamily="18" charset="0"/>
              </a:rPr>
              <a:t>23BQ1A6123,                         24BQ5A6125</a:t>
            </a:r>
            <a:endParaRPr lang="en-IN" sz="1200" dirty="0"/>
          </a:p>
        </p:txBody>
      </p:sp>
      <p:pic>
        <p:nvPicPr>
          <p:cNvPr id="3" name="Picture 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4186" y="92353"/>
            <a:ext cx="993618" cy="693462"/>
          </a:xfrm>
          <a:prstGeom prst="rect">
            <a:avLst/>
          </a:prstGeom>
        </p:spPr>
      </p:pic>
      <p:sp>
        <p:nvSpPr>
          <p:cNvPr id="14" name="TextBox 13"/>
          <p:cNvSpPr txBox="1"/>
          <p:nvPr/>
        </p:nvSpPr>
        <p:spPr>
          <a:xfrm>
            <a:off x="1531467" y="82617"/>
            <a:ext cx="7424010" cy="646331"/>
          </a:xfrm>
          <a:prstGeom prst="rect">
            <a:avLst/>
          </a:prstGeom>
          <a:noFill/>
        </p:spPr>
        <p:txBody>
          <a:bodyPr wrap="square" rtlCol="0">
            <a:spAutoFit/>
          </a:bodyPr>
          <a:lstStyle/>
          <a:p>
            <a:r>
              <a:rPr lang="en-IN" dirty="0">
                <a:latin typeface="Times New Roman" panose="02020603050405020304" pitchFamily="18" charset="0"/>
                <a:cs typeface="Times New Roman" panose="02020603050405020304" pitchFamily="18" charset="0"/>
              </a:rPr>
              <a:t>Contribution-Aware Trust Mechanism for Poisoning Attack Detection in Swarm Learning</a:t>
            </a:r>
          </a:p>
        </p:txBody>
      </p:sp>
      <p:sp>
        <p:nvSpPr>
          <p:cNvPr id="16" name="Footer Placeholder 11"/>
          <p:cNvSpPr>
            <a:spLocks noGrp="1"/>
          </p:cNvSpPr>
          <p:nvPr>
            <p:ph type="ftr" sz="quarter" idx="11"/>
          </p:nvPr>
        </p:nvSpPr>
        <p:spPr>
          <a:xfrm>
            <a:off x="3999271" y="6460922"/>
            <a:ext cx="4114800" cy="365125"/>
          </a:xfrm>
        </p:spPr>
        <p:txBody>
          <a:bodyPr/>
          <a:lstStyle/>
          <a:p>
            <a:r>
              <a:rPr lang="en-IN" dirty="0">
                <a:solidFill>
                  <a:schemeClr val="tx1"/>
                </a:solidFill>
              </a:rPr>
              <a:t>Dept. CSM @ VVIT</a:t>
            </a:r>
          </a:p>
        </p:txBody>
      </p:sp>
      <p:sp>
        <p:nvSpPr>
          <p:cNvPr id="17" name="TextBox 16"/>
          <p:cNvSpPr txBox="1"/>
          <p:nvPr/>
        </p:nvSpPr>
        <p:spPr>
          <a:xfrm flipH="1">
            <a:off x="135928" y="1326501"/>
            <a:ext cx="11920141" cy="307777"/>
          </a:xfrm>
          <a:prstGeom prst="rect">
            <a:avLst/>
          </a:prstGeom>
          <a:noFill/>
        </p:spPr>
        <p:txBody>
          <a:bodyPr wrap="square" rtlCol="0">
            <a:spAutoFit/>
          </a:bodyPr>
          <a:lstStyle/>
          <a:p>
            <a:r>
              <a:rPr lang="en-IN" sz="1400" dirty="0">
                <a:solidFill>
                  <a:schemeClr val="bg1">
                    <a:lumMod val="75000"/>
                  </a:schemeClr>
                </a:solidFill>
                <a:latin typeface="Times New Roman" panose="02020603050405020304" pitchFamily="18" charset="0"/>
                <a:cs typeface="Times New Roman" panose="02020603050405020304" pitchFamily="18" charset="0"/>
              </a:rPr>
              <a:t>| Proposed Method | Data &amp; Setup | key Results </a:t>
            </a:r>
            <a:r>
              <a:rPr lang="en-IN" sz="1400" dirty="0">
                <a:latin typeface="Times New Roman" panose="02020603050405020304" pitchFamily="18" charset="0"/>
                <a:cs typeface="Times New Roman" panose="02020603050405020304" pitchFamily="18" charset="0"/>
              </a:rPr>
              <a:t>| Strengths &amp; Limitations | </a:t>
            </a:r>
            <a:r>
              <a:rPr lang="en-IN" sz="1400" dirty="0">
                <a:solidFill>
                  <a:schemeClr val="bg1">
                    <a:lumMod val="75000"/>
                  </a:schemeClr>
                </a:solidFill>
                <a:latin typeface="Times New Roman" panose="02020603050405020304" pitchFamily="18" charset="0"/>
                <a:cs typeface="Times New Roman" panose="02020603050405020304" pitchFamily="18" charset="0"/>
              </a:rPr>
              <a:t>Relevance to my research |</a:t>
            </a:r>
          </a:p>
        </p:txBody>
      </p:sp>
      <p:sp>
        <p:nvSpPr>
          <p:cNvPr id="6" name="Rectangle 5"/>
          <p:cNvSpPr/>
          <p:nvPr/>
        </p:nvSpPr>
        <p:spPr>
          <a:xfrm>
            <a:off x="2082799" y="862390"/>
            <a:ext cx="10020709" cy="430887"/>
          </a:xfrm>
          <a:prstGeom prst="rect">
            <a:avLst/>
          </a:prstGeom>
        </p:spPr>
        <p:txBody>
          <a:bodyPr wrap="square">
            <a:spAutoFit/>
          </a:bodyPr>
          <a:lstStyle/>
          <a:p>
            <a:r>
              <a:rPr lang="en-US" sz="1100" b="1" dirty="0">
                <a:latin typeface="Times New Roman" panose="02020603050405020304" pitchFamily="18" charset="0"/>
                <a:cs typeface="Times New Roman" panose="02020603050405020304" pitchFamily="18" charset="0"/>
              </a:rPr>
              <a:t>Byzantine robust federated learning for heterogeneous brain MRI using </a:t>
            </a:r>
            <a:r>
              <a:rPr lang="en-US" sz="1100" b="1" dirty="0" err="1">
                <a:latin typeface="Times New Roman" panose="02020603050405020304" pitchFamily="18" charset="0"/>
                <a:cs typeface="Times New Roman" panose="02020603050405020304" pitchFamily="18" charset="0"/>
              </a:rPr>
              <a:t>multisignal</a:t>
            </a:r>
            <a:r>
              <a:rPr lang="en-US" sz="1100" b="1" dirty="0">
                <a:latin typeface="Times New Roman" panose="02020603050405020304" pitchFamily="18" charset="0"/>
                <a:cs typeface="Times New Roman" panose="02020603050405020304" pitchFamily="18" charset="0"/>
              </a:rPr>
              <a:t> gradient fingerprinting and adaptive trust aggregation </a:t>
            </a:r>
            <a:endParaRPr lang="en-US" sz="1100" dirty="0">
              <a:latin typeface="Times New Roman" panose="02020603050405020304" pitchFamily="18" charset="0"/>
              <a:cs typeface="Times New Roman" panose="02020603050405020304" pitchFamily="18" charset="0"/>
            </a:endParaRPr>
          </a:p>
          <a:p>
            <a:r>
              <a:rPr lang="en-IN" sz="1100" b="1" dirty="0">
                <a:latin typeface="Times New Roman" panose="02020603050405020304" pitchFamily="18" charset="0"/>
                <a:cs typeface="Times New Roman" panose="02020603050405020304" pitchFamily="18" charset="0"/>
              </a:rPr>
              <a:t>Mohammad Karami1, Hamed Kebriaei1</a:t>
            </a:r>
            <a:r>
              <a:rPr lang="en-IN" sz="1100" dirty="0">
                <a:latin typeface="Times New Roman" panose="02020603050405020304" pitchFamily="18" charset="0"/>
                <a:cs typeface="Times New Roman" panose="02020603050405020304" pitchFamily="18" charset="0"/>
              </a:rPr>
              <a:t></a:t>
            </a:r>
            <a:r>
              <a:rPr lang="en-IN" sz="1100" b="1" dirty="0">
                <a:latin typeface="Times New Roman" panose="02020603050405020304" pitchFamily="18" charset="0"/>
                <a:cs typeface="Times New Roman" panose="02020603050405020304" pitchFamily="18" charset="0"/>
              </a:rPr>
              <a:t>, Fatemeh Ghassemi1 &amp; Hamid Azadegan2 </a:t>
            </a:r>
            <a:r>
              <a:rPr lang="en-US" sz="1100" i="1" dirty="0">
                <a:latin typeface="Times New Roman" panose="02020603050405020304" pitchFamily="18" charset="0"/>
                <a:cs typeface="Times New Roman" panose="02020603050405020304" pitchFamily="18" charset="0"/>
              </a:rPr>
              <a:t>| </a:t>
            </a:r>
            <a:r>
              <a:rPr lang="en-IN" sz="1100" dirty="0">
                <a:latin typeface="Times New Roman" panose="02020603050405020304" pitchFamily="18" charset="0"/>
                <a:cs typeface="Times New Roman" panose="02020603050405020304" pitchFamily="18" charset="0"/>
              </a:rPr>
              <a:t>www.nature.com/scientificreports</a:t>
            </a:r>
          </a:p>
        </p:txBody>
      </p:sp>
      <p:sp>
        <p:nvSpPr>
          <p:cNvPr id="8" name="Rectangle 7"/>
          <p:cNvSpPr/>
          <p:nvPr/>
        </p:nvSpPr>
        <p:spPr>
          <a:xfrm>
            <a:off x="6259202" y="2148841"/>
            <a:ext cx="5441307" cy="45719"/>
          </a:xfrm>
          <a:prstGeom prst="rect">
            <a:avLst/>
          </a:prstGeom>
          <a:solidFill>
            <a:srgbClr val="EC7E6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 name="Rectangle 18"/>
          <p:cNvSpPr/>
          <p:nvPr/>
        </p:nvSpPr>
        <p:spPr>
          <a:xfrm>
            <a:off x="425176" y="2148841"/>
            <a:ext cx="5441307" cy="45719"/>
          </a:xfrm>
          <a:prstGeom prst="rect">
            <a:avLst/>
          </a:prstGeom>
          <a:solidFill>
            <a:srgbClr val="EC7E6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TextBox 8"/>
          <p:cNvSpPr txBox="1"/>
          <p:nvPr/>
        </p:nvSpPr>
        <p:spPr>
          <a:xfrm>
            <a:off x="393386" y="1799012"/>
            <a:ext cx="1075872" cy="369332"/>
          </a:xfrm>
          <a:prstGeom prst="rect">
            <a:avLst/>
          </a:prstGeom>
          <a:noFill/>
        </p:spPr>
        <p:txBody>
          <a:bodyPr wrap="none" rtlCol="0">
            <a:spAutoFit/>
          </a:bodyPr>
          <a:lstStyle/>
          <a:p>
            <a:r>
              <a:rPr lang="en-IN" dirty="0">
                <a:latin typeface="Times New Roman" panose="02020603050405020304" pitchFamily="18" charset="0"/>
                <a:cs typeface="Times New Roman" panose="02020603050405020304" pitchFamily="18" charset="0"/>
              </a:rPr>
              <a:t>Strengths</a:t>
            </a:r>
          </a:p>
        </p:txBody>
      </p:sp>
      <p:sp>
        <p:nvSpPr>
          <p:cNvPr id="20" name="TextBox 19"/>
          <p:cNvSpPr txBox="1"/>
          <p:nvPr/>
        </p:nvSpPr>
        <p:spPr>
          <a:xfrm>
            <a:off x="6259202" y="1779509"/>
            <a:ext cx="1249060" cy="369332"/>
          </a:xfrm>
          <a:prstGeom prst="rect">
            <a:avLst/>
          </a:prstGeom>
          <a:noFill/>
        </p:spPr>
        <p:txBody>
          <a:bodyPr wrap="none" rtlCol="0">
            <a:spAutoFit/>
          </a:bodyPr>
          <a:lstStyle/>
          <a:p>
            <a:r>
              <a:rPr lang="en-IN" dirty="0">
                <a:latin typeface="Times New Roman" panose="02020603050405020304" pitchFamily="18" charset="0"/>
                <a:cs typeface="Times New Roman" panose="02020603050405020304" pitchFamily="18" charset="0"/>
              </a:rPr>
              <a:t>Limitations</a:t>
            </a:r>
          </a:p>
        </p:txBody>
      </p:sp>
      <p:sp>
        <p:nvSpPr>
          <p:cNvPr id="10" name="TextBox 9"/>
          <p:cNvSpPr txBox="1"/>
          <p:nvPr/>
        </p:nvSpPr>
        <p:spPr>
          <a:xfrm>
            <a:off x="393386" y="2186863"/>
            <a:ext cx="5274856" cy="4613058"/>
          </a:xfrm>
          <a:prstGeom prst="rect">
            <a:avLst/>
          </a:prstGeom>
          <a:noFill/>
        </p:spPr>
        <p:txBody>
          <a:bodyPr wrap="square" rtlCol="0">
            <a:spAutoFit/>
          </a:bodyPr>
          <a:lstStyle/>
          <a:p>
            <a:pPr marL="285750" lvl="0" indent="-285750" algn="just">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Multi-signal detection provides comprehensive client assessment. </a:t>
            </a:r>
          </a:p>
          <a:p>
            <a:pPr marL="285750" lvl="0" indent="-285750" algn="just">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Adaptive trust scoring adjusts to changing client </a:t>
            </a:r>
            <a:r>
              <a:rPr lang="en-IN" dirty="0" err="1">
                <a:latin typeface="Times New Roman" panose="02020603050405020304" pitchFamily="18" charset="0"/>
                <a:cs typeface="Times New Roman" panose="02020603050405020304" pitchFamily="18" charset="0"/>
              </a:rPr>
              <a:t>behavior</a:t>
            </a:r>
            <a:r>
              <a:rPr lang="en-IN" dirty="0">
                <a:latin typeface="Times New Roman" panose="02020603050405020304" pitchFamily="18" charset="0"/>
                <a:cs typeface="Times New Roman" panose="02020603050405020304" pitchFamily="18" charset="0"/>
              </a:rPr>
              <a:t>. </a:t>
            </a:r>
          </a:p>
          <a:p>
            <a:pPr marL="285750" lvl="0" indent="-285750" algn="just">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Robust under Non-IID data and heterogeneous distributions. </a:t>
            </a:r>
          </a:p>
          <a:p>
            <a:pPr marL="285750" lvl="0" indent="-285750" algn="just">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Trust-weighted aggregation limits malicious update influence. </a:t>
            </a:r>
          </a:p>
          <a:p>
            <a:pPr marL="285750" lvl="0" indent="-285750" algn="just">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Evaluated against multiple attacks and strong baselines. </a:t>
            </a:r>
          </a:p>
          <a:p>
            <a:pPr marL="285750" indent="-285750" algn="just">
              <a:lnSpc>
                <a:spcPct val="150000"/>
              </a:lnSpc>
              <a:buFont typeface="Arial" panose="020B0604020202020204" pitchFamily="34" charset="0"/>
              <a:buChar char="•"/>
            </a:pPr>
            <a:endParaRPr lang="en-IN" dirty="0">
              <a:latin typeface="Times New Roman" panose="02020603050405020304" pitchFamily="18" charset="0"/>
              <a:cs typeface="Times New Roman" panose="02020603050405020304" pitchFamily="18" charset="0"/>
            </a:endParaRPr>
          </a:p>
        </p:txBody>
      </p:sp>
      <p:sp>
        <p:nvSpPr>
          <p:cNvPr id="12" name="TextBox 11"/>
          <p:cNvSpPr txBox="1"/>
          <p:nvPr/>
        </p:nvSpPr>
        <p:spPr>
          <a:xfrm>
            <a:off x="6354147" y="2211151"/>
            <a:ext cx="5346362" cy="4197559"/>
          </a:xfrm>
          <a:prstGeom prst="rect">
            <a:avLst/>
          </a:prstGeom>
          <a:noFill/>
        </p:spPr>
        <p:txBody>
          <a:bodyPr wrap="square" rtlCol="0">
            <a:spAutoFit/>
          </a:bodyPr>
          <a:lstStyle/>
          <a:p>
            <a:pPr marL="285750" lvl="0" indent="-28575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Multi-signal effectiveness: The impact of individual signals varies across attack types. </a:t>
            </a:r>
          </a:p>
          <a:p>
            <a:pPr marL="285750" lvl="0" indent="-28575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Adaptive attacks: More investigation is needed against attackers that manipulate multiple trust signals. </a:t>
            </a:r>
          </a:p>
          <a:p>
            <a:pPr marL="285750" lvl="0" indent="-28575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Subtle attacks: Some attacks, such as sign-flipping, remain difficult to detect in certain settings. </a:t>
            </a:r>
          </a:p>
          <a:p>
            <a:pPr marL="285750" lvl="0" indent="-28575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Non-IID </a:t>
            </a:r>
            <a:r>
              <a:rPr lang="en-IN" dirty="0" err="1">
                <a:latin typeface="Times New Roman" panose="02020603050405020304" pitchFamily="18" charset="0"/>
                <a:cs typeface="Times New Roman" panose="02020603050405020304" pitchFamily="18" charset="0"/>
              </a:rPr>
              <a:t>behavior</a:t>
            </a:r>
            <a:r>
              <a:rPr lang="en-IN" dirty="0">
                <a:latin typeface="Times New Roman" panose="02020603050405020304" pitchFamily="18" charset="0"/>
                <a:cs typeface="Times New Roman" panose="02020603050405020304" pitchFamily="18" charset="0"/>
              </a:rPr>
              <a:t>: The interaction between data heterogeneity and adversarial </a:t>
            </a:r>
            <a:r>
              <a:rPr lang="en-IN" dirty="0" err="1">
                <a:latin typeface="Times New Roman" panose="02020603050405020304" pitchFamily="18" charset="0"/>
                <a:cs typeface="Times New Roman" panose="02020603050405020304" pitchFamily="18" charset="0"/>
              </a:rPr>
              <a:t>behavior</a:t>
            </a:r>
            <a:r>
              <a:rPr lang="en-IN" dirty="0">
                <a:latin typeface="Times New Roman" panose="02020603050405020304" pitchFamily="18" charset="0"/>
                <a:cs typeface="Times New Roman" panose="02020603050405020304" pitchFamily="18" charset="0"/>
              </a:rPr>
              <a:t> needs further study.</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 y="6980"/>
            <a:ext cx="12192000" cy="837398"/>
          </a:xfrm>
          <a:prstGeom prst="rect">
            <a:avLst/>
          </a:prstGeom>
          <a:solidFill>
            <a:srgbClr val="E77E69"/>
          </a:soli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IN" dirty="0">
              <a:solidFill>
                <a:srgbClr val="FFFF00"/>
              </a:solidFill>
              <a:latin typeface="Times New Roman" panose="02020603050405020304" pitchFamily="18" charset="0"/>
              <a:cs typeface="Times New Roman" panose="02020603050405020304" pitchFamily="18" charset="0"/>
            </a:endParaRPr>
          </a:p>
        </p:txBody>
      </p:sp>
      <p:sp>
        <p:nvSpPr>
          <p:cNvPr id="5" name="Rectangle 4"/>
          <p:cNvSpPr/>
          <p:nvPr/>
        </p:nvSpPr>
        <p:spPr>
          <a:xfrm>
            <a:off x="0" y="6451517"/>
            <a:ext cx="12192000" cy="393289"/>
          </a:xfrm>
          <a:prstGeom prst="rect">
            <a:avLst/>
          </a:prstGeom>
          <a:solidFill>
            <a:srgbClr val="E77E69"/>
          </a:soli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IN"/>
          </a:p>
        </p:txBody>
      </p:sp>
      <p:sp>
        <p:nvSpPr>
          <p:cNvPr id="11" name="Date Placeholder 10"/>
          <p:cNvSpPr>
            <a:spLocks noGrp="1"/>
          </p:cNvSpPr>
          <p:nvPr>
            <p:ph type="dt" sz="half" idx="10"/>
          </p:nvPr>
        </p:nvSpPr>
        <p:spPr>
          <a:xfrm>
            <a:off x="0" y="6460922"/>
            <a:ext cx="997974" cy="365125"/>
          </a:xfrm>
        </p:spPr>
        <p:txBody>
          <a:bodyPr/>
          <a:lstStyle/>
          <a:p>
            <a:fld id="{C72AAC90-D07C-417D-96C6-81B39DB87062}" type="datetime1">
              <a:rPr lang="en-IN" smtClean="0">
                <a:solidFill>
                  <a:schemeClr val="tx1"/>
                </a:solidFill>
              </a:rPr>
              <a:t>16-09-2026</a:t>
            </a:fld>
            <a:endParaRPr lang="en-IN" dirty="0">
              <a:solidFill>
                <a:schemeClr val="tx1"/>
              </a:solidFill>
            </a:endParaRPr>
          </a:p>
        </p:txBody>
      </p:sp>
      <p:sp>
        <p:nvSpPr>
          <p:cNvPr id="13" name="Slide Number Placeholder 12"/>
          <p:cNvSpPr>
            <a:spLocks noGrp="1"/>
          </p:cNvSpPr>
          <p:nvPr>
            <p:ph type="sldNum" sz="quarter" idx="12"/>
          </p:nvPr>
        </p:nvSpPr>
        <p:spPr>
          <a:xfrm>
            <a:off x="11227443" y="6478792"/>
            <a:ext cx="876067" cy="379208"/>
          </a:xfrm>
        </p:spPr>
        <p:txBody>
          <a:bodyPr/>
          <a:lstStyle/>
          <a:p>
            <a:fld id="{0F06A4E2-163B-4ABA-8562-AD05AC3F17C5}" type="slidenum">
              <a:rPr lang="en-IN" sz="1800" smtClean="0">
                <a:solidFill>
                  <a:schemeClr val="tx1"/>
                </a:solidFill>
              </a:rPr>
              <a:t>9</a:t>
            </a:fld>
            <a:endParaRPr lang="en-IN" sz="1800" dirty="0">
              <a:solidFill>
                <a:schemeClr val="tx1"/>
              </a:solidFill>
            </a:endParaRPr>
          </a:p>
        </p:txBody>
      </p:sp>
      <p:sp>
        <p:nvSpPr>
          <p:cNvPr id="15" name="TextBox 14"/>
          <p:cNvSpPr txBox="1"/>
          <p:nvPr/>
        </p:nvSpPr>
        <p:spPr>
          <a:xfrm flipH="1">
            <a:off x="135928" y="877163"/>
            <a:ext cx="2063808" cy="400110"/>
          </a:xfrm>
          <a:prstGeom prst="rect">
            <a:avLst/>
          </a:prstGeom>
          <a:noFill/>
        </p:spPr>
        <p:txBody>
          <a:bodyPr wrap="square" rtlCol="0">
            <a:spAutoFit/>
          </a:bodyPr>
          <a:lstStyle/>
          <a:p>
            <a:r>
              <a:rPr lang="en-IN" sz="2000" dirty="0">
                <a:latin typeface="Times New Roman" panose="02020603050405020304" pitchFamily="18" charset="0"/>
                <a:cs typeface="Times New Roman" panose="02020603050405020304" pitchFamily="18" charset="0"/>
              </a:rPr>
              <a:t>Literature Review</a:t>
            </a:r>
          </a:p>
        </p:txBody>
      </p:sp>
      <p:sp>
        <p:nvSpPr>
          <p:cNvPr id="2" name="TextBox 1"/>
          <p:cNvSpPr txBox="1"/>
          <p:nvPr/>
        </p:nvSpPr>
        <p:spPr>
          <a:xfrm>
            <a:off x="8955476" y="31393"/>
            <a:ext cx="3148033" cy="830997"/>
          </a:xfrm>
          <a:prstGeom prst="rect">
            <a:avLst/>
          </a:prstGeom>
          <a:noFill/>
        </p:spPr>
        <p:txBody>
          <a:bodyPr wrap="square" rtlCol="0">
            <a:spAutoFit/>
          </a:bodyPr>
          <a:lstStyle/>
          <a:p>
            <a:r>
              <a:rPr lang="en-IN" sz="1200" dirty="0">
                <a:latin typeface="Times New Roman" panose="02020603050405020304" pitchFamily="18" charset="0"/>
                <a:cs typeface="Times New Roman" panose="02020603050405020304" pitchFamily="18" charset="0"/>
              </a:rPr>
              <a:t>Guide: Mrs. B. Lalitha Rajeswari</a:t>
            </a:r>
          </a:p>
          <a:p>
            <a:r>
              <a:rPr lang="en-IN" sz="1200" dirty="0">
                <a:latin typeface="Times New Roman" panose="02020603050405020304" pitchFamily="18" charset="0"/>
                <a:cs typeface="Times New Roman" panose="02020603050405020304" pitchFamily="18" charset="0"/>
              </a:rPr>
              <a:t>Batch ID: A14</a:t>
            </a:r>
          </a:p>
          <a:p>
            <a:r>
              <a:rPr lang="en-IN" sz="1200" dirty="0">
                <a:latin typeface="Times New Roman" panose="02020603050405020304" pitchFamily="18" charset="0"/>
                <a:cs typeface="Times New Roman" panose="02020603050405020304" pitchFamily="18" charset="0"/>
              </a:rPr>
              <a:t>23BQ1A6129(TL),	23BQ1A6136,</a:t>
            </a:r>
          </a:p>
          <a:p>
            <a:r>
              <a:rPr lang="en-IN" sz="1200" dirty="0">
                <a:latin typeface="Times New Roman" panose="02020603050405020304" pitchFamily="18" charset="0"/>
                <a:cs typeface="Times New Roman" panose="02020603050405020304" pitchFamily="18" charset="0"/>
              </a:rPr>
              <a:t>23BQ1A6123,                         24BQ5A6125</a:t>
            </a:r>
            <a:endParaRPr lang="en-IN" sz="1200" dirty="0"/>
          </a:p>
        </p:txBody>
      </p:sp>
      <p:pic>
        <p:nvPicPr>
          <p:cNvPr id="3" name="Picture 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4186" y="92353"/>
            <a:ext cx="993618" cy="693462"/>
          </a:xfrm>
          <a:prstGeom prst="rect">
            <a:avLst/>
          </a:prstGeom>
        </p:spPr>
      </p:pic>
      <p:sp>
        <p:nvSpPr>
          <p:cNvPr id="14" name="TextBox 13"/>
          <p:cNvSpPr txBox="1"/>
          <p:nvPr/>
        </p:nvSpPr>
        <p:spPr>
          <a:xfrm>
            <a:off x="1531467" y="82617"/>
            <a:ext cx="7424010" cy="646331"/>
          </a:xfrm>
          <a:prstGeom prst="rect">
            <a:avLst/>
          </a:prstGeom>
          <a:noFill/>
        </p:spPr>
        <p:txBody>
          <a:bodyPr wrap="square" rtlCol="0">
            <a:spAutoFit/>
          </a:bodyPr>
          <a:lstStyle/>
          <a:p>
            <a:r>
              <a:rPr lang="en-IN" dirty="0">
                <a:latin typeface="Times New Roman" panose="02020603050405020304" pitchFamily="18" charset="0"/>
                <a:cs typeface="Times New Roman" panose="02020603050405020304" pitchFamily="18" charset="0"/>
              </a:rPr>
              <a:t>Contribution-Aware Trust Mechanism for Poisoning Attack Detection in Swarm Learning</a:t>
            </a:r>
          </a:p>
        </p:txBody>
      </p:sp>
      <p:sp>
        <p:nvSpPr>
          <p:cNvPr id="16" name="Footer Placeholder 11"/>
          <p:cNvSpPr>
            <a:spLocks noGrp="1"/>
          </p:cNvSpPr>
          <p:nvPr>
            <p:ph type="ftr" sz="quarter" idx="11"/>
          </p:nvPr>
        </p:nvSpPr>
        <p:spPr>
          <a:xfrm>
            <a:off x="3999271" y="6460922"/>
            <a:ext cx="4114800" cy="365125"/>
          </a:xfrm>
        </p:spPr>
        <p:txBody>
          <a:bodyPr/>
          <a:lstStyle/>
          <a:p>
            <a:r>
              <a:rPr lang="en-IN" dirty="0">
                <a:solidFill>
                  <a:schemeClr val="tx1"/>
                </a:solidFill>
              </a:rPr>
              <a:t>Dept. CSM @ VVIT</a:t>
            </a:r>
          </a:p>
        </p:txBody>
      </p:sp>
      <p:sp>
        <p:nvSpPr>
          <p:cNvPr id="17" name="TextBox 16"/>
          <p:cNvSpPr txBox="1"/>
          <p:nvPr/>
        </p:nvSpPr>
        <p:spPr>
          <a:xfrm flipH="1">
            <a:off x="135928" y="1326501"/>
            <a:ext cx="11920141" cy="307777"/>
          </a:xfrm>
          <a:prstGeom prst="rect">
            <a:avLst/>
          </a:prstGeom>
          <a:noFill/>
        </p:spPr>
        <p:txBody>
          <a:bodyPr wrap="square" rtlCol="0">
            <a:spAutoFit/>
          </a:bodyPr>
          <a:lstStyle/>
          <a:p>
            <a:r>
              <a:rPr lang="en-IN" sz="1400" dirty="0">
                <a:solidFill>
                  <a:schemeClr val="bg1">
                    <a:lumMod val="75000"/>
                  </a:schemeClr>
                </a:solidFill>
                <a:latin typeface="Times New Roman" panose="02020603050405020304" pitchFamily="18" charset="0"/>
                <a:cs typeface="Times New Roman" panose="02020603050405020304" pitchFamily="18" charset="0"/>
              </a:rPr>
              <a:t>| Proposed Method | Data &amp; Setup | key Results | Strengths &amp; Limitations </a:t>
            </a:r>
            <a:r>
              <a:rPr lang="en-IN" sz="1400" dirty="0">
                <a:latin typeface="Times New Roman" panose="02020603050405020304" pitchFamily="18" charset="0"/>
                <a:cs typeface="Times New Roman" panose="02020603050405020304" pitchFamily="18" charset="0"/>
              </a:rPr>
              <a:t>| Relevance to my research |</a:t>
            </a:r>
          </a:p>
        </p:txBody>
      </p:sp>
      <p:sp>
        <p:nvSpPr>
          <p:cNvPr id="6" name="Rectangle 5"/>
          <p:cNvSpPr/>
          <p:nvPr/>
        </p:nvSpPr>
        <p:spPr>
          <a:xfrm>
            <a:off x="2082799" y="862390"/>
            <a:ext cx="10020709" cy="430887"/>
          </a:xfrm>
          <a:prstGeom prst="rect">
            <a:avLst/>
          </a:prstGeom>
        </p:spPr>
        <p:txBody>
          <a:bodyPr wrap="square">
            <a:spAutoFit/>
          </a:bodyPr>
          <a:lstStyle/>
          <a:p>
            <a:r>
              <a:rPr lang="en-US" sz="1100" b="1" dirty="0">
                <a:latin typeface="Times New Roman" panose="02020603050405020304" pitchFamily="18" charset="0"/>
                <a:cs typeface="Times New Roman" panose="02020603050405020304" pitchFamily="18" charset="0"/>
              </a:rPr>
              <a:t>Byzantine robust federated learning for heterogeneous brain MRI using </a:t>
            </a:r>
            <a:r>
              <a:rPr lang="en-US" sz="1100" b="1" dirty="0" err="1">
                <a:latin typeface="Times New Roman" panose="02020603050405020304" pitchFamily="18" charset="0"/>
                <a:cs typeface="Times New Roman" panose="02020603050405020304" pitchFamily="18" charset="0"/>
              </a:rPr>
              <a:t>multisignal</a:t>
            </a:r>
            <a:r>
              <a:rPr lang="en-US" sz="1100" b="1" dirty="0">
                <a:latin typeface="Times New Roman" panose="02020603050405020304" pitchFamily="18" charset="0"/>
                <a:cs typeface="Times New Roman" panose="02020603050405020304" pitchFamily="18" charset="0"/>
              </a:rPr>
              <a:t> gradient fingerprinting and adaptive trust aggregation </a:t>
            </a:r>
            <a:endParaRPr lang="en-US" sz="1100" dirty="0">
              <a:latin typeface="Times New Roman" panose="02020603050405020304" pitchFamily="18" charset="0"/>
              <a:cs typeface="Times New Roman" panose="02020603050405020304" pitchFamily="18" charset="0"/>
            </a:endParaRPr>
          </a:p>
          <a:p>
            <a:r>
              <a:rPr lang="en-IN" sz="1100" b="1" dirty="0">
                <a:latin typeface="Times New Roman" panose="02020603050405020304" pitchFamily="18" charset="0"/>
                <a:cs typeface="Times New Roman" panose="02020603050405020304" pitchFamily="18" charset="0"/>
              </a:rPr>
              <a:t>Mohammad Karami1, Hamed Kebriaei1</a:t>
            </a:r>
            <a:r>
              <a:rPr lang="en-IN" sz="1100" dirty="0">
                <a:latin typeface="Times New Roman" panose="02020603050405020304" pitchFamily="18" charset="0"/>
                <a:cs typeface="Times New Roman" panose="02020603050405020304" pitchFamily="18" charset="0"/>
              </a:rPr>
              <a:t></a:t>
            </a:r>
            <a:r>
              <a:rPr lang="en-IN" sz="1100" b="1" dirty="0">
                <a:latin typeface="Times New Roman" panose="02020603050405020304" pitchFamily="18" charset="0"/>
                <a:cs typeface="Times New Roman" panose="02020603050405020304" pitchFamily="18" charset="0"/>
              </a:rPr>
              <a:t>, Fatemeh Ghassemi1 &amp; Hamid Azadegan2 </a:t>
            </a:r>
            <a:r>
              <a:rPr lang="en-US" sz="1100" i="1" dirty="0">
                <a:latin typeface="Times New Roman" panose="02020603050405020304" pitchFamily="18" charset="0"/>
                <a:cs typeface="Times New Roman" panose="02020603050405020304" pitchFamily="18" charset="0"/>
              </a:rPr>
              <a:t>| </a:t>
            </a:r>
            <a:r>
              <a:rPr lang="en-IN" sz="1100" dirty="0">
                <a:latin typeface="Times New Roman" panose="02020603050405020304" pitchFamily="18" charset="0"/>
                <a:cs typeface="Times New Roman" panose="02020603050405020304" pitchFamily="18" charset="0"/>
              </a:rPr>
              <a:t>www.nature.com/scientificreports</a:t>
            </a:r>
          </a:p>
        </p:txBody>
      </p:sp>
      <p:sp>
        <p:nvSpPr>
          <p:cNvPr id="7" name="TextBox 6"/>
          <p:cNvSpPr txBox="1"/>
          <p:nvPr/>
        </p:nvSpPr>
        <p:spPr>
          <a:xfrm>
            <a:off x="482400" y="1634278"/>
            <a:ext cx="10745043" cy="2951064"/>
          </a:xfrm>
          <a:prstGeom prst="rect">
            <a:avLst/>
          </a:prstGeom>
          <a:noFill/>
        </p:spPr>
        <p:txBody>
          <a:bodyPr wrap="square" rtlCol="0">
            <a:spAutoFit/>
          </a:bodyPr>
          <a:lstStyle/>
          <a:p>
            <a:pPr marL="285750" lvl="0" indent="-28575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Provides a multi-signal trust-based approach relevant to poisoning detection. </a:t>
            </a:r>
          </a:p>
          <a:p>
            <a:pPr marL="285750" lvl="0" indent="-28575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Shows that client contribution can complement similarity-based detection. </a:t>
            </a:r>
          </a:p>
          <a:p>
            <a:pPr marL="285750" lvl="0" indent="-28575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Addresses Non-IID data, which is a key concern in our project. </a:t>
            </a:r>
          </a:p>
          <a:p>
            <a:pPr marL="285750" lvl="0" indent="-28575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Supports the use of trust-weighted aggregation to reduce malicious influence. </a:t>
            </a:r>
          </a:p>
          <a:p>
            <a:pPr marL="285750" lvl="0" indent="-28575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Our project extends this direction by focusing on Leave-One-Out contribution and reducing false positives for honest Non-IID participants.</a:t>
            </a:r>
          </a:p>
          <a:p>
            <a:pPr marL="285750" indent="-285750">
              <a:lnSpc>
                <a:spcPct val="150000"/>
              </a:lnSpc>
              <a:buFont typeface="Arial" panose="020B0604020202020204" pitchFamily="34" charset="0"/>
              <a:buChar char="•"/>
            </a:pPr>
            <a:endParaRPr lang="en-IN"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 y="6980"/>
            <a:ext cx="12192000" cy="837398"/>
          </a:xfrm>
          <a:prstGeom prst="rect">
            <a:avLst/>
          </a:prstGeom>
          <a:solidFill>
            <a:srgbClr val="E77E69"/>
          </a:soli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IN" dirty="0">
              <a:solidFill>
                <a:srgbClr val="FFFF00"/>
              </a:solidFill>
              <a:latin typeface="Times New Roman" panose="02020603050405020304" pitchFamily="18" charset="0"/>
              <a:cs typeface="Times New Roman" panose="02020603050405020304" pitchFamily="18" charset="0"/>
            </a:endParaRPr>
          </a:p>
        </p:txBody>
      </p:sp>
      <p:sp>
        <p:nvSpPr>
          <p:cNvPr id="5" name="Rectangle 4"/>
          <p:cNvSpPr/>
          <p:nvPr/>
        </p:nvSpPr>
        <p:spPr>
          <a:xfrm>
            <a:off x="0" y="6451517"/>
            <a:ext cx="12192000" cy="393289"/>
          </a:xfrm>
          <a:prstGeom prst="rect">
            <a:avLst/>
          </a:prstGeom>
          <a:solidFill>
            <a:srgbClr val="E77E69"/>
          </a:soli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IN"/>
          </a:p>
        </p:txBody>
      </p:sp>
      <p:sp>
        <p:nvSpPr>
          <p:cNvPr id="11" name="Date Placeholder 10"/>
          <p:cNvSpPr>
            <a:spLocks noGrp="1"/>
          </p:cNvSpPr>
          <p:nvPr>
            <p:ph type="dt" sz="half" idx="10"/>
          </p:nvPr>
        </p:nvSpPr>
        <p:spPr>
          <a:xfrm>
            <a:off x="0" y="6460922"/>
            <a:ext cx="997974" cy="365125"/>
          </a:xfrm>
        </p:spPr>
        <p:txBody>
          <a:bodyPr/>
          <a:lstStyle/>
          <a:p>
            <a:fld id="{C72AAC90-D07C-417D-96C6-81B39DB87062}" type="datetime1">
              <a:rPr lang="en-IN" smtClean="0">
                <a:solidFill>
                  <a:schemeClr val="tx1"/>
                </a:solidFill>
              </a:rPr>
              <a:t>16-09-2026</a:t>
            </a:fld>
            <a:endParaRPr lang="en-IN" dirty="0">
              <a:solidFill>
                <a:schemeClr val="tx1"/>
              </a:solidFill>
            </a:endParaRPr>
          </a:p>
        </p:txBody>
      </p:sp>
      <p:sp>
        <p:nvSpPr>
          <p:cNvPr id="13" name="Slide Number Placeholder 12"/>
          <p:cNvSpPr>
            <a:spLocks noGrp="1"/>
          </p:cNvSpPr>
          <p:nvPr>
            <p:ph type="sldNum" sz="quarter" idx="12"/>
          </p:nvPr>
        </p:nvSpPr>
        <p:spPr>
          <a:xfrm>
            <a:off x="11227443" y="6478792"/>
            <a:ext cx="876067" cy="379208"/>
          </a:xfrm>
        </p:spPr>
        <p:txBody>
          <a:bodyPr/>
          <a:lstStyle/>
          <a:p>
            <a:fld id="{0F06A4E2-163B-4ABA-8562-AD05AC3F17C5}" type="slidenum">
              <a:rPr lang="en-IN" sz="1800" smtClean="0">
                <a:solidFill>
                  <a:schemeClr val="tx1"/>
                </a:solidFill>
              </a:rPr>
              <a:t>10</a:t>
            </a:fld>
            <a:endParaRPr lang="en-IN" sz="1800" dirty="0">
              <a:solidFill>
                <a:schemeClr val="tx1"/>
              </a:solidFill>
            </a:endParaRPr>
          </a:p>
        </p:txBody>
      </p:sp>
      <p:sp>
        <p:nvSpPr>
          <p:cNvPr id="15" name="TextBox 14"/>
          <p:cNvSpPr txBox="1"/>
          <p:nvPr/>
        </p:nvSpPr>
        <p:spPr>
          <a:xfrm flipH="1">
            <a:off x="135928" y="877163"/>
            <a:ext cx="2063808" cy="400110"/>
          </a:xfrm>
          <a:prstGeom prst="rect">
            <a:avLst/>
          </a:prstGeom>
          <a:noFill/>
        </p:spPr>
        <p:txBody>
          <a:bodyPr wrap="square" rtlCol="0">
            <a:spAutoFit/>
          </a:bodyPr>
          <a:lstStyle/>
          <a:p>
            <a:r>
              <a:rPr lang="en-IN" sz="2000" dirty="0">
                <a:latin typeface="Times New Roman" panose="02020603050405020304" pitchFamily="18" charset="0"/>
                <a:cs typeface="Times New Roman" panose="02020603050405020304" pitchFamily="18" charset="0"/>
              </a:rPr>
              <a:t>Literature Review</a:t>
            </a:r>
          </a:p>
        </p:txBody>
      </p:sp>
      <p:sp>
        <p:nvSpPr>
          <p:cNvPr id="2" name="TextBox 1"/>
          <p:cNvSpPr txBox="1"/>
          <p:nvPr/>
        </p:nvSpPr>
        <p:spPr>
          <a:xfrm>
            <a:off x="8955476" y="31393"/>
            <a:ext cx="3148033" cy="830997"/>
          </a:xfrm>
          <a:prstGeom prst="rect">
            <a:avLst/>
          </a:prstGeom>
          <a:noFill/>
        </p:spPr>
        <p:txBody>
          <a:bodyPr wrap="square" rtlCol="0">
            <a:spAutoFit/>
          </a:bodyPr>
          <a:lstStyle/>
          <a:p>
            <a:r>
              <a:rPr lang="en-IN" sz="1200" dirty="0">
                <a:latin typeface="Times New Roman" panose="02020603050405020304" pitchFamily="18" charset="0"/>
                <a:cs typeface="Times New Roman" panose="02020603050405020304" pitchFamily="18" charset="0"/>
              </a:rPr>
              <a:t>Guide: Mrs. B. Lalitha Rajeswari</a:t>
            </a:r>
          </a:p>
          <a:p>
            <a:r>
              <a:rPr lang="en-IN" sz="1200" dirty="0">
                <a:latin typeface="Times New Roman" panose="02020603050405020304" pitchFamily="18" charset="0"/>
                <a:cs typeface="Times New Roman" panose="02020603050405020304" pitchFamily="18" charset="0"/>
              </a:rPr>
              <a:t>Batch ID: A14</a:t>
            </a:r>
          </a:p>
          <a:p>
            <a:r>
              <a:rPr lang="en-IN" sz="1200" dirty="0">
                <a:latin typeface="Times New Roman" panose="02020603050405020304" pitchFamily="18" charset="0"/>
                <a:cs typeface="Times New Roman" panose="02020603050405020304" pitchFamily="18" charset="0"/>
              </a:rPr>
              <a:t>23BQ1A6129(TL),	23BQ1A6136,</a:t>
            </a:r>
          </a:p>
          <a:p>
            <a:r>
              <a:rPr lang="en-IN" sz="1200" dirty="0">
                <a:latin typeface="Times New Roman" panose="02020603050405020304" pitchFamily="18" charset="0"/>
                <a:cs typeface="Times New Roman" panose="02020603050405020304" pitchFamily="18" charset="0"/>
              </a:rPr>
              <a:t>23BQ1A6123,                         24BQ5A6125</a:t>
            </a:r>
            <a:endParaRPr lang="en-IN" sz="1200" dirty="0"/>
          </a:p>
        </p:txBody>
      </p:sp>
      <p:pic>
        <p:nvPicPr>
          <p:cNvPr id="3" name="Picture 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4186" y="92353"/>
            <a:ext cx="993618" cy="693462"/>
          </a:xfrm>
          <a:prstGeom prst="rect">
            <a:avLst/>
          </a:prstGeom>
        </p:spPr>
      </p:pic>
      <p:sp>
        <p:nvSpPr>
          <p:cNvPr id="14" name="TextBox 13"/>
          <p:cNvSpPr txBox="1"/>
          <p:nvPr/>
        </p:nvSpPr>
        <p:spPr>
          <a:xfrm>
            <a:off x="1531467" y="82617"/>
            <a:ext cx="7424010" cy="923330"/>
          </a:xfrm>
          <a:prstGeom prst="rect">
            <a:avLst/>
          </a:prstGeom>
          <a:noFill/>
        </p:spPr>
        <p:txBody>
          <a:bodyPr wrap="square" rtlCol="0">
            <a:spAutoFit/>
          </a:bodyPr>
          <a:lstStyle/>
          <a:p>
            <a:r>
              <a:rPr lang="en-IN" dirty="0">
                <a:latin typeface="Times New Roman" panose="02020603050405020304" pitchFamily="18" charset="0"/>
                <a:cs typeface="Times New Roman" panose="02020603050405020304" pitchFamily="18" charset="0"/>
              </a:rPr>
              <a:t>Contribution-Aware Trust Mechanism for Poisoning Attack Detection in Swarm Learning</a:t>
            </a:r>
          </a:p>
          <a:p>
            <a:endParaRPr lang="en-US" altLang="en-US" dirty="0">
              <a:latin typeface="Times New Roman" panose="02020603050405020304" pitchFamily="18" charset="0"/>
              <a:cs typeface="Times New Roman" panose="02020603050405020304" pitchFamily="18" charset="0"/>
            </a:endParaRPr>
          </a:p>
        </p:txBody>
      </p:sp>
      <p:sp>
        <p:nvSpPr>
          <p:cNvPr id="16" name="Footer Placeholder 11"/>
          <p:cNvSpPr>
            <a:spLocks noGrp="1"/>
          </p:cNvSpPr>
          <p:nvPr>
            <p:ph type="ftr" sz="quarter" idx="11"/>
          </p:nvPr>
        </p:nvSpPr>
        <p:spPr>
          <a:xfrm>
            <a:off x="3999271" y="6460922"/>
            <a:ext cx="4114800" cy="365125"/>
          </a:xfrm>
        </p:spPr>
        <p:txBody>
          <a:bodyPr/>
          <a:lstStyle/>
          <a:p>
            <a:r>
              <a:rPr lang="en-IN" dirty="0">
                <a:solidFill>
                  <a:schemeClr val="tx1"/>
                </a:solidFill>
              </a:rPr>
              <a:t>Dept. CSM @ VVIT</a:t>
            </a:r>
          </a:p>
        </p:txBody>
      </p:sp>
      <p:sp>
        <p:nvSpPr>
          <p:cNvPr id="17" name="TextBox 16"/>
          <p:cNvSpPr txBox="1"/>
          <p:nvPr/>
        </p:nvSpPr>
        <p:spPr>
          <a:xfrm flipH="1">
            <a:off x="135890" y="1326515"/>
            <a:ext cx="11920220" cy="449580"/>
          </a:xfrm>
          <a:prstGeom prst="rect">
            <a:avLst/>
          </a:prstGeom>
          <a:noFill/>
        </p:spPr>
        <p:txBody>
          <a:bodyPr wrap="square" rtlCol="0">
            <a:noAutofit/>
          </a:bodyPr>
          <a:lstStyle/>
          <a:p>
            <a:r>
              <a:rPr lang="en-IN" sz="1400" dirty="0">
                <a:latin typeface="Times New Roman" panose="02020603050405020304" pitchFamily="18" charset="0"/>
                <a:cs typeface="Times New Roman" panose="02020603050405020304" pitchFamily="18" charset="0"/>
              </a:rPr>
              <a:t>| Proposed Method | </a:t>
            </a:r>
            <a:r>
              <a:rPr lang="en-IN" sz="1400" dirty="0">
                <a:solidFill>
                  <a:schemeClr val="bg1">
                    <a:lumMod val="75000"/>
                  </a:schemeClr>
                </a:solidFill>
                <a:latin typeface="Times New Roman" panose="02020603050405020304" pitchFamily="18" charset="0"/>
                <a:cs typeface="Times New Roman" panose="02020603050405020304" pitchFamily="18" charset="0"/>
              </a:rPr>
              <a:t>Data &amp; Setup | key Results | Strengths &amp; Limitations | Relevance to my research |</a:t>
            </a:r>
          </a:p>
        </p:txBody>
      </p:sp>
      <p:sp>
        <p:nvSpPr>
          <p:cNvPr id="6" name="Rectangle 5"/>
          <p:cNvSpPr/>
          <p:nvPr/>
        </p:nvSpPr>
        <p:spPr>
          <a:xfrm>
            <a:off x="2082799" y="862390"/>
            <a:ext cx="10020709" cy="521970"/>
          </a:xfrm>
          <a:prstGeom prst="rect">
            <a:avLst/>
          </a:prstGeom>
        </p:spPr>
        <p:txBody>
          <a:bodyPr wrap="square">
            <a:spAutoFit/>
          </a:bodyPr>
          <a:lstStyle/>
          <a:p>
            <a:r>
              <a:rPr lang="en-US" altLang="en-US" sz="1400" b="1" dirty="0"/>
              <a:t> Beyond Leave-One-Out: Private and Robust Contribution Evaluation in Federated Learning | Jaramillo Velez et al., 2026 | arXiv Preprint</a:t>
            </a:r>
          </a:p>
        </p:txBody>
      </p:sp>
      <p:sp>
        <p:nvSpPr>
          <p:cNvPr id="7" name="Text Box 6"/>
          <p:cNvSpPr txBox="1"/>
          <p:nvPr/>
        </p:nvSpPr>
        <p:spPr>
          <a:xfrm>
            <a:off x="391160" y="1826260"/>
            <a:ext cx="11437620" cy="3788410"/>
          </a:xfrm>
          <a:prstGeom prst="rect">
            <a:avLst/>
          </a:prstGeom>
          <a:noFill/>
        </p:spPr>
        <p:txBody>
          <a:bodyPr wrap="square" rtlCol="0" anchor="t">
            <a:noAutofit/>
          </a:bodyPr>
          <a:lstStyle/>
          <a:p>
            <a:pPr marL="285750" indent="-285750" algn="l">
              <a:lnSpc>
                <a:spcPct val="150000"/>
              </a:lnSpc>
              <a:buFont typeface="Arial" panose="020B0604020202020204" pitchFamily="34" charset="0"/>
              <a:buChar char="•"/>
            </a:pPr>
            <a:r>
              <a:rPr lang="en-US" altLang="en-US" dirty="0">
                <a:latin typeface="Times New Roman" panose="02020603050405020304" pitchFamily="18" charset="0"/>
                <a:cs typeface="Times New Roman" panose="02020603050405020304" pitchFamily="18" charset="0"/>
              </a:rPr>
              <a:t>Introduces two privacy-preserving contribution evaluation methods: Fair-Private (FP) and Everybody-Else (EE).</a:t>
            </a:r>
          </a:p>
          <a:p>
            <a:pPr marL="285750" indent="-285750" algn="l">
              <a:lnSpc>
                <a:spcPct val="150000"/>
              </a:lnSpc>
              <a:buFont typeface="Arial" panose="020B0604020202020204" pitchFamily="34" charset="0"/>
              <a:buChar char="•"/>
            </a:pPr>
            <a:r>
              <a:rPr lang="en-US" altLang="en-US" dirty="0">
                <a:latin typeface="Times New Roman" panose="02020603050405020304" pitchFamily="18" charset="0"/>
                <a:cs typeface="Times New Roman" panose="02020603050405020304" pitchFamily="18" charset="0"/>
              </a:rPr>
              <a:t> FP combines Leave-One-Out (LOO) and Include-One-In (IOI) evaluations to provide fair client contribution scores.</a:t>
            </a:r>
          </a:p>
          <a:p>
            <a:pPr marL="285750" indent="-285750" algn="l">
              <a:lnSpc>
                <a:spcPct val="150000"/>
              </a:lnSpc>
              <a:buFont typeface="Arial" panose="020B0604020202020204" pitchFamily="34" charset="0"/>
              <a:buChar char="•"/>
            </a:pPr>
            <a:r>
              <a:rPr lang="en-US" altLang="en-US" dirty="0">
                <a:latin typeface="Times New Roman" panose="02020603050405020304" pitchFamily="18" charset="0"/>
                <a:cs typeface="Times New Roman" panose="02020603050405020304" pitchFamily="18" charset="0"/>
              </a:rPr>
              <a:t> EE evaluates a client's contribution based on the performance impact observed by other clients, avoiding direct self-evaluation.</a:t>
            </a:r>
          </a:p>
          <a:p>
            <a:pPr marL="285750" indent="-285750" algn="l">
              <a:lnSpc>
                <a:spcPct val="150000"/>
              </a:lnSpc>
              <a:buFont typeface="Arial" panose="020B0604020202020204" pitchFamily="34" charset="0"/>
              <a:buChar char="•"/>
            </a:pPr>
            <a:r>
              <a:rPr lang="en-US" altLang="en-US" dirty="0">
                <a:latin typeface="Times New Roman" panose="02020603050405020304" pitchFamily="18" charset="0"/>
                <a:cs typeface="Times New Roman" panose="02020603050405020304" pitchFamily="18" charset="0"/>
              </a:rPr>
              <a:t> Both methods are designed to work with Secure Aggregation, keeping individual client updates private.</a:t>
            </a:r>
          </a:p>
          <a:p>
            <a:pPr marL="285750" indent="-285750" algn="l">
              <a:lnSpc>
                <a:spcPct val="150000"/>
              </a:lnSpc>
              <a:buFont typeface="Arial" panose="020B0604020202020204" pitchFamily="34" charset="0"/>
              <a:buChar char="•"/>
            </a:pPr>
            <a:r>
              <a:rPr lang="en-US" altLang="en-US" dirty="0">
                <a:latin typeface="Times New Roman" panose="02020603050405020304" pitchFamily="18" charset="0"/>
                <a:cs typeface="Times New Roman" panose="02020603050405020304" pitchFamily="18" charset="0"/>
              </a:rPr>
              <a:t> FP satisfies key fairness properties such as efficiency, symmetry, and null-player.</a:t>
            </a:r>
          </a:p>
          <a:p>
            <a:pPr marL="285750" indent="-285750" algn="l">
              <a:lnSpc>
                <a:spcPct val="150000"/>
              </a:lnSpc>
              <a:buFont typeface="Arial" panose="020B0604020202020204" pitchFamily="34" charset="0"/>
              <a:buChar char="•"/>
            </a:pPr>
            <a:r>
              <a:rPr lang="en-US" altLang="en-US" dirty="0">
                <a:latin typeface="Times New Roman" panose="02020603050405020304" pitchFamily="18" charset="0"/>
                <a:cs typeface="Times New Roman" panose="02020603050405020304" pitchFamily="18" charset="0"/>
              </a:rPr>
              <a:t>EE improves robustness against contribution-score manipulation.</a:t>
            </a:r>
          </a:p>
          <a:p>
            <a:pPr marL="285750" indent="-285750" algn="l">
              <a:lnSpc>
                <a:spcPct val="150000"/>
              </a:lnSpc>
              <a:buFont typeface="Arial" panose="020B0604020202020204" pitchFamily="34" charset="0"/>
              <a:buChar char="•"/>
            </a:pPr>
            <a:r>
              <a:rPr lang="en-US" altLang="en-US" dirty="0">
                <a:latin typeface="Times New Roman" panose="02020603050405020304" pitchFamily="18" charset="0"/>
                <a:cs typeface="Times New Roman" panose="02020603050405020304" pitchFamily="18" charset="0"/>
              </a:rPr>
              <a:t>The resulting contribution scores can be used for client ranking, reward allocation, and misbehavior detection.</a:t>
            </a:r>
          </a:p>
          <a:p>
            <a:pPr algn="l"/>
            <a:endParaRPr lang="en-IN" altLang="en-US" dirty="0">
              <a:latin typeface="Times New Roman" panose="02020603050405020304" pitchFamily="18" charset="0"/>
              <a:cs typeface="Times New Roman" panose="02020603050405020304" pitchFamily="18" charset="0"/>
            </a:endParaRPr>
          </a:p>
        </p:txBody>
      </p:sp>
      <p:sp>
        <p:nvSpPr>
          <p:cNvPr id="8" name="Text Box 7"/>
          <p:cNvSpPr txBox="1"/>
          <p:nvPr/>
        </p:nvSpPr>
        <p:spPr>
          <a:xfrm>
            <a:off x="10895965" y="891540"/>
            <a:ext cx="4064000" cy="368300"/>
          </a:xfrm>
          <a:prstGeom prst="rect">
            <a:avLst/>
          </a:prstGeom>
          <a:noFill/>
        </p:spPr>
        <p:txBody>
          <a:bodyPr wrap="square" rtlCol="0">
            <a:spAutoFit/>
          </a:bodyPr>
          <a:lstStyle/>
          <a:p>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 y="6980"/>
            <a:ext cx="12192000" cy="837398"/>
          </a:xfrm>
          <a:prstGeom prst="rect">
            <a:avLst/>
          </a:prstGeom>
          <a:solidFill>
            <a:srgbClr val="E77E69"/>
          </a:soli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IN" dirty="0">
              <a:solidFill>
                <a:srgbClr val="FFFF00"/>
              </a:solidFill>
              <a:latin typeface="Times New Roman" panose="02020603050405020304" pitchFamily="18" charset="0"/>
              <a:cs typeface="Times New Roman" panose="02020603050405020304" pitchFamily="18" charset="0"/>
            </a:endParaRPr>
          </a:p>
        </p:txBody>
      </p:sp>
      <p:sp>
        <p:nvSpPr>
          <p:cNvPr id="5" name="Rectangle 4"/>
          <p:cNvSpPr/>
          <p:nvPr/>
        </p:nvSpPr>
        <p:spPr>
          <a:xfrm>
            <a:off x="0" y="6451517"/>
            <a:ext cx="12192000" cy="393289"/>
          </a:xfrm>
          <a:prstGeom prst="rect">
            <a:avLst/>
          </a:prstGeom>
          <a:solidFill>
            <a:srgbClr val="E77E69"/>
          </a:soli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IN"/>
          </a:p>
        </p:txBody>
      </p:sp>
      <p:sp>
        <p:nvSpPr>
          <p:cNvPr id="11" name="Date Placeholder 10"/>
          <p:cNvSpPr>
            <a:spLocks noGrp="1"/>
          </p:cNvSpPr>
          <p:nvPr>
            <p:ph type="dt" sz="half" idx="10"/>
          </p:nvPr>
        </p:nvSpPr>
        <p:spPr>
          <a:xfrm>
            <a:off x="0" y="6460922"/>
            <a:ext cx="997974" cy="365125"/>
          </a:xfrm>
        </p:spPr>
        <p:txBody>
          <a:bodyPr/>
          <a:lstStyle/>
          <a:p>
            <a:fld id="{C72AAC90-D07C-417D-96C6-81B39DB87062}" type="datetime1">
              <a:rPr lang="en-IN" smtClean="0">
                <a:solidFill>
                  <a:schemeClr val="tx1"/>
                </a:solidFill>
              </a:rPr>
              <a:t>16-09-2026</a:t>
            </a:fld>
            <a:endParaRPr lang="en-IN" dirty="0">
              <a:solidFill>
                <a:schemeClr val="tx1"/>
              </a:solidFill>
            </a:endParaRPr>
          </a:p>
        </p:txBody>
      </p:sp>
      <p:sp>
        <p:nvSpPr>
          <p:cNvPr id="13" name="Slide Number Placeholder 12"/>
          <p:cNvSpPr>
            <a:spLocks noGrp="1"/>
          </p:cNvSpPr>
          <p:nvPr>
            <p:ph type="sldNum" sz="quarter" idx="12"/>
          </p:nvPr>
        </p:nvSpPr>
        <p:spPr>
          <a:xfrm>
            <a:off x="11227443" y="6478792"/>
            <a:ext cx="876067" cy="379208"/>
          </a:xfrm>
        </p:spPr>
        <p:txBody>
          <a:bodyPr/>
          <a:lstStyle/>
          <a:p>
            <a:fld id="{0F06A4E2-163B-4ABA-8562-AD05AC3F17C5}" type="slidenum">
              <a:rPr lang="en-IN" sz="1800" smtClean="0">
                <a:solidFill>
                  <a:schemeClr val="tx1"/>
                </a:solidFill>
              </a:rPr>
              <a:t>11</a:t>
            </a:fld>
            <a:endParaRPr lang="en-IN" sz="1800" dirty="0">
              <a:solidFill>
                <a:schemeClr val="tx1"/>
              </a:solidFill>
            </a:endParaRPr>
          </a:p>
        </p:txBody>
      </p:sp>
      <p:sp>
        <p:nvSpPr>
          <p:cNvPr id="15" name="TextBox 14"/>
          <p:cNvSpPr txBox="1"/>
          <p:nvPr/>
        </p:nvSpPr>
        <p:spPr>
          <a:xfrm flipH="1">
            <a:off x="135928" y="877163"/>
            <a:ext cx="2063808" cy="400110"/>
          </a:xfrm>
          <a:prstGeom prst="rect">
            <a:avLst/>
          </a:prstGeom>
          <a:noFill/>
        </p:spPr>
        <p:txBody>
          <a:bodyPr wrap="square" rtlCol="0">
            <a:spAutoFit/>
          </a:bodyPr>
          <a:lstStyle/>
          <a:p>
            <a:r>
              <a:rPr lang="en-IN" sz="2000" dirty="0">
                <a:latin typeface="Times New Roman" panose="02020603050405020304" pitchFamily="18" charset="0"/>
                <a:cs typeface="Times New Roman" panose="02020603050405020304" pitchFamily="18" charset="0"/>
              </a:rPr>
              <a:t>Literature Review</a:t>
            </a:r>
          </a:p>
        </p:txBody>
      </p:sp>
      <p:sp>
        <p:nvSpPr>
          <p:cNvPr id="2" name="TextBox 1"/>
          <p:cNvSpPr txBox="1"/>
          <p:nvPr/>
        </p:nvSpPr>
        <p:spPr>
          <a:xfrm>
            <a:off x="8955476" y="31393"/>
            <a:ext cx="3148033" cy="830997"/>
          </a:xfrm>
          <a:prstGeom prst="rect">
            <a:avLst/>
          </a:prstGeom>
          <a:noFill/>
        </p:spPr>
        <p:txBody>
          <a:bodyPr wrap="square" rtlCol="0">
            <a:spAutoFit/>
          </a:bodyPr>
          <a:lstStyle/>
          <a:p>
            <a:r>
              <a:rPr lang="en-IN" sz="1200" dirty="0">
                <a:latin typeface="Times New Roman" panose="02020603050405020304" pitchFamily="18" charset="0"/>
                <a:cs typeface="Times New Roman" panose="02020603050405020304" pitchFamily="18" charset="0"/>
              </a:rPr>
              <a:t>Guide: Mrs. B. Lalitha Rajeswari</a:t>
            </a:r>
          </a:p>
          <a:p>
            <a:r>
              <a:rPr lang="en-IN" sz="1200" dirty="0">
                <a:latin typeface="Times New Roman" panose="02020603050405020304" pitchFamily="18" charset="0"/>
                <a:cs typeface="Times New Roman" panose="02020603050405020304" pitchFamily="18" charset="0"/>
              </a:rPr>
              <a:t>Batch ID: A14</a:t>
            </a:r>
          </a:p>
          <a:p>
            <a:r>
              <a:rPr lang="en-IN" sz="1200" dirty="0">
                <a:latin typeface="Times New Roman" panose="02020603050405020304" pitchFamily="18" charset="0"/>
                <a:cs typeface="Times New Roman" panose="02020603050405020304" pitchFamily="18" charset="0"/>
              </a:rPr>
              <a:t>23BQ1A6129(TL),	23BQ1A6136,</a:t>
            </a:r>
          </a:p>
          <a:p>
            <a:r>
              <a:rPr lang="en-IN" sz="1200" dirty="0">
                <a:latin typeface="Times New Roman" panose="02020603050405020304" pitchFamily="18" charset="0"/>
                <a:cs typeface="Times New Roman" panose="02020603050405020304" pitchFamily="18" charset="0"/>
              </a:rPr>
              <a:t>23BQ1A6123,                         24BQ5A6125</a:t>
            </a:r>
            <a:endParaRPr lang="en-IN" sz="1200" dirty="0"/>
          </a:p>
        </p:txBody>
      </p:sp>
      <p:pic>
        <p:nvPicPr>
          <p:cNvPr id="3" name="Picture 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4186" y="92353"/>
            <a:ext cx="993618" cy="693462"/>
          </a:xfrm>
          <a:prstGeom prst="rect">
            <a:avLst/>
          </a:prstGeom>
        </p:spPr>
      </p:pic>
      <p:sp>
        <p:nvSpPr>
          <p:cNvPr id="14" name="TextBox 13"/>
          <p:cNvSpPr txBox="1"/>
          <p:nvPr/>
        </p:nvSpPr>
        <p:spPr>
          <a:xfrm>
            <a:off x="1531467" y="82617"/>
            <a:ext cx="7424010" cy="923330"/>
          </a:xfrm>
          <a:prstGeom prst="rect">
            <a:avLst/>
          </a:prstGeom>
          <a:noFill/>
        </p:spPr>
        <p:txBody>
          <a:bodyPr wrap="square" rtlCol="0">
            <a:spAutoFit/>
          </a:bodyPr>
          <a:lstStyle/>
          <a:p>
            <a:r>
              <a:rPr lang="en-IN" dirty="0">
                <a:latin typeface="Times New Roman" panose="02020603050405020304" pitchFamily="18" charset="0"/>
                <a:cs typeface="Times New Roman" panose="02020603050405020304" pitchFamily="18" charset="0"/>
              </a:rPr>
              <a:t>Contribution-Aware Trust Mechanism for Poisoning Attack Detection in Swarm Learning</a:t>
            </a:r>
          </a:p>
          <a:p>
            <a:endParaRPr lang="en-IN" dirty="0">
              <a:latin typeface="Times New Roman" panose="02020603050405020304" pitchFamily="18" charset="0"/>
              <a:cs typeface="Times New Roman" panose="02020603050405020304" pitchFamily="18" charset="0"/>
            </a:endParaRPr>
          </a:p>
        </p:txBody>
      </p:sp>
      <p:sp>
        <p:nvSpPr>
          <p:cNvPr id="16" name="Footer Placeholder 11"/>
          <p:cNvSpPr>
            <a:spLocks noGrp="1"/>
          </p:cNvSpPr>
          <p:nvPr>
            <p:ph type="ftr" sz="quarter" idx="11"/>
          </p:nvPr>
        </p:nvSpPr>
        <p:spPr>
          <a:xfrm>
            <a:off x="3999271" y="6460922"/>
            <a:ext cx="4114800" cy="365125"/>
          </a:xfrm>
        </p:spPr>
        <p:txBody>
          <a:bodyPr/>
          <a:lstStyle/>
          <a:p>
            <a:r>
              <a:rPr lang="en-IN" dirty="0">
                <a:solidFill>
                  <a:schemeClr val="tx1"/>
                </a:solidFill>
              </a:rPr>
              <a:t>Dept. CSM @ VVIT</a:t>
            </a:r>
          </a:p>
        </p:txBody>
      </p:sp>
      <p:sp>
        <p:nvSpPr>
          <p:cNvPr id="17" name="TextBox 16"/>
          <p:cNvSpPr txBox="1"/>
          <p:nvPr/>
        </p:nvSpPr>
        <p:spPr>
          <a:xfrm flipH="1">
            <a:off x="135928" y="1326501"/>
            <a:ext cx="11920141" cy="307777"/>
          </a:xfrm>
          <a:prstGeom prst="rect">
            <a:avLst/>
          </a:prstGeom>
          <a:noFill/>
        </p:spPr>
        <p:txBody>
          <a:bodyPr wrap="square" rtlCol="0">
            <a:spAutoFit/>
          </a:bodyPr>
          <a:lstStyle/>
          <a:p>
            <a:r>
              <a:rPr lang="en-IN" sz="1400" dirty="0">
                <a:solidFill>
                  <a:schemeClr val="bg1">
                    <a:lumMod val="75000"/>
                  </a:schemeClr>
                </a:solidFill>
                <a:latin typeface="Times New Roman" panose="02020603050405020304" pitchFamily="18" charset="0"/>
                <a:cs typeface="Times New Roman" panose="02020603050405020304" pitchFamily="18" charset="0"/>
              </a:rPr>
              <a:t>| Proposed Method </a:t>
            </a:r>
            <a:r>
              <a:rPr lang="en-IN" sz="1400" dirty="0">
                <a:latin typeface="Times New Roman" panose="02020603050405020304" pitchFamily="18" charset="0"/>
                <a:cs typeface="Times New Roman" panose="02020603050405020304" pitchFamily="18" charset="0"/>
              </a:rPr>
              <a:t>| Data &amp; Setup | </a:t>
            </a:r>
            <a:r>
              <a:rPr lang="en-IN" sz="1400" dirty="0">
                <a:solidFill>
                  <a:schemeClr val="bg1">
                    <a:lumMod val="75000"/>
                  </a:schemeClr>
                </a:solidFill>
                <a:latin typeface="Times New Roman" panose="02020603050405020304" pitchFamily="18" charset="0"/>
                <a:cs typeface="Times New Roman" panose="02020603050405020304" pitchFamily="18" charset="0"/>
              </a:rPr>
              <a:t>key Results | Strengths &amp; Limitations | Relevance to my research |</a:t>
            </a:r>
          </a:p>
        </p:txBody>
      </p:sp>
      <p:sp>
        <p:nvSpPr>
          <p:cNvPr id="6" name="Rectangle 5"/>
          <p:cNvSpPr/>
          <p:nvPr/>
        </p:nvSpPr>
        <p:spPr>
          <a:xfrm>
            <a:off x="2082799" y="862390"/>
            <a:ext cx="10020709" cy="737235"/>
          </a:xfrm>
          <a:prstGeom prst="rect">
            <a:avLst/>
          </a:prstGeom>
        </p:spPr>
        <p:txBody>
          <a:bodyPr wrap="square">
            <a:spAutoFit/>
          </a:bodyPr>
          <a:lstStyle/>
          <a:p>
            <a:r>
              <a:rPr lang="en-US" altLang="en-US" sz="1400" b="1" dirty="0">
                <a:sym typeface="+mn-ea"/>
              </a:rPr>
              <a:t> Beyond Leave-One-Out: Private and Robust Contribution Evaluation in Federated Learning | Jaramillo Velez et al., 2026 | arXiv Preprint</a:t>
            </a:r>
            <a:endParaRPr lang="en-US" altLang="en-US" sz="1400" b="1" dirty="0"/>
          </a:p>
          <a:p>
            <a:endParaRPr lang="en-IN" sz="1400" b="1" dirty="0"/>
          </a:p>
        </p:txBody>
      </p:sp>
      <p:sp>
        <p:nvSpPr>
          <p:cNvPr id="7" name="Text Box 6"/>
          <p:cNvSpPr txBox="1"/>
          <p:nvPr/>
        </p:nvSpPr>
        <p:spPr>
          <a:xfrm>
            <a:off x="624205" y="1683385"/>
            <a:ext cx="11016615" cy="4227830"/>
          </a:xfrm>
          <a:prstGeom prst="rect">
            <a:avLst/>
          </a:prstGeom>
          <a:noFill/>
        </p:spPr>
        <p:txBody>
          <a:bodyPr wrap="square" rtlCol="0" anchor="t">
            <a:noAutofit/>
          </a:bodyPr>
          <a:lstStyle/>
          <a:p>
            <a:pPr marL="285750" indent="-285750">
              <a:buFont typeface="Arial" panose="020B0604020202020204" pitchFamily="34" charset="0"/>
              <a:buChar char="•"/>
            </a:pPr>
            <a:endParaRPr lang="en-US" altLang="en-US"/>
          </a:p>
          <a:p>
            <a:pPr marL="285750" indent="-285750">
              <a:lnSpc>
                <a:spcPct val="130000"/>
              </a:lnSpc>
              <a:buFont typeface="Arial" panose="020B0604020202020204" pitchFamily="34" charset="0"/>
              <a:buChar char="•"/>
            </a:pPr>
            <a:r>
              <a:rPr lang="en-US" altLang="en-US">
                <a:latin typeface="Times New Roman" panose="02020603050405020304" pitchFamily="18" charset="0"/>
                <a:cs typeface="Times New Roman" panose="02020603050405020304" pitchFamily="18" charset="0"/>
              </a:rPr>
              <a:t>Datasets: ISIC2019, Brain MRI, PCam, and CIFAR-10.</a:t>
            </a:r>
          </a:p>
          <a:p>
            <a:pPr marL="285750" indent="-285750">
              <a:lnSpc>
                <a:spcPct val="130000"/>
              </a:lnSpc>
              <a:buFont typeface="Arial" panose="020B0604020202020204" pitchFamily="34" charset="0"/>
              <a:buChar char="•"/>
            </a:pPr>
            <a:r>
              <a:rPr lang="en-US" altLang="en-US">
                <a:latin typeface="Times New Roman" panose="02020603050405020304" pitchFamily="18" charset="0"/>
                <a:cs typeface="Times New Roman" panose="02020603050405020304" pitchFamily="18" charset="0"/>
              </a:rPr>
              <a:t>Cross-silo Federated Learning environment with multiple clients.</a:t>
            </a:r>
          </a:p>
          <a:p>
            <a:pPr marL="285750" indent="-285750">
              <a:lnSpc>
                <a:spcPct val="130000"/>
              </a:lnSpc>
              <a:buFont typeface="Arial" panose="020B0604020202020204" pitchFamily="34" charset="0"/>
              <a:buChar char="•"/>
            </a:pPr>
            <a:r>
              <a:rPr lang="en-US" altLang="en-US">
                <a:latin typeface="Times New Roman" panose="02020603050405020304" pitchFamily="18" charset="0"/>
                <a:cs typeface="Times New Roman" panose="02020603050405020304" pitchFamily="18" charset="0"/>
              </a:rPr>
              <a:t>Secure Aggregation is used to protect private client updates.</a:t>
            </a:r>
          </a:p>
          <a:p>
            <a:pPr marL="285750" indent="-285750">
              <a:lnSpc>
                <a:spcPct val="130000"/>
              </a:lnSpc>
              <a:buFont typeface="Arial" panose="020B0604020202020204" pitchFamily="34" charset="0"/>
              <a:buChar char="•"/>
            </a:pPr>
            <a:r>
              <a:rPr lang="en-US" altLang="en-US">
                <a:latin typeface="Times New Roman" panose="02020603050405020304" pitchFamily="18" charset="0"/>
                <a:cs typeface="Times New Roman" panose="02020603050405020304" pitchFamily="18" charset="0"/>
              </a:rPr>
              <a:t>Non-IID data is used to represent different data distributions among clients.</a:t>
            </a:r>
          </a:p>
          <a:p>
            <a:pPr marL="285750" indent="-285750">
              <a:lnSpc>
                <a:spcPct val="130000"/>
              </a:lnSpc>
              <a:buFont typeface="Arial" panose="020B0604020202020204" pitchFamily="34" charset="0"/>
              <a:buChar char="•"/>
            </a:pPr>
            <a:r>
              <a:rPr lang="en-US" altLang="en-US">
                <a:latin typeface="Times New Roman" panose="02020603050405020304" pitchFamily="18" charset="0"/>
                <a:cs typeface="Times New Roman" panose="02020603050405020304" pitchFamily="18" charset="0"/>
              </a:rPr>
              <a:t>Different numbers of clients and communication rounds are tested.</a:t>
            </a:r>
          </a:p>
          <a:p>
            <a:pPr marL="285750" indent="-285750">
              <a:lnSpc>
                <a:spcPct val="130000"/>
              </a:lnSpc>
              <a:buFont typeface="Arial" panose="020B0604020202020204" pitchFamily="34" charset="0"/>
              <a:buChar char="•"/>
            </a:pPr>
            <a:r>
              <a:rPr lang="en-US" altLang="en-US">
                <a:latin typeface="Times New Roman" panose="02020603050405020304" pitchFamily="18" charset="0"/>
                <a:cs typeface="Times New Roman" panose="02020603050405020304" pitchFamily="18" charset="0"/>
              </a:rPr>
              <a:t>FP and EE are compared with LOO, COS, and Multi-Round Shapley Value.</a:t>
            </a:r>
          </a:p>
          <a:p>
            <a:pPr marL="285750" indent="-285750">
              <a:lnSpc>
                <a:spcPct val="130000"/>
              </a:lnSpc>
              <a:buFont typeface="Arial" panose="020B0604020202020204" pitchFamily="34" charset="0"/>
              <a:buChar char="•"/>
            </a:pPr>
            <a:r>
              <a:rPr lang="en-US" altLang="en-US">
                <a:latin typeface="Times New Roman" panose="02020603050405020304" pitchFamily="18" charset="0"/>
                <a:cs typeface="Times New Roman" panose="02020603050405020304" pitchFamily="18" charset="0"/>
              </a:rPr>
              <a:t>Contribution ranking is evaluated using Spearman, Kendall, Pearson correlation, and L2 distance</a:t>
            </a:r>
            <a:r>
              <a:rPr lang="en-US" altLang="en-US"/>
              <a:t>.</a:t>
            </a:r>
          </a:p>
          <a:p>
            <a:endParaRPr lang="en-US" alt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 y="6980"/>
            <a:ext cx="12192000" cy="837398"/>
          </a:xfrm>
          <a:prstGeom prst="rect">
            <a:avLst/>
          </a:prstGeom>
          <a:solidFill>
            <a:srgbClr val="E77E69"/>
          </a:soli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IN" dirty="0">
              <a:solidFill>
                <a:srgbClr val="FFFF00"/>
              </a:solidFill>
              <a:latin typeface="Times New Roman" panose="02020603050405020304" pitchFamily="18" charset="0"/>
              <a:cs typeface="Times New Roman" panose="02020603050405020304" pitchFamily="18" charset="0"/>
            </a:endParaRPr>
          </a:p>
        </p:txBody>
      </p:sp>
      <p:sp>
        <p:nvSpPr>
          <p:cNvPr id="5" name="Rectangle 4"/>
          <p:cNvSpPr/>
          <p:nvPr/>
        </p:nvSpPr>
        <p:spPr>
          <a:xfrm>
            <a:off x="0" y="6451517"/>
            <a:ext cx="12192000" cy="393289"/>
          </a:xfrm>
          <a:prstGeom prst="rect">
            <a:avLst/>
          </a:prstGeom>
          <a:solidFill>
            <a:srgbClr val="E77E69"/>
          </a:soli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IN"/>
          </a:p>
        </p:txBody>
      </p:sp>
      <p:sp>
        <p:nvSpPr>
          <p:cNvPr id="11" name="Date Placeholder 10"/>
          <p:cNvSpPr>
            <a:spLocks noGrp="1"/>
          </p:cNvSpPr>
          <p:nvPr>
            <p:ph type="dt" sz="half" idx="10"/>
          </p:nvPr>
        </p:nvSpPr>
        <p:spPr>
          <a:xfrm>
            <a:off x="0" y="6460922"/>
            <a:ext cx="997974" cy="365125"/>
          </a:xfrm>
        </p:spPr>
        <p:txBody>
          <a:bodyPr/>
          <a:lstStyle/>
          <a:p>
            <a:fld id="{C72AAC90-D07C-417D-96C6-81B39DB87062}" type="datetime1">
              <a:rPr lang="en-IN" smtClean="0">
                <a:solidFill>
                  <a:schemeClr val="tx1"/>
                </a:solidFill>
              </a:rPr>
              <a:t>16-09-2026</a:t>
            </a:fld>
            <a:endParaRPr lang="en-IN" dirty="0">
              <a:solidFill>
                <a:schemeClr val="tx1"/>
              </a:solidFill>
            </a:endParaRPr>
          </a:p>
        </p:txBody>
      </p:sp>
      <p:sp>
        <p:nvSpPr>
          <p:cNvPr id="13" name="Slide Number Placeholder 12"/>
          <p:cNvSpPr>
            <a:spLocks noGrp="1"/>
          </p:cNvSpPr>
          <p:nvPr>
            <p:ph type="sldNum" sz="quarter" idx="12"/>
          </p:nvPr>
        </p:nvSpPr>
        <p:spPr>
          <a:xfrm>
            <a:off x="11227443" y="6478792"/>
            <a:ext cx="876067" cy="379208"/>
          </a:xfrm>
        </p:spPr>
        <p:txBody>
          <a:bodyPr/>
          <a:lstStyle/>
          <a:p>
            <a:fld id="{0F06A4E2-163B-4ABA-8562-AD05AC3F17C5}" type="slidenum">
              <a:rPr lang="en-IN" sz="1800" smtClean="0">
                <a:solidFill>
                  <a:schemeClr val="tx1"/>
                </a:solidFill>
              </a:rPr>
              <a:t>12</a:t>
            </a:fld>
            <a:endParaRPr lang="en-IN" sz="1800" dirty="0">
              <a:solidFill>
                <a:schemeClr val="tx1"/>
              </a:solidFill>
            </a:endParaRPr>
          </a:p>
        </p:txBody>
      </p:sp>
      <p:sp>
        <p:nvSpPr>
          <p:cNvPr id="15" name="TextBox 14"/>
          <p:cNvSpPr txBox="1"/>
          <p:nvPr/>
        </p:nvSpPr>
        <p:spPr>
          <a:xfrm flipH="1">
            <a:off x="135928" y="877163"/>
            <a:ext cx="2063808" cy="400110"/>
          </a:xfrm>
          <a:prstGeom prst="rect">
            <a:avLst/>
          </a:prstGeom>
          <a:noFill/>
        </p:spPr>
        <p:txBody>
          <a:bodyPr wrap="square" rtlCol="0">
            <a:spAutoFit/>
          </a:bodyPr>
          <a:lstStyle/>
          <a:p>
            <a:r>
              <a:rPr lang="en-IN" sz="2000" dirty="0">
                <a:latin typeface="Times New Roman" panose="02020603050405020304" pitchFamily="18" charset="0"/>
                <a:cs typeface="Times New Roman" panose="02020603050405020304" pitchFamily="18" charset="0"/>
              </a:rPr>
              <a:t>Literature Review</a:t>
            </a:r>
          </a:p>
        </p:txBody>
      </p:sp>
      <p:sp>
        <p:nvSpPr>
          <p:cNvPr id="2" name="TextBox 1"/>
          <p:cNvSpPr txBox="1"/>
          <p:nvPr/>
        </p:nvSpPr>
        <p:spPr>
          <a:xfrm>
            <a:off x="8955476" y="31393"/>
            <a:ext cx="3148033" cy="830997"/>
          </a:xfrm>
          <a:prstGeom prst="rect">
            <a:avLst/>
          </a:prstGeom>
          <a:noFill/>
        </p:spPr>
        <p:txBody>
          <a:bodyPr wrap="square" rtlCol="0">
            <a:spAutoFit/>
          </a:bodyPr>
          <a:lstStyle/>
          <a:p>
            <a:r>
              <a:rPr lang="en-IN" sz="1200" dirty="0">
                <a:latin typeface="Times New Roman" panose="02020603050405020304" pitchFamily="18" charset="0"/>
                <a:cs typeface="Times New Roman" panose="02020603050405020304" pitchFamily="18" charset="0"/>
              </a:rPr>
              <a:t>Guide: Mrs. B. Lalitha Rajeswari</a:t>
            </a:r>
          </a:p>
          <a:p>
            <a:r>
              <a:rPr lang="en-IN" sz="1200" dirty="0">
                <a:latin typeface="Times New Roman" panose="02020603050405020304" pitchFamily="18" charset="0"/>
                <a:cs typeface="Times New Roman" panose="02020603050405020304" pitchFamily="18" charset="0"/>
              </a:rPr>
              <a:t>Batch ID: A14</a:t>
            </a:r>
          </a:p>
          <a:p>
            <a:r>
              <a:rPr lang="en-IN" sz="1200" dirty="0">
                <a:latin typeface="Times New Roman" panose="02020603050405020304" pitchFamily="18" charset="0"/>
                <a:cs typeface="Times New Roman" panose="02020603050405020304" pitchFamily="18" charset="0"/>
              </a:rPr>
              <a:t>23BQ1A6129(TL),	23BQ1A6136,</a:t>
            </a:r>
          </a:p>
          <a:p>
            <a:r>
              <a:rPr lang="en-IN" sz="1200" dirty="0">
                <a:latin typeface="Times New Roman" panose="02020603050405020304" pitchFamily="18" charset="0"/>
                <a:cs typeface="Times New Roman" panose="02020603050405020304" pitchFamily="18" charset="0"/>
              </a:rPr>
              <a:t>23BQ1A6123,                         24BQ5A6125</a:t>
            </a:r>
            <a:endParaRPr lang="en-IN" sz="1200" dirty="0"/>
          </a:p>
        </p:txBody>
      </p:sp>
      <p:pic>
        <p:nvPicPr>
          <p:cNvPr id="3" name="Picture 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4186" y="92353"/>
            <a:ext cx="993618" cy="693462"/>
          </a:xfrm>
          <a:prstGeom prst="rect">
            <a:avLst/>
          </a:prstGeom>
        </p:spPr>
      </p:pic>
      <p:sp>
        <p:nvSpPr>
          <p:cNvPr id="14" name="TextBox 13"/>
          <p:cNvSpPr txBox="1"/>
          <p:nvPr/>
        </p:nvSpPr>
        <p:spPr>
          <a:xfrm>
            <a:off x="1531467" y="82617"/>
            <a:ext cx="7424010" cy="923330"/>
          </a:xfrm>
          <a:prstGeom prst="rect">
            <a:avLst/>
          </a:prstGeom>
          <a:noFill/>
        </p:spPr>
        <p:txBody>
          <a:bodyPr wrap="square" rtlCol="0">
            <a:spAutoFit/>
          </a:bodyPr>
          <a:lstStyle/>
          <a:p>
            <a:r>
              <a:rPr lang="en-IN" dirty="0">
                <a:latin typeface="Times New Roman" panose="02020603050405020304" pitchFamily="18" charset="0"/>
                <a:cs typeface="Times New Roman" panose="02020603050405020304" pitchFamily="18" charset="0"/>
              </a:rPr>
              <a:t>Contribution-Aware Trust Mechanism for Poisoning Attack Detection in Swarm Learning</a:t>
            </a:r>
          </a:p>
          <a:p>
            <a:endParaRPr lang="en-IN" dirty="0">
              <a:latin typeface="Times New Roman" panose="02020603050405020304" pitchFamily="18" charset="0"/>
              <a:cs typeface="Times New Roman" panose="02020603050405020304" pitchFamily="18" charset="0"/>
            </a:endParaRPr>
          </a:p>
        </p:txBody>
      </p:sp>
      <p:sp>
        <p:nvSpPr>
          <p:cNvPr id="16" name="Footer Placeholder 11"/>
          <p:cNvSpPr>
            <a:spLocks noGrp="1"/>
          </p:cNvSpPr>
          <p:nvPr>
            <p:ph type="ftr" sz="quarter" idx="11"/>
          </p:nvPr>
        </p:nvSpPr>
        <p:spPr>
          <a:xfrm>
            <a:off x="3999271" y="6460922"/>
            <a:ext cx="4114800" cy="365125"/>
          </a:xfrm>
        </p:spPr>
        <p:txBody>
          <a:bodyPr/>
          <a:lstStyle/>
          <a:p>
            <a:r>
              <a:rPr lang="en-IN" dirty="0">
                <a:solidFill>
                  <a:schemeClr val="tx1"/>
                </a:solidFill>
              </a:rPr>
              <a:t>Dept. CSM @ VVIT</a:t>
            </a:r>
          </a:p>
        </p:txBody>
      </p:sp>
      <p:sp>
        <p:nvSpPr>
          <p:cNvPr id="17" name="TextBox 16"/>
          <p:cNvSpPr txBox="1"/>
          <p:nvPr/>
        </p:nvSpPr>
        <p:spPr>
          <a:xfrm flipH="1">
            <a:off x="135928" y="1326501"/>
            <a:ext cx="11920141" cy="307777"/>
          </a:xfrm>
          <a:prstGeom prst="rect">
            <a:avLst/>
          </a:prstGeom>
          <a:noFill/>
        </p:spPr>
        <p:txBody>
          <a:bodyPr wrap="square" rtlCol="0">
            <a:spAutoFit/>
          </a:bodyPr>
          <a:lstStyle/>
          <a:p>
            <a:r>
              <a:rPr lang="en-IN" sz="1400" dirty="0">
                <a:solidFill>
                  <a:schemeClr val="bg1">
                    <a:lumMod val="75000"/>
                  </a:schemeClr>
                </a:solidFill>
                <a:latin typeface="Times New Roman" panose="02020603050405020304" pitchFamily="18" charset="0"/>
                <a:cs typeface="Times New Roman" panose="02020603050405020304" pitchFamily="18" charset="0"/>
              </a:rPr>
              <a:t>| Proposed Method | Data &amp; Setup </a:t>
            </a:r>
            <a:r>
              <a:rPr lang="en-IN" sz="1400" dirty="0">
                <a:latin typeface="Times New Roman" panose="02020603050405020304" pitchFamily="18" charset="0"/>
                <a:cs typeface="Times New Roman" panose="02020603050405020304" pitchFamily="18" charset="0"/>
              </a:rPr>
              <a:t>| key Results | </a:t>
            </a:r>
            <a:r>
              <a:rPr lang="en-IN" sz="1400" dirty="0">
                <a:solidFill>
                  <a:schemeClr val="bg1">
                    <a:lumMod val="75000"/>
                  </a:schemeClr>
                </a:solidFill>
                <a:latin typeface="Times New Roman" panose="02020603050405020304" pitchFamily="18" charset="0"/>
                <a:cs typeface="Times New Roman" panose="02020603050405020304" pitchFamily="18" charset="0"/>
              </a:rPr>
              <a:t>Strengths &amp; Limitations | Relevance to my research |</a:t>
            </a:r>
          </a:p>
        </p:txBody>
      </p:sp>
      <p:sp>
        <p:nvSpPr>
          <p:cNvPr id="6" name="Rectangle 5"/>
          <p:cNvSpPr/>
          <p:nvPr/>
        </p:nvSpPr>
        <p:spPr>
          <a:xfrm>
            <a:off x="2082799" y="862390"/>
            <a:ext cx="10020709" cy="737235"/>
          </a:xfrm>
          <a:prstGeom prst="rect">
            <a:avLst/>
          </a:prstGeom>
        </p:spPr>
        <p:txBody>
          <a:bodyPr wrap="square">
            <a:spAutoFit/>
          </a:bodyPr>
          <a:lstStyle/>
          <a:p>
            <a:r>
              <a:rPr lang="en-US" altLang="en-US" sz="1400" b="1" dirty="0">
                <a:sym typeface="+mn-ea"/>
              </a:rPr>
              <a:t> Beyond Leave-One-Out: Private and Robust Contribution Evaluation in Federated Learning | Jaramillo Velez et al., 2026 | arXiv Preprint</a:t>
            </a:r>
            <a:endParaRPr lang="en-US" altLang="en-US" sz="1400" b="1" dirty="0"/>
          </a:p>
          <a:p>
            <a:endParaRPr lang="en-IN" sz="1400" b="1" dirty="0"/>
          </a:p>
        </p:txBody>
      </p:sp>
      <p:sp>
        <p:nvSpPr>
          <p:cNvPr id="7" name="Text Box 6"/>
          <p:cNvSpPr txBox="1"/>
          <p:nvPr/>
        </p:nvSpPr>
        <p:spPr>
          <a:xfrm>
            <a:off x="637540" y="1776095"/>
            <a:ext cx="8506460" cy="5568950"/>
          </a:xfrm>
          <a:prstGeom prst="rect">
            <a:avLst/>
          </a:prstGeom>
          <a:noFill/>
        </p:spPr>
        <p:txBody>
          <a:bodyPr wrap="square" rtlCol="0" anchor="t">
            <a:noAutofit/>
          </a:bodyPr>
          <a:lstStyle/>
          <a:p>
            <a:endParaRPr lang="en-US" altLang="en-US"/>
          </a:p>
          <a:p>
            <a:pPr marL="285750" indent="-285750">
              <a:lnSpc>
                <a:spcPct val="130000"/>
              </a:lnSpc>
              <a:buFont typeface="Arial" panose="020B0604020202020204" pitchFamily="34" charset="0"/>
              <a:buChar char="•"/>
            </a:pPr>
            <a:r>
              <a:rPr lang="en-US" altLang="en-US">
                <a:latin typeface="Times New Roman" panose="02020603050405020304" pitchFamily="18" charset="0"/>
                <a:cs typeface="Times New Roman" panose="02020603050405020304" pitchFamily="18" charset="0"/>
              </a:rPr>
              <a:t>FP and EE achieved more accurate contribution rankings than LOO and COS.</a:t>
            </a:r>
          </a:p>
          <a:p>
            <a:pPr marL="285750" indent="-285750">
              <a:lnSpc>
                <a:spcPct val="130000"/>
              </a:lnSpc>
              <a:buFont typeface="Arial" panose="020B0604020202020204" pitchFamily="34" charset="0"/>
              <a:buChar char="•"/>
            </a:pPr>
            <a:r>
              <a:rPr lang="en-US" altLang="en-US">
                <a:latin typeface="Times New Roman" panose="02020603050405020304" pitchFamily="18" charset="0"/>
                <a:cs typeface="Times New Roman" panose="02020603050405020304" pitchFamily="18" charset="0"/>
              </a:rPr>
              <a:t>Contribution rankings showed strong agreement with the Multi-Round Shapley Value.</a:t>
            </a:r>
          </a:p>
          <a:p>
            <a:pPr marL="285750" indent="-285750">
              <a:lnSpc>
                <a:spcPct val="130000"/>
              </a:lnSpc>
              <a:buFont typeface="Arial" panose="020B0604020202020204" pitchFamily="34" charset="0"/>
              <a:buChar char="•"/>
            </a:pPr>
            <a:r>
              <a:rPr lang="en-US" altLang="en-US">
                <a:latin typeface="Times New Roman" panose="02020603050405020304" pitchFamily="18" charset="0"/>
                <a:cs typeface="Times New Roman" panose="02020603050405020304" pitchFamily="18" charset="0"/>
              </a:rPr>
              <a:t>Effective performance under Non-IID data with different client distributions.</a:t>
            </a:r>
          </a:p>
          <a:p>
            <a:pPr marL="285750" indent="-285750">
              <a:lnSpc>
                <a:spcPct val="130000"/>
              </a:lnSpc>
              <a:buFont typeface="Arial" panose="020B0604020202020204" pitchFamily="34" charset="0"/>
              <a:buChar char="•"/>
            </a:pPr>
            <a:r>
              <a:rPr lang="en-US" altLang="en-US">
                <a:latin typeface="Times New Roman" panose="02020603050405020304" pitchFamily="18" charset="0"/>
                <a:cs typeface="Times New Roman" panose="02020603050405020304" pitchFamily="18" charset="0"/>
              </a:rPr>
              <a:t>EE improved robustness against contribution-score manipulation.</a:t>
            </a:r>
          </a:p>
          <a:p>
            <a:pPr marL="285750" indent="-285750">
              <a:lnSpc>
                <a:spcPct val="130000"/>
              </a:lnSpc>
              <a:buFont typeface="Arial" panose="020B0604020202020204" pitchFamily="34" charset="0"/>
              <a:buChar char="•"/>
            </a:pPr>
            <a:r>
              <a:rPr lang="en-US" altLang="en-US">
                <a:latin typeface="Times New Roman" panose="02020603050405020304" pitchFamily="18" charset="0"/>
                <a:cs typeface="Times New Roman" panose="02020603050405020304" pitchFamily="18" charset="0"/>
              </a:rPr>
              <a:t>Contribution-based aggregation improved global model performance.</a:t>
            </a:r>
          </a:p>
          <a:p>
            <a:pPr marL="285750" indent="-285750">
              <a:lnSpc>
                <a:spcPct val="130000"/>
              </a:lnSpc>
              <a:buFont typeface="Arial" panose="020B0604020202020204" pitchFamily="34" charset="0"/>
              <a:buChar char="•"/>
            </a:pPr>
            <a:r>
              <a:rPr lang="en-US" altLang="en-US">
                <a:latin typeface="Times New Roman" panose="02020603050405020304" pitchFamily="18" charset="0"/>
                <a:cs typeface="Times New Roman" panose="02020603050405020304" pitchFamily="18" charset="0"/>
              </a:rPr>
              <a:t>Effective in identifying misbehaving and low-quality clients.</a:t>
            </a:r>
          </a:p>
          <a:p>
            <a:pPr marL="285750" indent="-285750">
              <a:lnSpc>
                <a:spcPct val="130000"/>
              </a:lnSpc>
              <a:buFont typeface="Arial" panose="020B0604020202020204" pitchFamily="34" charset="0"/>
              <a:buChar char="•"/>
            </a:pPr>
            <a:r>
              <a:rPr lang="en-US" altLang="en-US">
                <a:latin typeface="Times New Roman" panose="02020603050405020304" pitchFamily="18" charset="0"/>
                <a:cs typeface="Times New Roman" panose="02020603050405020304" pitchFamily="18" charset="0"/>
              </a:rPr>
              <a:t>Achieved privacy-preserving contribution evaluation using Secure Aggregation</a:t>
            </a:r>
            <a:r>
              <a:rPr lang="en-US" altLang="en-US"/>
              <a:t>.</a:t>
            </a:r>
          </a:p>
          <a:p>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 y="6980"/>
            <a:ext cx="12192000" cy="837398"/>
          </a:xfrm>
          <a:prstGeom prst="rect">
            <a:avLst/>
          </a:prstGeom>
          <a:solidFill>
            <a:srgbClr val="E77E69"/>
          </a:soli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IN" dirty="0">
              <a:solidFill>
                <a:srgbClr val="FFFF00"/>
              </a:solidFill>
              <a:latin typeface="Times New Roman" panose="02020603050405020304" pitchFamily="18" charset="0"/>
              <a:cs typeface="Times New Roman" panose="02020603050405020304" pitchFamily="18" charset="0"/>
            </a:endParaRPr>
          </a:p>
        </p:txBody>
      </p:sp>
      <p:sp>
        <p:nvSpPr>
          <p:cNvPr id="5" name="Rectangle 4"/>
          <p:cNvSpPr/>
          <p:nvPr/>
        </p:nvSpPr>
        <p:spPr>
          <a:xfrm>
            <a:off x="0" y="6451517"/>
            <a:ext cx="12192000" cy="393289"/>
          </a:xfrm>
          <a:prstGeom prst="rect">
            <a:avLst/>
          </a:prstGeom>
          <a:solidFill>
            <a:srgbClr val="E77E69"/>
          </a:soli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IN"/>
          </a:p>
        </p:txBody>
      </p:sp>
      <p:sp>
        <p:nvSpPr>
          <p:cNvPr id="11" name="Date Placeholder 10"/>
          <p:cNvSpPr>
            <a:spLocks noGrp="1"/>
          </p:cNvSpPr>
          <p:nvPr>
            <p:ph type="dt" sz="half" idx="10"/>
          </p:nvPr>
        </p:nvSpPr>
        <p:spPr>
          <a:xfrm>
            <a:off x="0" y="6460922"/>
            <a:ext cx="997974" cy="365125"/>
          </a:xfrm>
        </p:spPr>
        <p:txBody>
          <a:bodyPr/>
          <a:lstStyle/>
          <a:p>
            <a:fld id="{C72AAC90-D07C-417D-96C6-81B39DB87062}" type="datetime1">
              <a:rPr lang="en-IN" smtClean="0">
                <a:solidFill>
                  <a:schemeClr val="tx1"/>
                </a:solidFill>
              </a:rPr>
              <a:t>16-09-2026</a:t>
            </a:fld>
            <a:endParaRPr lang="en-IN" dirty="0">
              <a:solidFill>
                <a:schemeClr val="tx1"/>
              </a:solidFill>
            </a:endParaRPr>
          </a:p>
        </p:txBody>
      </p:sp>
      <p:sp>
        <p:nvSpPr>
          <p:cNvPr id="13" name="Slide Number Placeholder 12"/>
          <p:cNvSpPr>
            <a:spLocks noGrp="1"/>
          </p:cNvSpPr>
          <p:nvPr>
            <p:ph type="sldNum" sz="quarter" idx="12"/>
          </p:nvPr>
        </p:nvSpPr>
        <p:spPr>
          <a:xfrm>
            <a:off x="11227443" y="6478792"/>
            <a:ext cx="876067" cy="379208"/>
          </a:xfrm>
        </p:spPr>
        <p:txBody>
          <a:bodyPr/>
          <a:lstStyle/>
          <a:p>
            <a:fld id="{0F06A4E2-163B-4ABA-8562-AD05AC3F17C5}" type="slidenum">
              <a:rPr lang="en-IN" sz="1800" smtClean="0">
                <a:solidFill>
                  <a:schemeClr val="tx1"/>
                </a:solidFill>
              </a:rPr>
              <a:t>13</a:t>
            </a:fld>
            <a:endParaRPr lang="en-IN" sz="1800" dirty="0">
              <a:solidFill>
                <a:schemeClr val="tx1"/>
              </a:solidFill>
            </a:endParaRPr>
          </a:p>
        </p:txBody>
      </p:sp>
      <p:sp>
        <p:nvSpPr>
          <p:cNvPr id="15" name="TextBox 14"/>
          <p:cNvSpPr txBox="1"/>
          <p:nvPr/>
        </p:nvSpPr>
        <p:spPr>
          <a:xfrm flipH="1">
            <a:off x="135928" y="877163"/>
            <a:ext cx="2063808" cy="400110"/>
          </a:xfrm>
          <a:prstGeom prst="rect">
            <a:avLst/>
          </a:prstGeom>
          <a:noFill/>
        </p:spPr>
        <p:txBody>
          <a:bodyPr wrap="square" rtlCol="0">
            <a:spAutoFit/>
          </a:bodyPr>
          <a:lstStyle/>
          <a:p>
            <a:r>
              <a:rPr lang="en-IN" sz="2000" dirty="0">
                <a:latin typeface="Times New Roman" panose="02020603050405020304" pitchFamily="18" charset="0"/>
                <a:cs typeface="Times New Roman" panose="02020603050405020304" pitchFamily="18" charset="0"/>
              </a:rPr>
              <a:t>Literature Review</a:t>
            </a:r>
          </a:p>
        </p:txBody>
      </p:sp>
      <p:sp>
        <p:nvSpPr>
          <p:cNvPr id="2" name="TextBox 1"/>
          <p:cNvSpPr txBox="1"/>
          <p:nvPr/>
        </p:nvSpPr>
        <p:spPr>
          <a:xfrm>
            <a:off x="8955476" y="31393"/>
            <a:ext cx="3148033" cy="830997"/>
          </a:xfrm>
          <a:prstGeom prst="rect">
            <a:avLst/>
          </a:prstGeom>
          <a:noFill/>
        </p:spPr>
        <p:txBody>
          <a:bodyPr wrap="square" rtlCol="0">
            <a:spAutoFit/>
          </a:bodyPr>
          <a:lstStyle/>
          <a:p>
            <a:r>
              <a:rPr lang="en-IN" sz="1200" dirty="0">
                <a:latin typeface="Times New Roman" panose="02020603050405020304" pitchFamily="18" charset="0"/>
                <a:cs typeface="Times New Roman" panose="02020603050405020304" pitchFamily="18" charset="0"/>
              </a:rPr>
              <a:t>Guide: Mrs. B. Lalitha Rajeswari</a:t>
            </a:r>
          </a:p>
          <a:p>
            <a:r>
              <a:rPr lang="en-IN" sz="1200" dirty="0">
                <a:latin typeface="Times New Roman" panose="02020603050405020304" pitchFamily="18" charset="0"/>
                <a:cs typeface="Times New Roman" panose="02020603050405020304" pitchFamily="18" charset="0"/>
              </a:rPr>
              <a:t>Batch ID: A14</a:t>
            </a:r>
          </a:p>
          <a:p>
            <a:r>
              <a:rPr lang="en-IN" sz="1200" dirty="0">
                <a:latin typeface="Times New Roman" panose="02020603050405020304" pitchFamily="18" charset="0"/>
                <a:cs typeface="Times New Roman" panose="02020603050405020304" pitchFamily="18" charset="0"/>
              </a:rPr>
              <a:t>23BQ1A6129(TL),	23BQ1A6136,</a:t>
            </a:r>
          </a:p>
          <a:p>
            <a:r>
              <a:rPr lang="en-IN" sz="1200" dirty="0">
                <a:latin typeface="Times New Roman" panose="02020603050405020304" pitchFamily="18" charset="0"/>
                <a:cs typeface="Times New Roman" panose="02020603050405020304" pitchFamily="18" charset="0"/>
              </a:rPr>
              <a:t>23BQ1A6123,                         24BQ5A6125</a:t>
            </a:r>
            <a:endParaRPr lang="en-IN" sz="1200" dirty="0"/>
          </a:p>
        </p:txBody>
      </p:sp>
      <p:pic>
        <p:nvPicPr>
          <p:cNvPr id="3" name="Picture 2"/>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4186" y="92353"/>
            <a:ext cx="993618" cy="693462"/>
          </a:xfrm>
          <a:prstGeom prst="rect">
            <a:avLst/>
          </a:prstGeom>
        </p:spPr>
      </p:pic>
      <p:sp>
        <p:nvSpPr>
          <p:cNvPr id="14" name="TextBox 13"/>
          <p:cNvSpPr txBox="1"/>
          <p:nvPr/>
        </p:nvSpPr>
        <p:spPr>
          <a:xfrm>
            <a:off x="1531467" y="82617"/>
            <a:ext cx="7424010" cy="923330"/>
          </a:xfrm>
          <a:prstGeom prst="rect">
            <a:avLst/>
          </a:prstGeom>
          <a:noFill/>
        </p:spPr>
        <p:txBody>
          <a:bodyPr wrap="square" rtlCol="0">
            <a:spAutoFit/>
          </a:bodyPr>
          <a:lstStyle/>
          <a:p>
            <a:r>
              <a:rPr lang="en-IN" dirty="0">
                <a:latin typeface="Times New Roman" panose="02020603050405020304" pitchFamily="18" charset="0"/>
                <a:cs typeface="Times New Roman" panose="02020603050405020304" pitchFamily="18" charset="0"/>
              </a:rPr>
              <a:t>Contribution-Aware Trust Mechanism for Poisoning Attack Detection in Swarm Learning</a:t>
            </a:r>
          </a:p>
          <a:p>
            <a:endParaRPr lang="en-IN" dirty="0">
              <a:latin typeface="Times New Roman" panose="02020603050405020304" pitchFamily="18" charset="0"/>
              <a:cs typeface="Times New Roman" panose="02020603050405020304" pitchFamily="18" charset="0"/>
            </a:endParaRPr>
          </a:p>
        </p:txBody>
      </p:sp>
      <p:sp>
        <p:nvSpPr>
          <p:cNvPr id="16" name="Footer Placeholder 11"/>
          <p:cNvSpPr>
            <a:spLocks noGrp="1"/>
          </p:cNvSpPr>
          <p:nvPr>
            <p:ph type="ftr" sz="quarter" idx="11"/>
          </p:nvPr>
        </p:nvSpPr>
        <p:spPr>
          <a:xfrm>
            <a:off x="3999271" y="6460922"/>
            <a:ext cx="4114800" cy="365125"/>
          </a:xfrm>
        </p:spPr>
        <p:txBody>
          <a:bodyPr/>
          <a:lstStyle/>
          <a:p>
            <a:r>
              <a:rPr lang="en-IN" dirty="0">
                <a:solidFill>
                  <a:schemeClr val="tx1"/>
                </a:solidFill>
              </a:rPr>
              <a:t>Dept. CSM @ VVIT</a:t>
            </a:r>
          </a:p>
        </p:txBody>
      </p:sp>
      <p:sp>
        <p:nvSpPr>
          <p:cNvPr id="17" name="TextBox 16"/>
          <p:cNvSpPr txBox="1"/>
          <p:nvPr/>
        </p:nvSpPr>
        <p:spPr>
          <a:xfrm flipH="1">
            <a:off x="135928" y="1326501"/>
            <a:ext cx="11920141" cy="307777"/>
          </a:xfrm>
          <a:prstGeom prst="rect">
            <a:avLst/>
          </a:prstGeom>
          <a:noFill/>
        </p:spPr>
        <p:txBody>
          <a:bodyPr wrap="square" rtlCol="0">
            <a:spAutoFit/>
          </a:bodyPr>
          <a:lstStyle/>
          <a:p>
            <a:r>
              <a:rPr lang="en-IN" sz="1400" dirty="0">
                <a:solidFill>
                  <a:schemeClr val="bg1">
                    <a:lumMod val="75000"/>
                  </a:schemeClr>
                </a:solidFill>
                <a:latin typeface="Times New Roman" panose="02020603050405020304" pitchFamily="18" charset="0"/>
                <a:cs typeface="Times New Roman" panose="02020603050405020304" pitchFamily="18" charset="0"/>
              </a:rPr>
              <a:t>| Proposed Method | Data &amp; Setup | key Results </a:t>
            </a:r>
            <a:r>
              <a:rPr lang="en-IN" sz="1400" dirty="0">
                <a:latin typeface="Times New Roman" panose="02020603050405020304" pitchFamily="18" charset="0"/>
                <a:cs typeface="Times New Roman" panose="02020603050405020304" pitchFamily="18" charset="0"/>
              </a:rPr>
              <a:t>| Strengths &amp; Limitations | </a:t>
            </a:r>
            <a:r>
              <a:rPr lang="en-IN" sz="1400" dirty="0">
                <a:solidFill>
                  <a:schemeClr val="bg1">
                    <a:lumMod val="75000"/>
                  </a:schemeClr>
                </a:solidFill>
                <a:latin typeface="Times New Roman" panose="02020603050405020304" pitchFamily="18" charset="0"/>
                <a:cs typeface="Times New Roman" panose="02020603050405020304" pitchFamily="18" charset="0"/>
              </a:rPr>
              <a:t>Relevance to my research |</a:t>
            </a:r>
          </a:p>
        </p:txBody>
      </p:sp>
      <p:sp>
        <p:nvSpPr>
          <p:cNvPr id="6" name="Rectangle 5"/>
          <p:cNvSpPr/>
          <p:nvPr/>
        </p:nvSpPr>
        <p:spPr>
          <a:xfrm>
            <a:off x="2082799" y="862390"/>
            <a:ext cx="10020709" cy="737235"/>
          </a:xfrm>
          <a:prstGeom prst="rect">
            <a:avLst/>
          </a:prstGeom>
        </p:spPr>
        <p:txBody>
          <a:bodyPr wrap="square">
            <a:spAutoFit/>
          </a:bodyPr>
          <a:lstStyle/>
          <a:p>
            <a:r>
              <a:rPr lang="en-US" altLang="en-US" sz="1400" b="1" dirty="0">
                <a:sym typeface="+mn-ea"/>
              </a:rPr>
              <a:t> Beyond Leave-One-Out: Private and Robust Contribution Evaluation in Federated Learning | Jaramillo Velez et al., 2026 | arXiv Preprint</a:t>
            </a:r>
            <a:endParaRPr lang="en-US" altLang="en-US" sz="1400" b="1" dirty="0"/>
          </a:p>
          <a:p>
            <a:endParaRPr lang="en-IN" sz="1400" b="1" dirty="0"/>
          </a:p>
        </p:txBody>
      </p:sp>
      <p:sp>
        <p:nvSpPr>
          <p:cNvPr id="7" name="Rounded Rectangle 6"/>
          <p:cNvSpPr/>
          <p:nvPr/>
        </p:nvSpPr>
        <p:spPr>
          <a:xfrm>
            <a:off x="264160" y="2194560"/>
            <a:ext cx="5699760" cy="3749040"/>
          </a:xfrm>
          <a:prstGeom prst="roundRect">
            <a:avLst>
              <a:gd name="adj" fmla="val 3659"/>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8" name="Rounded Rectangle 17"/>
          <p:cNvSpPr/>
          <p:nvPr/>
        </p:nvSpPr>
        <p:spPr>
          <a:xfrm>
            <a:off x="6146800" y="2194560"/>
            <a:ext cx="5699760" cy="3749040"/>
          </a:xfrm>
          <a:prstGeom prst="roundRect">
            <a:avLst>
              <a:gd name="adj" fmla="val 3659"/>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Rectangle 7"/>
          <p:cNvSpPr/>
          <p:nvPr/>
        </p:nvSpPr>
        <p:spPr>
          <a:xfrm>
            <a:off x="6259202" y="2148841"/>
            <a:ext cx="5441307" cy="45719"/>
          </a:xfrm>
          <a:prstGeom prst="rect">
            <a:avLst/>
          </a:prstGeom>
          <a:solidFill>
            <a:srgbClr val="EC7E6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 name="Rectangle 18"/>
          <p:cNvSpPr/>
          <p:nvPr/>
        </p:nvSpPr>
        <p:spPr>
          <a:xfrm>
            <a:off x="393386" y="2148841"/>
            <a:ext cx="5441307" cy="45719"/>
          </a:xfrm>
          <a:prstGeom prst="rect">
            <a:avLst/>
          </a:prstGeom>
          <a:solidFill>
            <a:srgbClr val="EC7E6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TextBox 8"/>
          <p:cNvSpPr txBox="1"/>
          <p:nvPr/>
        </p:nvSpPr>
        <p:spPr>
          <a:xfrm>
            <a:off x="393386" y="1799012"/>
            <a:ext cx="1075872" cy="369332"/>
          </a:xfrm>
          <a:prstGeom prst="rect">
            <a:avLst/>
          </a:prstGeom>
          <a:noFill/>
        </p:spPr>
        <p:txBody>
          <a:bodyPr wrap="none" rtlCol="0">
            <a:spAutoFit/>
          </a:bodyPr>
          <a:lstStyle/>
          <a:p>
            <a:r>
              <a:rPr lang="en-IN" dirty="0">
                <a:latin typeface="Times New Roman" panose="02020603050405020304" pitchFamily="18" charset="0"/>
                <a:cs typeface="Times New Roman" panose="02020603050405020304" pitchFamily="18" charset="0"/>
              </a:rPr>
              <a:t>Strengths</a:t>
            </a:r>
          </a:p>
        </p:txBody>
      </p:sp>
      <p:sp>
        <p:nvSpPr>
          <p:cNvPr id="20" name="TextBox 19"/>
          <p:cNvSpPr txBox="1"/>
          <p:nvPr/>
        </p:nvSpPr>
        <p:spPr>
          <a:xfrm>
            <a:off x="6259202" y="1779509"/>
            <a:ext cx="1249060" cy="369332"/>
          </a:xfrm>
          <a:prstGeom prst="rect">
            <a:avLst/>
          </a:prstGeom>
          <a:noFill/>
        </p:spPr>
        <p:txBody>
          <a:bodyPr wrap="none" rtlCol="0">
            <a:spAutoFit/>
          </a:bodyPr>
          <a:lstStyle/>
          <a:p>
            <a:r>
              <a:rPr lang="en-IN" dirty="0">
                <a:latin typeface="Times New Roman" panose="02020603050405020304" pitchFamily="18" charset="0"/>
                <a:cs typeface="Times New Roman" panose="02020603050405020304" pitchFamily="18" charset="0"/>
              </a:rPr>
              <a:t>Limitations</a:t>
            </a:r>
          </a:p>
        </p:txBody>
      </p:sp>
      <p:graphicFrame>
        <p:nvGraphicFramePr>
          <p:cNvPr id="10" name="Table 9"/>
          <p:cNvGraphicFramePr/>
          <p:nvPr>
            <p:custDataLst>
              <p:tags r:id="rId1"/>
            </p:custDataLst>
          </p:nvPr>
        </p:nvGraphicFramePr>
        <p:xfrm>
          <a:off x="360680" y="2332990"/>
          <a:ext cx="10944860" cy="4103370"/>
        </p:xfrm>
        <a:graphic>
          <a:graphicData uri="http://schemas.openxmlformats.org/drawingml/2006/table">
            <a:tbl>
              <a:tblPr/>
              <a:tblGrid>
                <a:gridCol w="6123305">
                  <a:extLst>
                    <a:ext uri="{9D8B030D-6E8A-4147-A177-3AD203B41FA5}">
                      <a16:colId xmlns:a16="http://schemas.microsoft.com/office/drawing/2014/main" val="20000"/>
                    </a:ext>
                  </a:extLst>
                </a:gridCol>
                <a:gridCol w="4821555">
                  <a:extLst>
                    <a:ext uri="{9D8B030D-6E8A-4147-A177-3AD203B41FA5}">
                      <a16:colId xmlns:a16="http://schemas.microsoft.com/office/drawing/2014/main" val="20001"/>
                    </a:ext>
                  </a:extLst>
                </a:gridCol>
              </a:tblGrid>
              <a:tr h="290195">
                <a:tc>
                  <a:txBody>
                    <a:bodyPr/>
                    <a:lstStyle/>
                    <a:p>
                      <a:pPr marL="171450" indent="-171450">
                        <a:buFont typeface="Arial" panose="020B0604020202020204" pitchFamily="34" charset="0"/>
                        <a:buChar char="•"/>
                      </a:pPr>
                      <a:endParaRPr sz="1100"/>
                    </a:p>
                  </a:txBody>
                  <a:tcPr marL="0" marR="0" marT="0" marB="0" anchor="ctr">
                    <a:lnL>
                      <a:noFill/>
                    </a:lnL>
                    <a:lnR>
                      <a:noFill/>
                    </a:lnR>
                    <a:lnT>
                      <a:noFill/>
                    </a:lnT>
                    <a:lnB>
                      <a:noFill/>
                    </a:lnB>
                    <a:noFill/>
                  </a:tcPr>
                </a:tc>
                <a:tc>
                  <a:txBody>
                    <a:bodyPr/>
                    <a:lstStyle/>
                    <a:p>
                      <a:pPr marL="171450" indent="-171450">
                        <a:buFont typeface="Arial" panose="020B0604020202020204" pitchFamily="34" charset="0"/>
                        <a:buChar char="•"/>
                      </a:pPr>
                      <a:endParaRPr lang="en-IN" sz="1100"/>
                    </a:p>
                  </a:txBody>
                  <a:tcPr marL="0" marR="0" marT="0" marB="0" anchor="ctr">
                    <a:lnL>
                      <a:noFill/>
                    </a:lnL>
                    <a:lnR>
                      <a:noFill/>
                    </a:lnR>
                    <a:lnT>
                      <a:noFill/>
                    </a:lnT>
                    <a:lnB>
                      <a:noFill/>
                    </a:lnB>
                    <a:noFill/>
                  </a:tcPr>
                </a:tc>
                <a:extLst>
                  <a:ext uri="{0D108BD9-81ED-4DB2-BD59-A6C34878D82A}">
                    <a16:rowId xmlns:a16="http://schemas.microsoft.com/office/drawing/2014/main" val="10000"/>
                  </a:ext>
                </a:extLst>
              </a:tr>
              <a:tr h="291465">
                <a:tc>
                  <a:txBody>
                    <a:bodyPr/>
                    <a:lstStyle/>
                    <a:p>
                      <a:pPr marL="171450" indent="-171450">
                        <a:buFont typeface="Arial" panose="020B0604020202020204" pitchFamily="34" charset="0"/>
                        <a:buChar char="•"/>
                      </a:pPr>
                      <a:r>
                        <a:rPr sz="1600">
                          <a:latin typeface="Times New Roman" panose="02020603050405020304" pitchFamily="18" charset="0"/>
                          <a:cs typeface="Times New Roman" panose="02020603050405020304" pitchFamily="18" charset="0"/>
                        </a:rPr>
                        <a:t>Compatible with Secure Aggregation</a:t>
                      </a:r>
                    </a:p>
                  </a:txBody>
                  <a:tcPr marL="0" marR="0" marT="0" marB="0" anchor="ctr">
                    <a:lnL>
                      <a:noFill/>
                    </a:lnL>
                    <a:lnR>
                      <a:noFill/>
                    </a:lnR>
                    <a:lnT>
                      <a:noFill/>
                    </a:lnT>
                    <a:lnB>
                      <a:noFill/>
                    </a:lnB>
                    <a:noFill/>
                  </a:tcPr>
                </a:tc>
                <a:tc>
                  <a:txBody>
                    <a:bodyPr/>
                    <a:lstStyle/>
                    <a:p>
                      <a:pPr marL="171450" indent="-171450">
                        <a:lnSpc>
                          <a:spcPct val="110000"/>
                        </a:lnSpc>
                        <a:buFont typeface="Arial" panose="020B0604020202020204" pitchFamily="34" charset="0"/>
                        <a:buChar char="•"/>
                      </a:pPr>
                      <a:r>
                        <a:rPr sz="1600">
                          <a:latin typeface="Times New Roman" panose="02020603050405020304" pitchFamily="18" charset="0"/>
                          <a:cs typeface="Times New Roman" panose="02020603050405020304" pitchFamily="18" charset="0"/>
                        </a:rPr>
                        <a:t>EE can still be vulnerable to strategic misreporting</a:t>
                      </a:r>
                    </a:p>
                  </a:txBody>
                  <a:tcPr marL="0" marR="0" marT="0" marB="0" anchor="ctr">
                    <a:lnL>
                      <a:noFill/>
                    </a:lnL>
                    <a:lnR>
                      <a:noFill/>
                    </a:lnR>
                    <a:lnT>
                      <a:noFill/>
                    </a:lnT>
                    <a:lnB>
                      <a:noFill/>
                    </a:lnB>
                    <a:noFill/>
                  </a:tcPr>
                </a:tc>
                <a:extLst>
                  <a:ext uri="{0D108BD9-81ED-4DB2-BD59-A6C34878D82A}">
                    <a16:rowId xmlns:a16="http://schemas.microsoft.com/office/drawing/2014/main" val="10001"/>
                  </a:ext>
                </a:extLst>
              </a:tr>
              <a:tr h="580390">
                <a:tc>
                  <a:txBody>
                    <a:bodyPr/>
                    <a:lstStyle/>
                    <a:p>
                      <a:pPr marL="171450" indent="-171450">
                        <a:buFont typeface="Arial" panose="020B0604020202020204" pitchFamily="34" charset="0"/>
                        <a:buChar char="•"/>
                      </a:pPr>
                      <a:r>
                        <a:rPr sz="1600">
                          <a:latin typeface="Times New Roman" panose="02020603050405020304" pitchFamily="18" charset="0"/>
                          <a:cs typeface="Times New Roman" panose="02020603050405020304" pitchFamily="18" charset="0"/>
                        </a:rPr>
                        <a:t>FP satisfies important fairness properties</a:t>
                      </a:r>
                    </a:p>
                  </a:txBody>
                  <a:tcPr marL="0" marR="0" marT="0" marB="0" anchor="ctr">
                    <a:lnL>
                      <a:noFill/>
                    </a:lnL>
                    <a:lnR>
                      <a:noFill/>
                    </a:lnR>
                    <a:lnT>
                      <a:noFill/>
                    </a:lnT>
                    <a:lnB>
                      <a:noFill/>
                    </a:lnB>
                    <a:noFill/>
                  </a:tcPr>
                </a:tc>
                <a:tc>
                  <a:txBody>
                    <a:bodyPr/>
                    <a:lstStyle/>
                    <a:p>
                      <a:pPr marL="171450" indent="-171450">
                        <a:lnSpc>
                          <a:spcPct val="110000"/>
                        </a:lnSpc>
                        <a:buFont typeface="Arial" panose="020B0604020202020204" pitchFamily="34" charset="0"/>
                        <a:buChar char="•"/>
                      </a:pPr>
                      <a:r>
                        <a:rPr sz="1600">
                          <a:latin typeface="Times New Roman" panose="02020603050405020304" pitchFamily="18" charset="0"/>
                          <a:cs typeface="Times New Roman" panose="02020603050405020304" pitchFamily="18" charset="0"/>
                        </a:rPr>
                        <a:t>Exact Shapley computation remains computationally expensive</a:t>
                      </a:r>
                    </a:p>
                  </a:txBody>
                  <a:tcPr marL="0" marR="0" marT="0" marB="0" anchor="ctr">
                    <a:lnL>
                      <a:noFill/>
                    </a:lnL>
                    <a:lnR>
                      <a:noFill/>
                    </a:lnR>
                    <a:lnT>
                      <a:noFill/>
                    </a:lnT>
                    <a:lnB>
                      <a:noFill/>
                    </a:lnB>
                    <a:noFill/>
                  </a:tcPr>
                </a:tc>
                <a:extLst>
                  <a:ext uri="{0D108BD9-81ED-4DB2-BD59-A6C34878D82A}">
                    <a16:rowId xmlns:a16="http://schemas.microsoft.com/office/drawing/2014/main" val="10002"/>
                  </a:ext>
                </a:extLst>
              </a:tr>
              <a:tr h="581025">
                <a:tc>
                  <a:txBody>
                    <a:bodyPr/>
                    <a:lstStyle/>
                    <a:p>
                      <a:pPr marL="171450" indent="-171450">
                        <a:buFont typeface="Arial" panose="020B0604020202020204" pitchFamily="34" charset="0"/>
                        <a:buChar char="•"/>
                      </a:pPr>
                      <a:r>
                        <a:rPr sz="1600">
                          <a:latin typeface="Times New Roman" panose="02020603050405020304" pitchFamily="18" charset="0"/>
                          <a:cs typeface="Times New Roman" panose="02020603050405020304" pitchFamily="18" charset="0"/>
                        </a:rPr>
                        <a:t>EE avoids direct self-evaluation</a:t>
                      </a:r>
                    </a:p>
                  </a:txBody>
                  <a:tcPr marL="0" marR="0" marT="0" marB="0" anchor="ctr">
                    <a:lnL>
                      <a:noFill/>
                    </a:lnL>
                    <a:lnR>
                      <a:noFill/>
                    </a:lnR>
                    <a:lnT>
                      <a:noFill/>
                    </a:lnT>
                    <a:lnB>
                      <a:noFill/>
                    </a:lnB>
                    <a:noFill/>
                  </a:tcPr>
                </a:tc>
                <a:tc>
                  <a:txBody>
                    <a:bodyPr/>
                    <a:lstStyle/>
                    <a:p>
                      <a:pPr marL="171450" indent="-171450">
                        <a:lnSpc>
                          <a:spcPct val="110000"/>
                        </a:lnSpc>
                        <a:buFont typeface="Arial" panose="020B0604020202020204" pitchFamily="34" charset="0"/>
                        <a:buChar char="•"/>
                      </a:pPr>
                      <a:r>
                        <a:rPr sz="1600">
                          <a:latin typeface="Times New Roman" panose="02020603050405020304" pitchFamily="18" charset="0"/>
                          <a:cs typeface="Times New Roman" panose="02020603050405020304" pitchFamily="18" charset="0"/>
                        </a:rPr>
                        <a:t>Current work focuses on specific cross-silo/full-participation settings</a:t>
                      </a:r>
                    </a:p>
                  </a:txBody>
                  <a:tcPr marL="0" marR="0" marT="0" marB="0" anchor="ctr">
                    <a:lnL>
                      <a:noFill/>
                    </a:lnL>
                    <a:lnR>
                      <a:noFill/>
                    </a:lnR>
                    <a:lnT>
                      <a:noFill/>
                    </a:lnT>
                    <a:lnB>
                      <a:noFill/>
                    </a:lnB>
                    <a:noFill/>
                  </a:tcPr>
                </a:tc>
                <a:extLst>
                  <a:ext uri="{0D108BD9-81ED-4DB2-BD59-A6C34878D82A}">
                    <a16:rowId xmlns:a16="http://schemas.microsoft.com/office/drawing/2014/main" val="10003"/>
                  </a:ext>
                </a:extLst>
              </a:tr>
              <a:tr h="581660">
                <a:tc>
                  <a:txBody>
                    <a:bodyPr/>
                    <a:lstStyle/>
                    <a:p>
                      <a:pPr marL="171450" indent="-171450">
                        <a:buFont typeface="Arial" panose="020B0604020202020204" pitchFamily="34" charset="0"/>
                        <a:buChar char="•"/>
                      </a:pPr>
                      <a:r>
                        <a:rPr sz="1600">
                          <a:latin typeface="Times New Roman" panose="02020603050405020304" pitchFamily="18" charset="0"/>
                          <a:cs typeface="Times New Roman" panose="02020603050405020304" pitchFamily="18" charset="0"/>
                        </a:rPr>
                        <a:t>EE provides manipulation resistance</a:t>
                      </a:r>
                    </a:p>
                  </a:txBody>
                  <a:tcPr marL="0" marR="0" marT="0" marB="0" anchor="ctr">
                    <a:lnL>
                      <a:noFill/>
                    </a:lnL>
                    <a:lnR>
                      <a:noFill/>
                    </a:lnR>
                    <a:lnT>
                      <a:noFill/>
                    </a:lnT>
                    <a:lnB>
                      <a:noFill/>
                    </a:lnB>
                    <a:noFill/>
                  </a:tcPr>
                </a:tc>
                <a:tc>
                  <a:txBody>
                    <a:bodyPr/>
                    <a:lstStyle/>
                    <a:p>
                      <a:pPr marL="171450" indent="-171450">
                        <a:lnSpc>
                          <a:spcPct val="110000"/>
                        </a:lnSpc>
                        <a:buFont typeface="Arial" panose="020B0604020202020204" pitchFamily="34" charset="0"/>
                        <a:buChar char="•"/>
                      </a:pPr>
                      <a:r>
                        <a:rPr sz="1600">
                          <a:latin typeface="Times New Roman" panose="02020603050405020304" pitchFamily="18" charset="0"/>
                          <a:cs typeface="Times New Roman" panose="02020603050405020304" pitchFamily="18" charset="0"/>
                        </a:rPr>
                        <a:t>Client sampling and asynchronous training are not fully addressed</a:t>
                      </a:r>
                    </a:p>
                  </a:txBody>
                  <a:tcPr marL="0" marR="0" marT="0" marB="0" anchor="ctr">
                    <a:lnL>
                      <a:noFill/>
                    </a:lnL>
                    <a:lnR>
                      <a:noFill/>
                    </a:lnR>
                    <a:lnT>
                      <a:noFill/>
                    </a:lnT>
                    <a:lnB>
                      <a:noFill/>
                    </a:lnB>
                    <a:noFill/>
                  </a:tcPr>
                </a:tc>
                <a:extLst>
                  <a:ext uri="{0D108BD9-81ED-4DB2-BD59-A6C34878D82A}">
                    <a16:rowId xmlns:a16="http://schemas.microsoft.com/office/drawing/2014/main" val="10004"/>
                  </a:ext>
                </a:extLst>
              </a:tr>
              <a:tr h="580390">
                <a:tc>
                  <a:txBody>
                    <a:bodyPr/>
                    <a:lstStyle/>
                    <a:p>
                      <a:pPr marL="171450" indent="-171450">
                        <a:buFont typeface="Arial" panose="020B0604020202020204" pitchFamily="34" charset="0"/>
                        <a:buChar char="•"/>
                      </a:pPr>
                      <a:r>
                        <a:rPr sz="1600">
                          <a:latin typeface="Times New Roman" panose="02020603050405020304" pitchFamily="18" charset="0"/>
                          <a:cs typeface="Times New Roman" panose="02020603050405020304" pitchFamily="18" charset="0"/>
                        </a:rPr>
                        <a:t>Performs well under Non-IID data</a:t>
                      </a:r>
                    </a:p>
                  </a:txBody>
                  <a:tcPr marL="0" marR="0" marT="0" marB="0" anchor="ctr">
                    <a:lnL>
                      <a:noFill/>
                    </a:lnL>
                    <a:lnR>
                      <a:noFill/>
                    </a:lnR>
                    <a:lnT>
                      <a:noFill/>
                    </a:lnT>
                    <a:lnB>
                      <a:noFill/>
                    </a:lnB>
                    <a:noFill/>
                  </a:tcPr>
                </a:tc>
                <a:tc>
                  <a:txBody>
                    <a:bodyPr/>
                    <a:lstStyle/>
                    <a:p>
                      <a:pPr marL="171450" indent="-171450">
                        <a:lnSpc>
                          <a:spcPct val="110000"/>
                        </a:lnSpc>
                        <a:buFont typeface="Arial" panose="020B0604020202020204" pitchFamily="34" charset="0"/>
                        <a:buChar char="•"/>
                      </a:pPr>
                      <a:r>
                        <a:rPr sz="1600">
                          <a:latin typeface="Times New Roman" panose="02020603050405020304" pitchFamily="18" charset="0"/>
                          <a:cs typeface="Times New Roman" panose="02020603050405020304" pitchFamily="18" charset="0"/>
                        </a:rPr>
                        <a:t>Further robust aggregation/anomaly detection can improve resistance</a:t>
                      </a:r>
                    </a:p>
                  </a:txBody>
                  <a:tcPr marL="0" marR="0" marT="0" marB="0" anchor="ctr">
                    <a:lnL>
                      <a:noFill/>
                    </a:lnL>
                    <a:lnR>
                      <a:noFill/>
                    </a:lnR>
                    <a:lnT>
                      <a:noFill/>
                    </a:lnT>
                    <a:lnB>
                      <a:noFill/>
                    </a:lnB>
                    <a:noFill/>
                  </a:tcPr>
                </a:tc>
                <a:extLst>
                  <a:ext uri="{0D108BD9-81ED-4DB2-BD59-A6C34878D82A}">
                    <a16:rowId xmlns:a16="http://schemas.microsoft.com/office/drawing/2014/main" val="10005"/>
                  </a:ext>
                </a:extLst>
              </a:tr>
              <a:tr h="564515">
                <a:tc>
                  <a:txBody>
                    <a:bodyPr/>
                    <a:lstStyle/>
                    <a:p>
                      <a:pPr marL="171450" indent="-171450">
                        <a:buFont typeface="Arial" panose="020B0604020202020204" pitchFamily="34" charset="0"/>
                        <a:buChar char="•"/>
                      </a:pPr>
                      <a:r>
                        <a:rPr sz="1600">
                          <a:latin typeface="Times New Roman" panose="02020603050405020304" pitchFamily="18" charset="0"/>
                          <a:cs typeface="Times New Roman" panose="02020603050405020304" pitchFamily="18" charset="0"/>
                        </a:rPr>
                        <a:t>Better contribution ranking than LOO and COS</a:t>
                      </a:r>
                    </a:p>
                  </a:txBody>
                  <a:tcPr marL="0" marR="0" marT="0" marB="0" anchor="ctr">
                    <a:lnL>
                      <a:noFill/>
                    </a:lnL>
                    <a:lnR>
                      <a:noFill/>
                    </a:lnR>
                    <a:lnT>
                      <a:noFill/>
                    </a:lnT>
                    <a:lnB>
                      <a:noFill/>
                    </a:lnB>
                    <a:noFill/>
                  </a:tcPr>
                </a:tc>
                <a:tc>
                  <a:txBody>
                    <a:bodyPr/>
                    <a:lstStyle/>
                    <a:p>
                      <a:pPr marL="171450" indent="-171450">
                        <a:lnSpc>
                          <a:spcPct val="110000"/>
                        </a:lnSpc>
                        <a:buFont typeface="Arial" panose="020B0604020202020204" pitchFamily="34" charset="0"/>
                        <a:buChar char="•"/>
                      </a:pPr>
                      <a:r>
                        <a:rPr sz="1600">
                          <a:latin typeface="Times New Roman" panose="02020603050405020304" pitchFamily="18" charset="0"/>
                          <a:cs typeface="Times New Roman" panose="02020603050405020304" pitchFamily="18" charset="0"/>
                        </a:rPr>
                        <a:t>More investigation is needed for additional adversarial strategies</a:t>
                      </a:r>
                    </a:p>
                  </a:txBody>
                  <a:tcPr marL="0" marR="0" marT="0" marB="0" anchor="ctr">
                    <a:lnL>
                      <a:noFill/>
                    </a:lnL>
                    <a:lnR>
                      <a:noFill/>
                    </a:lnR>
                    <a:lnT>
                      <a:noFill/>
                    </a:lnT>
                    <a:lnB>
                      <a:noFill/>
                    </a:lnB>
                    <a:noFill/>
                  </a:tcPr>
                </a:tc>
                <a:extLst>
                  <a:ext uri="{0D108BD9-81ED-4DB2-BD59-A6C34878D82A}">
                    <a16:rowId xmlns:a16="http://schemas.microsoft.com/office/drawing/2014/main" val="10006"/>
                  </a:ext>
                </a:extLst>
              </a:tr>
              <a:tr h="633730">
                <a:tc>
                  <a:txBody>
                    <a:bodyPr/>
                    <a:lstStyle/>
                    <a:p>
                      <a:pPr indent="0">
                        <a:buFont typeface="Arial" panose="020B0604020202020204" pitchFamily="34" charset="0"/>
                        <a:buNone/>
                      </a:pPr>
                      <a:endParaRPr sz="1600"/>
                    </a:p>
                  </a:txBody>
                  <a:tcPr marL="0" marR="0" marT="0" marB="0" anchor="ctr">
                    <a:lnL>
                      <a:noFill/>
                    </a:lnL>
                    <a:lnR>
                      <a:noFill/>
                    </a:lnR>
                    <a:lnT>
                      <a:noFill/>
                    </a:lnT>
                    <a:lnB>
                      <a:noFill/>
                    </a:lnB>
                    <a:noFill/>
                  </a:tcPr>
                </a:tc>
                <a:tc>
                  <a:txBody>
                    <a:bodyPr/>
                    <a:lstStyle/>
                    <a:p>
                      <a:pPr>
                        <a:buNone/>
                      </a:pPr>
                      <a:endParaRPr lang="en-US" sz="1600"/>
                    </a:p>
                  </a:txBody>
                  <a:tcPr>
                    <a:lnL>
                      <a:noFill/>
                    </a:lnL>
                    <a:lnT>
                      <a:noFill/>
                    </a:lnT>
                  </a:tcPr>
                </a:tc>
                <a:extLst>
                  <a:ext uri="{0D108BD9-81ED-4DB2-BD59-A6C34878D82A}">
                    <a16:rowId xmlns:a16="http://schemas.microsoft.com/office/drawing/2014/main" val="10007"/>
                  </a:ext>
                </a:extLst>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 y="6980"/>
            <a:ext cx="12192000" cy="837398"/>
          </a:xfrm>
          <a:prstGeom prst="rect">
            <a:avLst/>
          </a:prstGeom>
          <a:solidFill>
            <a:srgbClr val="E77E69"/>
          </a:soli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IN" dirty="0">
              <a:solidFill>
                <a:srgbClr val="FFFF00"/>
              </a:solidFill>
              <a:latin typeface="Times New Roman" panose="02020603050405020304" pitchFamily="18" charset="0"/>
              <a:cs typeface="Times New Roman" panose="02020603050405020304" pitchFamily="18" charset="0"/>
            </a:endParaRPr>
          </a:p>
        </p:txBody>
      </p:sp>
      <p:sp>
        <p:nvSpPr>
          <p:cNvPr id="5" name="Rectangle 4"/>
          <p:cNvSpPr/>
          <p:nvPr/>
        </p:nvSpPr>
        <p:spPr>
          <a:xfrm>
            <a:off x="0" y="6451517"/>
            <a:ext cx="12192000" cy="393289"/>
          </a:xfrm>
          <a:prstGeom prst="rect">
            <a:avLst/>
          </a:prstGeom>
          <a:solidFill>
            <a:srgbClr val="E77E69"/>
          </a:soli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IN"/>
          </a:p>
        </p:txBody>
      </p:sp>
      <p:sp>
        <p:nvSpPr>
          <p:cNvPr id="11" name="Date Placeholder 10"/>
          <p:cNvSpPr>
            <a:spLocks noGrp="1"/>
          </p:cNvSpPr>
          <p:nvPr>
            <p:ph type="dt" sz="half" idx="10"/>
          </p:nvPr>
        </p:nvSpPr>
        <p:spPr>
          <a:xfrm>
            <a:off x="0" y="6460922"/>
            <a:ext cx="997974" cy="365125"/>
          </a:xfrm>
        </p:spPr>
        <p:txBody>
          <a:bodyPr/>
          <a:lstStyle/>
          <a:p>
            <a:fld id="{C72AAC90-D07C-417D-96C6-81B39DB87062}" type="datetime1">
              <a:rPr lang="en-IN" smtClean="0">
                <a:solidFill>
                  <a:schemeClr val="tx1"/>
                </a:solidFill>
              </a:rPr>
              <a:t>16-09-2026</a:t>
            </a:fld>
            <a:endParaRPr lang="en-IN" dirty="0">
              <a:solidFill>
                <a:schemeClr val="tx1"/>
              </a:solidFill>
            </a:endParaRPr>
          </a:p>
        </p:txBody>
      </p:sp>
      <p:sp>
        <p:nvSpPr>
          <p:cNvPr id="13" name="Slide Number Placeholder 12"/>
          <p:cNvSpPr>
            <a:spLocks noGrp="1"/>
          </p:cNvSpPr>
          <p:nvPr>
            <p:ph type="sldNum" sz="quarter" idx="12"/>
          </p:nvPr>
        </p:nvSpPr>
        <p:spPr>
          <a:xfrm>
            <a:off x="11227443" y="6478792"/>
            <a:ext cx="876067" cy="379208"/>
          </a:xfrm>
        </p:spPr>
        <p:txBody>
          <a:bodyPr/>
          <a:lstStyle/>
          <a:p>
            <a:fld id="{0F06A4E2-163B-4ABA-8562-AD05AC3F17C5}" type="slidenum">
              <a:rPr lang="en-IN" sz="1800" smtClean="0">
                <a:solidFill>
                  <a:schemeClr val="tx1"/>
                </a:solidFill>
              </a:rPr>
              <a:t>14</a:t>
            </a:fld>
            <a:endParaRPr lang="en-IN" sz="1800" dirty="0">
              <a:solidFill>
                <a:schemeClr val="tx1"/>
              </a:solidFill>
            </a:endParaRPr>
          </a:p>
        </p:txBody>
      </p:sp>
      <p:sp>
        <p:nvSpPr>
          <p:cNvPr id="15" name="TextBox 14"/>
          <p:cNvSpPr txBox="1"/>
          <p:nvPr/>
        </p:nvSpPr>
        <p:spPr>
          <a:xfrm flipH="1">
            <a:off x="135928" y="877163"/>
            <a:ext cx="2063808" cy="400110"/>
          </a:xfrm>
          <a:prstGeom prst="rect">
            <a:avLst/>
          </a:prstGeom>
          <a:noFill/>
        </p:spPr>
        <p:txBody>
          <a:bodyPr wrap="square" rtlCol="0">
            <a:spAutoFit/>
          </a:bodyPr>
          <a:lstStyle/>
          <a:p>
            <a:r>
              <a:rPr lang="en-IN" sz="2000" dirty="0">
                <a:latin typeface="Times New Roman" panose="02020603050405020304" pitchFamily="18" charset="0"/>
                <a:cs typeface="Times New Roman" panose="02020603050405020304" pitchFamily="18" charset="0"/>
              </a:rPr>
              <a:t>Literature Review</a:t>
            </a:r>
          </a:p>
        </p:txBody>
      </p:sp>
      <p:sp>
        <p:nvSpPr>
          <p:cNvPr id="2" name="TextBox 1"/>
          <p:cNvSpPr txBox="1"/>
          <p:nvPr/>
        </p:nvSpPr>
        <p:spPr>
          <a:xfrm>
            <a:off x="8955476" y="31393"/>
            <a:ext cx="3148033" cy="830997"/>
          </a:xfrm>
          <a:prstGeom prst="rect">
            <a:avLst/>
          </a:prstGeom>
          <a:noFill/>
        </p:spPr>
        <p:txBody>
          <a:bodyPr wrap="square" rtlCol="0">
            <a:spAutoFit/>
          </a:bodyPr>
          <a:lstStyle/>
          <a:p>
            <a:r>
              <a:rPr lang="en-IN" sz="1200" dirty="0">
                <a:latin typeface="Times New Roman" panose="02020603050405020304" pitchFamily="18" charset="0"/>
                <a:cs typeface="Times New Roman" panose="02020603050405020304" pitchFamily="18" charset="0"/>
              </a:rPr>
              <a:t>Guide: Mrs. B. Lalitha Rajeswari</a:t>
            </a:r>
          </a:p>
          <a:p>
            <a:r>
              <a:rPr lang="en-IN" sz="1200" dirty="0">
                <a:latin typeface="Times New Roman" panose="02020603050405020304" pitchFamily="18" charset="0"/>
                <a:cs typeface="Times New Roman" panose="02020603050405020304" pitchFamily="18" charset="0"/>
              </a:rPr>
              <a:t>Batch ID: A14</a:t>
            </a:r>
          </a:p>
          <a:p>
            <a:r>
              <a:rPr lang="en-IN" sz="1200" dirty="0">
                <a:latin typeface="Times New Roman" panose="02020603050405020304" pitchFamily="18" charset="0"/>
                <a:cs typeface="Times New Roman" panose="02020603050405020304" pitchFamily="18" charset="0"/>
              </a:rPr>
              <a:t>23BQ1A6129(TL),	23BQ1A6136,</a:t>
            </a:r>
          </a:p>
          <a:p>
            <a:r>
              <a:rPr lang="en-IN" sz="1200" dirty="0">
                <a:latin typeface="Times New Roman" panose="02020603050405020304" pitchFamily="18" charset="0"/>
                <a:cs typeface="Times New Roman" panose="02020603050405020304" pitchFamily="18" charset="0"/>
              </a:rPr>
              <a:t>23BQ1A6123,                         24BQ5A6125</a:t>
            </a:r>
            <a:endParaRPr lang="en-IN" sz="1200" dirty="0"/>
          </a:p>
        </p:txBody>
      </p:sp>
      <p:pic>
        <p:nvPicPr>
          <p:cNvPr id="3" name="Picture 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4186" y="92353"/>
            <a:ext cx="993618" cy="693462"/>
          </a:xfrm>
          <a:prstGeom prst="rect">
            <a:avLst/>
          </a:prstGeom>
        </p:spPr>
      </p:pic>
      <p:sp>
        <p:nvSpPr>
          <p:cNvPr id="14" name="TextBox 13"/>
          <p:cNvSpPr txBox="1"/>
          <p:nvPr/>
        </p:nvSpPr>
        <p:spPr>
          <a:xfrm>
            <a:off x="1531467" y="82617"/>
            <a:ext cx="7424010" cy="923330"/>
          </a:xfrm>
          <a:prstGeom prst="rect">
            <a:avLst/>
          </a:prstGeom>
          <a:noFill/>
        </p:spPr>
        <p:txBody>
          <a:bodyPr wrap="square" rtlCol="0">
            <a:spAutoFit/>
          </a:bodyPr>
          <a:lstStyle/>
          <a:p>
            <a:r>
              <a:rPr lang="en-IN" dirty="0">
                <a:latin typeface="Times New Roman" panose="02020603050405020304" pitchFamily="18" charset="0"/>
                <a:cs typeface="Times New Roman" panose="02020603050405020304" pitchFamily="18" charset="0"/>
              </a:rPr>
              <a:t>Contribution-Aware Trust Mechanism for Poisoning Attack Detection in Swarm Learning</a:t>
            </a:r>
          </a:p>
          <a:p>
            <a:endParaRPr lang="en-IN" dirty="0">
              <a:latin typeface="Times New Roman" panose="02020603050405020304" pitchFamily="18" charset="0"/>
              <a:cs typeface="Times New Roman" panose="02020603050405020304" pitchFamily="18" charset="0"/>
            </a:endParaRPr>
          </a:p>
        </p:txBody>
      </p:sp>
      <p:sp>
        <p:nvSpPr>
          <p:cNvPr id="16" name="Footer Placeholder 11"/>
          <p:cNvSpPr>
            <a:spLocks noGrp="1"/>
          </p:cNvSpPr>
          <p:nvPr>
            <p:ph type="ftr" sz="quarter" idx="11"/>
          </p:nvPr>
        </p:nvSpPr>
        <p:spPr>
          <a:xfrm>
            <a:off x="3999271" y="6460922"/>
            <a:ext cx="4114800" cy="365125"/>
          </a:xfrm>
        </p:spPr>
        <p:txBody>
          <a:bodyPr/>
          <a:lstStyle/>
          <a:p>
            <a:r>
              <a:rPr lang="en-IN" dirty="0">
                <a:solidFill>
                  <a:schemeClr val="tx1"/>
                </a:solidFill>
              </a:rPr>
              <a:t>Dept. CSM @ VVIT</a:t>
            </a:r>
          </a:p>
        </p:txBody>
      </p:sp>
      <p:sp>
        <p:nvSpPr>
          <p:cNvPr id="17" name="TextBox 16"/>
          <p:cNvSpPr txBox="1"/>
          <p:nvPr/>
        </p:nvSpPr>
        <p:spPr>
          <a:xfrm flipH="1">
            <a:off x="135928" y="1326501"/>
            <a:ext cx="11920141" cy="307777"/>
          </a:xfrm>
          <a:prstGeom prst="rect">
            <a:avLst/>
          </a:prstGeom>
          <a:noFill/>
        </p:spPr>
        <p:txBody>
          <a:bodyPr wrap="square" rtlCol="0">
            <a:spAutoFit/>
          </a:bodyPr>
          <a:lstStyle/>
          <a:p>
            <a:r>
              <a:rPr lang="en-IN" sz="1400" dirty="0">
                <a:solidFill>
                  <a:schemeClr val="bg1">
                    <a:lumMod val="75000"/>
                  </a:schemeClr>
                </a:solidFill>
                <a:latin typeface="Times New Roman" panose="02020603050405020304" pitchFamily="18" charset="0"/>
                <a:cs typeface="Times New Roman" panose="02020603050405020304" pitchFamily="18" charset="0"/>
              </a:rPr>
              <a:t>| Proposed Method | Data &amp; Setup | key Results | Strengths &amp; Limitations </a:t>
            </a:r>
            <a:r>
              <a:rPr lang="en-IN" sz="1400" dirty="0">
                <a:latin typeface="Times New Roman" panose="02020603050405020304" pitchFamily="18" charset="0"/>
                <a:cs typeface="Times New Roman" panose="02020603050405020304" pitchFamily="18" charset="0"/>
              </a:rPr>
              <a:t>| Relevance to my research |</a:t>
            </a:r>
          </a:p>
        </p:txBody>
      </p:sp>
      <p:sp>
        <p:nvSpPr>
          <p:cNvPr id="6" name="Rectangle 5"/>
          <p:cNvSpPr/>
          <p:nvPr/>
        </p:nvSpPr>
        <p:spPr>
          <a:xfrm>
            <a:off x="2082799" y="862390"/>
            <a:ext cx="10020709" cy="737235"/>
          </a:xfrm>
          <a:prstGeom prst="rect">
            <a:avLst/>
          </a:prstGeom>
        </p:spPr>
        <p:txBody>
          <a:bodyPr wrap="square">
            <a:spAutoFit/>
          </a:bodyPr>
          <a:lstStyle/>
          <a:p>
            <a:r>
              <a:rPr lang="en-US" altLang="en-US" sz="1400" b="1" dirty="0">
                <a:sym typeface="+mn-ea"/>
              </a:rPr>
              <a:t> Beyond Leave-One-Out: Private and Robust Contribution Evaluation in Federated Learning | Jaramillo Velez et al., 2026 | arXiv Preprint</a:t>
            </a:r>
            <a:endParaRPr lang="en-US" altLang="en-US" sz="1400" b="1" dirty="0"/>
          </a:p>
          <a:p>
            <a:endParaRPr lang="en-IN" sz="1400" b="1" dirty="0"/>
          </a:p>
        </p:txBody>
      </p:sp>
      <p:sp>
        <p:nvSpPr>
          <p:cNvPr id="7" name="Text Box 6"/>
          <p:cNvSpPr txBox="1"/>
          <p:nvPr/>
        </p:nvSpPr>
        <p:spPr>
          <a:xfrm>
            <a:off x="425450" y="1649730"/>
            <a:ext cx="11678285" cy="2443480"/>
          </a:xfrm>
          <a:prstGeom prst="rect">
            <a:avLst/>
          </a:prstGeom>
          <a:noFill/>
        </p:spPr>
        <p:txBody>
          <a:bodyPr wrap="square" rtlCol="0" anchor="t">
            <a:spAutoFit/>
          </a:bodyPr>
          <a:lstStyle/>
          <a:p>
            <a:endParaRPr lang="en-US" altLang="en-US" dirty="0"/>
          </a:p>
          <a:p>
            <a:pPr marL="285750" indent="-285750">
              <a:lnSpc>
                <a:spcPct val="130000"/>
              </a:lnSpc>
              <a:buFont typeface="Arial" panose="020B0604020202020204" pitchFamily="34" charset="0"/>
              <a:buChar char="•"/>
            </a:pPr>
            <a:r>
              <a:rPr lang="en-US" altLang="en-US" dirty="0">
                <a:latin typeface="Times New Roman" panose="02020603050405020304" pitchFamily="18" charset="0"/>
                <a:cs typeface="Times New Roman" panose="02020603050405020304" pitchFamily="18" charset="0"/>
              </a:rPr>
              <a:t>Provides a privacy-preserving contribution evaluation approach relevant to client trust assessment.</a:t>
            </a:r>
          </a:p>
          <a:p>
            <a:pPr marL="285750" indent="-285750">
              <a:lnSpc>
                <a:spcPct val="130000"/>
              </a:lnSpc>
              <a:buFont typeface="Arial" panose="020B0604020202020204" pitchFamily="34" charset="0"/>
              <a:buChar char="•"/>
            </a:pPr>
            <a:r>
              <a:rPr lang="en-US" altLang="en-US" dirty="0">
                <a:latin typeface="Times New Roman" panose="02020603050405020304" pitchFamily="18" charset="0"/>
                <a:cs typeface="Times New Roman" panose="02020603050405020304" pitchFamily="18" charset="0"/>
              </a:rPr>
              <a:t>Shows that client contribution can be used to identify useful and low-quality participants.</a:t>
            </a:r>
          </a:p>
          <a:p>
            <a:pPr marL="285750" indent="-285750">
              <a:lnSpc>
                <a:spcPct val="130000"/>
              </a:lnSpc>
              <a:buFont typeface="Arial" panose="020B0604020202020204" pitchFamily="34" charset="0"/>
              <a:buChar char="•"/>
            </a:pPr>
            <a:r>
              <a:rPr lang="en-US" altLang="en-US" dirty="0">
                <a:latin typeface="Times New Roman" panose="02020603050405020304" pitchFamily="18" charset="0"/>
                <a:cs typeface="Times New Roman" panose="02020603050405020304" pitchFamily="18" charset="0"/>
              </a:rPr>
              <a:t>Addresses Non-IID data, which is important for our project.</a:t>
            </a:r>
          </a:p>
          <a:p>
            <a:pPr marL="285750" indent="-285750">
              <a:lnSpc>
                <a:spcPct val="130000"/>
              </a:lnSpc>
              <a:buFont typeface="Arial" panose="020B0604020202020204" pitchFamily="34" charset="0"/>
              <a:buChar char="•"/>
            </a:pPr>
            <a:r>
              <a:rPr lang="en-US" altLang="en-US" dirty="0">
                <a:latin typeface="Times New Roman" panose="02020603050405020304" pitchFamily="18" charset="0"/>
                <a:cs typeface="Times New Roman" panose="02020603050405020304" pitchFamily="18" charset="0"/>
              </a:rPr>
              <a:t>Supports contribution-based evaluation to reduce the influence of misbehaving clients.</a:t>
            </a:r>
          </a:p>
          <a:p>
            <a:pPr marL="285750" indent="-285750">
              <a:lnSpc>
                <a:spcPct val="130000"/>
              </a:lnSpc>
              <a:buFont typeface="Arial" panose="020B0604020202020204" pitchFamily="34" charset="0"/>
              <a:buChar char="•"/>
            </a:pPr>
            <a:r>
              <a:rPr lang="en-US" altLang="en-US" dirty="0">
                <a:latin typeface="Times New Roman" panose="02020603050405020304" pitchFamily="18" charset="0"/>
                <a:cs typeface="Times New Roman" panose="02020603050405020304" pitchFamily="18" charset="0"/>
              </a:rPr>
              <a:t>Our project extends this direction by using Leave-One-Out contribution with trust-based poisoning attack detection</a:t>
            </a:r>
            <a:r>
              <a:rPr lang="en-US" altLang="en-US" dirty="0"/>
              <a:t>.</a:t>
            </a:r>
          </a:p>
          <a:p>
            <a:endParaRPr 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 y="6980"/>
            <a:ext cx="12192000" cy="837398"/>
          </a:xfrm>
          <a:prstGeom prst="rect">
            <a:avLst/>
          </a:prstGeom>
          <a:solidFill>
            <a:srgbClr val="E77E69"/>
          </a:soli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IN" dirty="0">
              <a:solidFill>
                <a:srgbClr val="FFFF00"/>
              </a:solidFill>
              <a:latin typeface="Times New Roman" panose="02020603050405020304" pitchFamily="18" charset="0"/>
              <a:cs typeface="Times New Roman" panose="02020603050405020304" pitchFamily="18" charset="0"/>
            </a:endParaRPr>
          </a:p>
        </p:txBody>
      </p:sp>
      <p:sp>
        <p:nvSpPr>
          <p:cNvPr id="5" name="Rectangle 4"/>
          <p:cNvSpPr/>
          <p:nvPr/>
        </p:nvSpPr>
        <p:spPr>
          <a:xfrm>
            <a:off x="0" y="6451517"/>
            <a:ext cx="12192000" cy="393289"/>
          </a:xfrm>
          <a:prstGeom prst="rect">
            <a:avLst/>
          </a:prstGeom>
          <a:solidFill>
            <a:srgbClr val="E77E69"/>
          </a:soli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IN"/>
          </a:p>
        </p:txBody>
      </p:sp>
      <p:sp>
        <p:nvSpPr>
          <p:cNvPr id="11" name="Date Placeholder 10"/>
          <p:cNvSpPr>
            <a:spLocks noGrp="1"/>
          </p:cNvSpPr>
          <p:nvPr>
            <p:ph type="dt" sz="half" idx="10"/>
          </p:nvPr>
        </p:nvSpPr>
        <p:spPr>
          <a:xfrm>
            <a:off x="0" y="6460922"/>
            <a:ext cx="997974" cy="365125"/>
          </a:xfrm>
        </p:spPr>
        <p:txBody>
          <a:bodyPr/>
          <a:lstStyle/>
          <a:p>
            <a:fld id="{C72AAC90-D07C-417D-96C6-81B39DB87062}" type="datetime1">
              <a:rPr lang="en-IN" smtClean="0">
                <a:solidFill>
                  <a:schemeClr val="tx1"/>
                </a:solidFill>
              </a:rPr>
              <a:t>16-09-2026</a:t>
            </a:fld>
            <a:endParaRPr lang="en-IN" dirty="0">
              <a:solidFill>
                <a:schemeClr val="tx1"/>
              </a:solidFill>
            </a:endParaRPr>
          </a:p>
        </p:txBody>
      </p:sp>
      <p:sp>
        <p:nvSpPr>
          <p:cNvPr id="13" name="Slide Number Placeholder 12"/>
          <p:cNvSpPr>
            <a:spLocks noGrp="1"/>
          </p:cNvSpPr>
          <p:nvPr>
            <p:ph type="sldNum" sz="quarter" idx="12"/>
          </p:nvPr>
        </p:nvSpPr>
        <p:spPr>
          <a:xfrm>
            <a:off x="11227443" y="6478792"/>
            <a:ext cx="876067" cy="379208"/>
          </a:xfrm>
        </p:spPr>
        <p:txBody>
          <a:bodyPr/>
          <a:lstStyle/>
          <a:p>
            <a:fld id="{0F06A4E2-163B-4ABA-8562-AD05AC3F17C5}" type="slidenum">
              <a:rPr lang="en-IN" sz="1800" smtClean="0">
                <a:solidFill>
                  <a:schemeClr val="tx1"/>
                </a:solidFill>
              </a:rPr>
              <a:t>15</a:t>
            </a:fld>
            <a:endParaRPr lang="en-IN" sz="1800" dirty="0">
              <a:solidFill>
                <a:schemeClr val="tx1"/>
              </a:solidFill>
            </a:endParaRPr>
          </a:p>
        </p:txBody>
      </p:sp>
      <p:sp>
        <p:nvSpPr>
          <p:cNvPr id="15" name="TextBox 14"/>
          <p:cNvSpPr txBox="1"/>
          <p:nvPr/>
        </p:nvSpPr>
        <p:spPr>
          <a:xfrm flipH="1">
            <a:off x="135928" y="877163"/>
            <a:ext cx="2063808" cy="400110"/>
          </a:xfrm>
          <a:prstGeom prst="rect">
            <a:avLst/>
          </a:prstGeom>
          <a:noFill/>
        </p:spPr>
        <p:txBody>
          <a:bodyPr wrap="square" rtlCol="0">
            <a:spAutoFit/>
          </a:bodyPr>
          <a:lstStyle/>
          <a:p>
            <a:r>
              <a:rPr lang="en-IN" sz="2000" dirty="0">
                <a:latin typeface="Times New Roman" panose="02020603050405020304" pitchFamily="18" charset="0"/>
                <a:cs typeface="Times New Roman" panose="02020603050405020304" pitchFamily="18" charset="0"/>
              </a:rPr>
              <a:t>Literature Review</a:t>
            </a:r>
          </a:p>
        </p:txBody>
      </p:sp>
      <p:sp>
        <p:nvSpPr>
          <p:cNvPr id="2" name="TextBox 1"/>
          <p:cNvSpPr txBox="1"/>
          <p:nvPr/>
        </p:nvSpPr>
        <p:spPr>
          <a:xfrm>
            <a:off x="8955476" y="31393"/>
            <a:ext cx="3148033" cy="830997"/>
          </a:xfrm>
          <a:prstGeom prst="rect">
            <a:avLst/>
          </a:prstGeom>
          <a:noFill/>
        </p:spPr>
        <p:txBody>
          <a:bodyPr wrap="square" rtlCol="0">
            <a:spAutoFit/>
          </a:bodyPr>
          <a:lstStyle/>
          <a:p>
            <a:r>
              <a:rPr lang="en-IN" sz="1200" dirty="0">
                <a:latin typeface="Times New Roman" panose="02020603050405020304" pitchFamily="18" charset="0"/>
                <a:cs typeface="Times New Roman" panose="02020603050405020304" pitchFamily="18" charset="0"/>
              </a:rPr>
              <a:t>Guide: Mrs. B. Lalitha Rajeswari</a:t>
            </a:r>
          </a:p>
          <a:p>
            <a:r>
              <a:rPr lang="en-IN" sz="1200" dirty="0">
                <a:latin typeface="Times New Roman" panose="02020603050405020304" pitchFamily="18" charset="0"/>
                <a:cs typeface="Times New Roman" panose="02020603050405020304" pitchFamily="18" charset="0"/>
              </a:rPr>
              <a:t>Batch ID: A14</a:t>
            </a:r>
          </a:p>
          <a:p>
            <a:r>
              <a:rPr lang="en-IN" sz="1200" dirty="0">
                <a:latin typeface="Times New Roman" panose="02020603050405020304" pitchFamily="18" charset="0"/>
                <a:cs typeface="Times New Roman" panose="02020603050405020304" pitchFamily="18" charset="0"/>
              </a:rPr>
              <a:t>23BQ1A6129(TL),	23BQ1A6136,</a:t>
            </a:r>
          </a:p>
          <a:p>
            <a:r>
              <a:rPr lang="en-IN" sz="1200" dirty="0">
                <a:latin typeface="Times New Roman" panose="02020603050405020304" pitchFamily="18" charset="0"/>
                <a:cs typeface="Times New Roman" panose="02020603050405020304" pitchFamily="18" charset="0"/>
              </a:rPr>
              <a:t>23BQ1A6123,                         24BQ5A6125</a:t>
            </a:r>
            <a:endParaRPr lang="en-IN" sz="1200" dirty="0"/>
          </a:p>
        </p:txBody>
      </p:sp>
      <p:pic>
        <p:nvPicPr>
          <p:cNvPr id="3" name="Picture 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4186" y="92353"/>
            <a:ext cx="993618" cy="693462"/>
          </a:xfrm>
          <a:prstGeom prst="rect">
            <a:avLst/>
          </a:prstGeom>
        </p:spPr>
      </p:pic>
      <p:sp>
        <p:nvSpPr>
          <p:cNvPr id="14" name="TextBox 13"/>
          <p:cNvSpPr txBox="1"/>
          <p:nvPr/>
        </p:nvSpPr>
        <p:spPr>
          <a:xfrm>
            <a:off x="1531467" y="82617"/>
            <a:ext cx="7424010" cy="646331"/>
          </a:xfrm>
          <a:prstGeom prst="rect">
            <a:avLst/>
          </a:prstGeom>
          <a:noFill/>
        </p:spPr>
        <p:txBody>
          <a:bodyPr wrap="square" rtlCol="0">
            <a:spAutoFit/>
          </a:bodyPr>
          <a:lstStyle/>
          <a:p>
            <a:r>
              <a:rPr lang="en-IN" dirty="0">
                <a:latin typeface="Times New Roman" panose="02020603050405020304" pitchFamily="18" charset="0"/>
                <a:cs typeface="Times New Roman" panose="02020603050405020304" pitchFamily="18" charset="0"/>
              </a:rPr>
              <a:t>Contribution-Aware Trust Mechanism for Poisoning Attack Detection in Swarm Learning</a:t>
            </a:r>
          </a:p>
        </p:txBody>
      </p:sp>
      <p:sp>
        <p:nvSpPr>
          <p:cNvPr id="16" name="Footer Placeholder 11"/>
          <p:cNvSpPr>
            <a:spLocks noGrp="1"/>
          </p:cNvSpPr>
          <p:nvPr>
            <p:ph type="ftr" sz="quarter" idx="11"/>
          </p:nvPr>
        </p:nvSpPr>
        <p:spPr>
          <a:xfrm>
            <a:off x="3999271" y="6460922"/>
            <a:ext cx="4114800" cy="365125"/>
          </a:xfrm>
        </p:spPr>
        <p:txBody>
          <a:bodyPr/>
          <a:lstStyle/>
          <a:p>
            <a:r>
              <a:rPr lang="en-IN" dirty="0">
                <a:solidFill>
                  <a:schemeClr val="tx1"/>
                </a:solidFill>
              </a:rPr>
              <a:t>Dept. CSM @ VVIT</a:t>
            </a:r>
          </a:p>
        </p:txBody>
      </p:sp>
      <p:sp>
        <p:nvSpPr>
          <p:cNvPr id="17" name="TextBox 16"/>
          <p:cNvSpPr txBox="1"/>
          <p:nvPr/>
        </p:nvSpPr>
        <p:spPr>
          <a:xfrm flipH="1">
            <a:off x="135928" y="1326501"/>
            <a:ext cx="11920141" cy="307777"/>
          </a:xfrm>
          <a:prstGeom prst="rect">
            <a:avLst/>
          </a:prstGeom>
          <a:noFill/>
        </p:spPr>
        <p:txBody>
          <a:bodyPr wrap="square" rtlCol="0">
            <a:spAutoFit/>
          </a:bodyPr>
          <a:lstStyle/>
          <a:p>
            <a:r>
              <a:rPr lang="en-IN" sz="1400" dirty="0">
                <a:latin typeface="Times New Roman" panose="02020603050405020304" pitchFamily="18" charset="0"/>
                <a:cs typeface="Times New Roman" panose="02020603050405020304" pitchFamily="18" charset="0"/>
              </a:rPr>
              <a:t>| Proposed Method | </a:t>
            </a:r>
            <a:r>
              <a:rPr lang="en-IN" sz="1400" dirty="0">
                <a:solidFill>
                  <a:schemeClr val="bg1">
                    <a:lumMod val="75000"/>
                  </a:schemeClr>
                </a:solidFill>
                <a:latin typeface="Times New Roman" panose="02020603050405020304" pitchFamily="18" charset="0"/>
                <a:cs typeface="Times New Roman" panose="02020603050405020304" pitchFamily="18" charset="0"/>
              </a:rPr>
              <a:t>Data &amp; Setup | key Results | Strengths &amp; Limitations | Relevance to my research |</a:t>
            </a:r>
          </a:p>
        </p:txBody>
      </p:sp>
      <p:sp>
        <p:nvSpPr>
          <p:cNvPr id="6" name="Rectangle 5"/>
          <p:cNvSpPr/>
          <p:nvPr/>
        </p:nvSpPr>
        <p:spPr>
          <a:xfrm>
            <a:off x="2082799" y="862390"/>
            <a:ext cx="10020709" cy="738664"/>
          </a:xfrm>
          <a:prstGeom prst="rect">
            <a:avLst/>
          </a:prstGeom>
        </p:spPr>
        <p:txBody>
          <a:bodyPr wrap="square">
            <a:spAutoFit/>
          </a:bodyPr>
          <a:lstStyle/>
          <a:p>
            <a:r>
              <a:rPr lang="en-US" sz="1400" b="1" dirty="0"/>
              <a:t>Ref 03 – Deep Learning-Based </a:t>
            </a:r>
            <a:r>
              <a:rPr lang="en-IN" sz="1400" b="1" dirty="0"/>
              <a:t>Zero-Trust Empowered Decentralized Security </a:t>
            </a:r>
            <a:r>
              <a:rPr lang="en-IN" sz="1400" b="1" dirty="0" err="1"/>
              <a:t>Defense</a:t>
            </a:r>
            <a:r>
              <a:rPr lang="en-IN" sz="1400" b="1" dirty="0"/>
              <a:t> against Poisoning Attacks in SL-IoT: Joint Distance-Accuracy Detection Approach</a:t>
            </a:r>
            <a:r>
              <a:rPr lang="en-US" sz="1400" b="1" dirty="0"/>
              <a:t>  </a:t>
            </a:r>
            <a:br>
              <a:rPr lang="en-US" sz="1400" dirty="0"/>
            </a:br>
            <a:endParaRPr lang="en-IN" sz="1400" dirty="0"/>
          </a:p>
        </p:txBody>
      </p:sp>
      <p:sp>
        <p:nvSpPr>
          <p:cNvPr id="8" name="TextBox 7"/>
          <p:cNvSpPr txBox="1"/>
          <p:nvPr/>
        </p:nvSpPr>
        <p:spPr>
          <a:xfrm>
            <a:off x="653143" y="1819469"/>
            <a:ext cx="7945445" cy="3371885"/>
          </a:xfrm>
          <a:prstGeom prst="rect">
            <a:avLst/>
          </a:prstGeom>
          <a:noFill/>
        </p:spPr>
        <p:txBody>
          <a:bodyPr wrap="none" rtlCol="0">
            <a:spAutoFit/>
          </a:bodyPr>
          <a:lstStyle/>
          <a:p>
            <a:pPr marL="285750" lvl="0" indent="-28575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Uses Zero-Trust Architecture (ZTA) for Swarm Learning. </a:t>
            </a:r>
          </a:p>
          <a:p>
            <a:pPr marL="285750" lvl="0" indent="-28575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Continuously calculates risk and node scores. </a:t>
            </a:r>
          </a:p>
          <a:p>
            <a:pPr marL="285750" lvl="0" indent="-28575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Uses Manhattan distance to detect abnormal model updates. </a:t>
            </a:r>
          </a:p>
          <a:p>
            <a:pPr marL="285750" lvl="0" indent="-28575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Uses accuracy difference to identify poisoning that distance detection may miss. </a:t>
            </a:r>
          </a:p>
          <a:p>
            <a:pPr marL="285750" lvl="0" indent="-28575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Uses two headers: </a:t>
            </a:r>
          </a:p>
          <a:p>
            <a:pPr lvl="0">
              <a:lnSpc>
                <a:spcPct val="150000"/>
              </a:lnSpc>
            </a:pPr>
            <a:r>
              <a:rPr lang="en-IN" b="1" dirty="0"/>
              <a:t>         </a:t>
            </a:r>
            <a:r>
              <a:rPr lang="en-IN" dirty="0">
                <a:latin typeface="Times New Roman" panose="02020603050405020304" pitchFamily="18" charset="0"/>
                <a:cs typeface="Times New Roman" panose="02020603050405020304" pitchFamily="18" charset="0"/>
              </a:rPr>
              <a:t>Aggregation Header: aggregates local model parameters. </a:t>
            </a:r>
          </a:p>
          <a:p>
            <a:pPr lvl="0">
              <a:lnSpc>
                <a:spcPct val="150000"/>
              </a:lnSpc>
            </a:pPr>
            <a:r>
              <a:rPr lang="en-IN" dirty="0">
                <a:latin typeface="Times New Roman" panose="02020603050405020304" pitchFamily="18" charset="0"/>
                <a:cs typeface="Times New Roman" panose="02020603050405020304" pitchFamily="18" charset="0"/>
              </a:rPr>
              <a:t>         Detection Header: checks the new global model.</a:t>
            </a:r>
          </a:p>
          <a:p>
            <a:pPr marL="285750" lvl="0" indent="-28575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Includes an extra-</a:t>
            </a:r>
            <a:r>
              <a:rPr lang="en-IN" dirty="0" err="1">
                <a:latin typeface="Times New Roman" panose="02020603050405020304" pitchFamily="18" charset="0"/>
                <a:cs typeface="Times New Roman" panose="02020603050405020304" pitchFamily="18" charset="0"/>
              </a:rPr>
              <a:t>defense</a:t>
            </a:r>
            <a:r>
              <a:rPr lang="en-IN" dirty="0">
                <a:latin typeface="Times New Roman" panose="02020603050405020304" pitchFamily="18" charset="0"/>
                <a:cs typeface="Times New Roman" panose="02020603050405020304" pitchFamily="18" charset="0"/>
              </a:rPr>
              <a:t> mechanism when malicious nodes are numerous</a:t>
            </a:r>
            <a:r>
              <a:rPr lang="en-IN" dirty="0"/>
              <a:t>.</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 y="6980"/>
            <a:ext cx="12192000" cy="837398"/>
          </a:xfrm>
          <a:prstGeom prst="rect">
            <a:avLst/>
          </a:prstGeom>
          <a:solidFill>
            <a:srgbClr val="E77E69"/>
          </a:soli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IN" dirty="0">
              <a:solidFill>
                <a:srgbClr val="FFFF00"/>
              </a:solidFill>
              <a:latin typeface="Times New Roman" panose="02020603050405020304" pitchFamily="18" charset="0"/>
              <a:cs typeface="Times New Roman" panose="02020603050405020304" pitchFamily="18" charset="0"/>
            </a:endParaRPr>
          </a:p>
        </p:txBody>
      </p:sp>
      <p:sp>
        <p:nvSpPr>
          <p:cNvPr id="5" name="Rectangle 4"/>
          <p:cNvSpPr/>
          <p:nvPr/>
        </p:nvSpPr>
        <p:spPr>
          <a:xfrm>
            <a:off x="0" y="6451517"/>
            <a:ext cx="12192000" cy="393289"/>
          </a:xfrm>
          <a:prstGeom prst="rect">
            <a:avLst/>
          </a:prstGeom>
          <a:solidFill>
            <a:srgbClr val="E77E69"/>
          </a:soli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IN"/>
          </a:p>
        </p:txBody>
      </p:sp>
      <p:sp>
        <p:nvSpPr>
          <p:cNvPr id="11" name="Date Placeholder 10"/>
          <p:cNvSpPr>
            <a:spLocks noGrp="1"/>
          </p:cNvSpPr>
          <p:nvPr>
            <p:ph type="dt" sz="half" idx="10"/>
          </p:nvPr>
        </p:nvSpPr>
        <p:spPr>
          <a:xfrm>
            <a:off x="0" y="6460922"/>
            <a:ext cx="997974" cy="365125"/>
          </a:xfrm>
        </p:spPr>
        <p:txBody>
          <a:bodyPr/>
          <a:lstStyle/>
          <a:p>
            <a:fld id="{C72AAC90-D07C-417D-96C6-81B39DB87062}" type="datetime1">
              <a:rPr lang="en-IN" smtClean="0">
                <a:solidFill>
                  <a:schemeClr val="tx1"/>
                </a:solidFill>
              </a:rPr>
              <a:t>16-09-2026</a:t>
            </a:fld>
            <a:endParaRPr lang="en-IN" dirty="0">
              <a:solidFill>
                <a:schemeClr val="tx1"/>
              </a:solidFill>
            </a:endParaRPr>
          </a:p>
        </p:txBody>
      </p:sp>
      <p:sp>
        <p:nvSpPr>
          <p:cNvPr id="13" name="Slide Number Placeholder 12"/>
          <p:cNvSpPr>
            <a:spLocks noGrp="1"/>
          </p:cNvSpPr>
          <p:nvPr>
            <p:ph type="sldNum" sz="quarter" idx="12"/>
          </p:nvPr>
        </p:nvSpPr>
        <p:spPr>
          <a:xfrm>
            <a:off x="11227443" y="6478792"/>
            <a:ext cx="876067" cy="379208"/>
          </a:xfrm>
        </p:spPr>
        <p:txBody>
          <a:bodyPr/>
          <a:lstStyle/>
          <a:p>
            <a:fld id="{0F06A4E2-163B-4ABA-8562-AD05AC3F17C5}" type="slidenum">
              <a:rPr lang="en-IN" sz="1800" smtClean="0">
                <a:solidFill>
                  <a:schemeClr val="tx1"/>
                </a:solidFill>
              </a:rPr>
              <a:t>16</a:t>
            </a:fld>
            <a:endParaRPr lang="en-IN" sz="1800" dirty="0">
              <a:solidFill>
                <a:schemeClr val="tx1"/>
              </a:solidFill>
            </a:endParaRPr>
          </a:p>
        </p:txBody>
      </p:sp>
      <p:sp>
        <p:nvSpPr>
          <p:cNvPr id="15" name="TextBox 14"/>
          <p:cNvSpPr txBox="1"/>
          <p:nvPr/>
        </p:nvSpPr>
        <p:spPr>
          <a:xfrm flipH="1">
            <a:off x="135928" y="877163"/>
            <a:ext cx="2063808" cy="400110"/>
          </a:xfrm>
          <a:prstGeom prst="rect">
            <a:avLst/>
          </a:prstGeom>
          <a:noFill/>
        </p:spPr>
        <p:txBody>
          <a:bodyPr wrap="square" rtlCol="0">
            <a:spAutoFit/>
          </a:bodyPr>
          <a:lstStyle/>
          <a:p>
            <a:r>
              <a:rPr lang="en-IN" sz="2000" dirty="0">
                <a:latin typeface="Times New Roman" panose="02020603050405020304" pitchFamily="18" charset="0"/>
                <a:cs typeface="Times New Roman" panose="02020603050405020304" pitchFamily="18" charset="0"/>
              </a:rPr>
              <a:t>Literature Review</a:t>
            </a:r>
          </a:p>
        </p:txBody>
      </p:sp>
      <p:sp>
        <p:nvSpPr>
          <p:cNvPr id="2" name="TextBox 1"/>
          <p:cNvSpPr txBox="1"/>
          <p:nvPr/>
        </p:nvSpPr>
        <p:spPr>
          <a:xfrm>
            <a:off x="8955476" y="31393"/>
            <a:ext cx="3148033" cy="830997"/>
          </a:xfrm>
          <a:prstGeom prst="rect">
            <a:avLst/>
          </a:prstGeom>
          <a:noFill/>
        </p:spPr>
        <p:txBody>
          <a:bodyPr wrap="square" rtlCol="0">
            <a:spAutoFit/>
          </a:bodyPr>
          <a:lstStyle/>
          <a:p>
            <a:r>
              <a:rPr lang="en-IN" sz="1200" dirty="0">
                <a:latin typeface="Times New Roman" panose="02020603050405020304" pitchFamily="18" charset="0"/>
                <a:cs typeface="Times New Roman" panose="02020603050405020304" pitchFamily="18" charset="0"/>
              </a:rPr>
              <a:t>Guide: Mrs. B. Lalitha Rajeswari</a:t>
            </a:r>
          </a:p>
          <a:p>
            <a:r>
              <a:rPr lang="en-IN" sz="1200" dirty="0">
                <a:latin typeface="Times New Roman" panose="02020603050405020304" pitchFamily="18" charset="0"/>
                <a:cs typeface="Times New Roman" panose="02020603050405020304" pitchFamily="18" charset="0"/>
              </a:rPr>
              <a:t>Batch ID: A14</a:t>
            </a:r>
          </a:p>
          <a:p>
            <a:r>
              <a:rPr lang="en-IN" sz="1200" dirty="0">
                <a:latin typeface="Times New Roman" panose="02020603050405020304" pitchFamily="18" charset="0"/>
                <a:cs typeface="Times New Roman" panose="02020603050405020304" pitchFamily="18" charset="0"/>
              </a:rPr>
              <a:t>23BQ1A6129(TL),	23BQ1A6136,</a:t>
            </a:r>
          </a:p>
          <a:p>
            <a:r>
              <a:rPr lang="en-IN" sz="1200" dirty="0">
                <a:latin typeface="Times New Roman" panose="02020603050405020304" pitchFamily="18" charset="0"/>
                <a:cs typeface="Times New Roman" panose="02020603050405020304" pitchFamily="18" charset="0"/>
              </a:rPr>
              <a:t>23BQ1A6123,                         24BQ5A6125</a:t>
            </a:r>
            <a:endParaRPr lang="en-IN" sz="1200" dirty="0"/>
          </a:p>
        </p:txBody>
      </p:sp>
      <p:pic>
        <p:nvPicPr>
          <p:cNvPr id="3" name="Picture 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4186" y="92353"/>
            <a:ext cx="993618" cy="693462"/>
          </a:xfrm>
          <a:prstGeom prst="rect">
            <a:avLst/>
          </a:prstGeom>
        </p:spPr>
      </p:pic>
      <p:sp>
        <p:nvSpPr>
          <p:cNvPr id="14" name="TextBox 13"/>
          <p:cNvSpPr txBox="1"/>
          <p:nvPr/>
        </p:nvSpPr>
        <p:spPr>
          <a:xfrm>
            <a:off x="1531467" y="82617"/>
            <a:ext cx="7424010" cy="646331"/>
          </a:xfrm>
          <a:prstGeom prst="rect">
            <a:avLst/>
          </a:prstGeom>
          <a:noFill/>
        </p:spPr>
        <p:txBody>
          <a:bodyPr wrap="square" rtlCol="0">
            <a:spAutoFit/>
          </a:bodyPr>
          <a:lstStyle/>
          <a:p>
            <a:r>
              <a:rPr lang="en-IN" dirty="0">
                <a:latin typeface="Times New Roman" panose="02020603050405020304" pitchFamily="18" charset="0"/>
                <a:cs typeface="Times New Roman" panose="02020603050405020304" pitchFamily="18" charset="0"/>
              </a:rPr>
              <a:t>Contribution-Aware Trust Mechanism for Poisoning Attack Detection in Swarm Learning</a:t>
            </a:r>
          </a:p>
        </p:txBody>
      </p:sp>
      <p:sp>
        <p:nvSpPr>
          <p:cNvPr id="16" name="Footer Placeholder 11"/>
          <p:cNvSpPr>
            <a:spLocks noGrp="1"/>
          </p:cNvSpPr>
          <p:nvPr>
            <p:ph type="ftr" sz="quarter" idx="11"/>
          </p:nvPr>
        </p:nvSpPr>
        <p:spPr>
          <a:xfrm>
            <a:off x="3999271" y="6460922"/>
            <a:ext cx="4114800" cy="365125"/>
          </a:xfrm>
        </p:spPr>
        <p:txBody>
          <a:bodyPr/>
          <a:lstStyle/>
          <a:p>
            <a:r>
              <a:rPr lang="en-IN" dirty="0">
                <a:solidFill>
                  <a:schemeClr val="tx1"/>
                </a:solidFill>
              </a:rPr>
              <a:t>Dept. CSM @ VVIT</a:t>
            </a:r>
          </a:p>
        </p:txBody>
      </p:sp>
      <p:sp>
        <p:nvSpPr>
          <p:cNvPr id="17" name="TextBox 16"/>
          <p:cNvSpPr txBox="1"/>
          <p:nvPr/>
        </p:nvSpPr>
        <p:spPr>
          <a:xfrm flipH="1">
            <a:off x="135928" y="1326501"/>
            <a:ext cx="11920141" cy="307777"/>
          </a:xfrm>
          <a:prstGeom prst="rect">
            <a:avLst/>
          </a:prstGeom>
          <a:noFill/>
        </p:spPr>
        <p:txBody>
          <a:bodyPr wrap="square" rtlCol="0">
            <a:spAutoFit/>
          </a:bodyPr>
          <a:lstStyle/>
          <a:p>
            <a:r>
              <a:rPr lang="en-IN" sz="1400" dirty="0">
                <a:solidFill>
                  <a:schemeClr val="bg1">
                    <a:lumMod val="75000"/>
                  </a:schemeClr>
                </a:solidFill>
                <a:latin typeface="Times New Roman" panose="02020603050405020304" pitchFamily="18" charset="0"/>
                <a:cs typeface="Times New Roman" panose="02020603050405020304" pitchFamily="18" charset="0"/>
              </a:rPr>
              <a:t>| Proposed Method </a:t>
            </a:r>
            <a:r>
              <a:rPr lang="en-IN" sz="1400" dirty="0">
                <a:latin typeface="Times New Roman" panose="02020603050405020304" pitchFamily="18" charset="0"/>
                <a:cs typeface="Times New Roman" panose="02020603050405020304" pitchFamily="18" charset="0"/>
              </a:rPr>
              <a:t>| Data &amp; Setup | </a:t>
            </a:r>
            <a:r>
              <a:rPr lang="en-IN" sz="1400" dirty="0">
                <a:solidFill>
                  <a:schemeClr val="bg1">
                    <a:lumMod val="75000"/>
                  </a:schemeClr>
                </a:solidFill>
                <a:latin typeface="Times New Roman" panose="02020603050405020304" pitchFamily="18" charset="0"/>
                <a:cs typeface="Times New Roman" panose="02020603050405020304" pitchFamily="18" charset="0"/>
              </a:rPr>
              <a:t>key Results | Strengths &amp; Limitations | Relevance to my research |</a:t>
            </a:r>
          </a:p>
        </p:txBody>
      </p:sp>
      <p:sp>
        <p:nvSpPr>
          <p:cNvPr id="6" name="Rectangle 5"/>
          <p:cNvSpPr/>
          <p:nvPr/>
        </p:nvSpPr>
        <p:spPr>
          <a:xfrm>
            <a:off x="2082799" y="862390"/>
            <a:ext cx="10020709" cy="523220"/>
          </a:xfrm>
          <a:prstGeom prst="rect">
            <a:avLst/>
          </a:prstGeom>
        </p:spPr>
        <p:txBody>
          <a:bodyPr wrap="square">
            <a:spAutoFit/>
          </a:bodyPr>
          <a:lstStyle/>
          <a:p>
            <a:r>
              <a:rPr lang="en-US" sz="1400" b="1" dirty="0"/>
              <a:t>Ref 03 – Deep Learning-Based  </a:t>
            </a:r>
            <a:r>
              <a:rPr lang="en-IN" sz="1400" b="1" dirty="0"/>
              <a:t>Zero-Trust Empowered Decentralized Security </a:t>
            </a:r>
            <a:r>
              <a:rPr lang="en-IN" sz="1400" b="1" dirty="0" err="1"/>
              <a:t>Defense</a:t>
            </a:r>
            <a:r>
              <a:rPr lang="en-IN" sz="1400" b="1" dirty="0"/>
              <a:t> against Poisoning Attacks in SL-IoT: Joint Distance-Accuracy Detection Approach</a:t>
            </a:r>
            <a:endParaRPr lang="en-IN" sz="1400" dirty="0"/>
          </a:p>
        </p:txBody>
      </p:sp>
      <p:sp>
        <p:nvSpPr>
          <p:cNvPr id="7" name="TextBox 6"/>
          <p:cNvSpPr txBox="1"/>
          <p:nvPr/>
        </p:nvSpPr>
        <p:spPr>
          <a:xfrm>
            <a:off x="597159" y="1838131"/>
            <a:ext cx="11823621" cy="3277820"/>
          </a:xfrm>
          <a:prstGeom prst="rect">
            <a:avLst/>
          </a:prstGeom>
          <a:noFill/>
        </p:spPr>
        <p:txBody>
          <a:bodyPr wrap="none" rtlCol="0">
            <a:spAutoFit/>
          </a:bodyPr>
          <a:lstStyle/>
          <a:p>
            <a:pPr>
              <a:lnSpc>
                <a:spcPct val="150000"/>
              </a:lnSpc>
            </a:pPr>
            <a:r>
              <a:rPr lang="en-IN" dirty="0">
                <a:latin typeface="Times New Roman" panose="02020603050405020304" pitchFamily="18" charset="0"/>
                <a:cs typeface="Times New Roman" panose="02020603050405020304" pitchFamily="18" charset="0"/>
              </a:rPr>
              <a:t>Datasets: MNIST and CIFAR-10.</a:t>
            </a:r>
          </a:p>
          <a:p>
            <a:pPr>
              <a:lnSpc>
                <a:spcPct val="150000"/>
              </a:lnSpc>
            </a:pPr>
            <a:r>
              <a:rPr lang="en-IN" dirty="0">
                <a:latin typeface="Times New Roman" panose="02020603050405020304" pitchFamily="18" charset="0"/>
                <a:cs typeface="Times New Roman" panose="02020603050405020304" pitchFamily="18" charset="0"/>
              </a:rPr>
              <a:t>• Framework: Flower framework for decentralized learning experiments.</a:t>
            </a:r>
          </a:p>
          <a:p>
            <a:pPr>
              <a:lnSpc>
                <a:spcPct val="150000"/>
              </a:lnSpc>
            </a:pPr>
            <a:r>
              <a:rPr lang="en-IN" dirty="0">
                <a:latin typeface="Times New Roman" panose="02020603050405020304" pitchFamily="18" charset="0"/>
                <a:cs typeface="Times New Roman" panose="02020603050405020304" pitchFamily="18" charset="0"/>
              </a:rPr>
              <a:t>• Nodes: 8 machine-learning nodes participating in Swarm Learning.</a:t>
            </a:r>
          </a:p>
          <a:p>
            <a:pPr>
              <a:lnSpc>
                <a:spcPct val="150000"/>
              </a:lnSpc>
            </a:pPr>
            <a:r>
              <a:rPr lang="en-IN" dirty="0">
                <a:latin typeface="Times New Roman" panose="02020603050405020304" pitchFamily="18" charset="0"/>
                <a:cs typeface="Times New Roman" panose="02020603050405020304" pitchFamily="18" charset="0"/>
              </a:rPr>
              <a:t>• Data Distribution: Each node receives approximately 3% of the MNIST training data and 8% of the CIFAR-10 training data.</a:t>
            </a:r>
          </a:p>
          <a:p>
            <a:pPr>
              <a:lnSpc>
                <a:spcPct val="150000"/>
              </a:lnSpc>
            </a:pPr>
            <a:r>
              <a:rPr lang="en-IN" dirty="0">
                <a:latin typeface="Times New Roman" panose="02020603050405020304" pitchFamily="18" charset="0"/>
                <a:cs typeface="Times New Roman" panose="02020603050405020304" pitchFamily="18" charset="0"/>
              </a:rPr>
              <a:t>• Federation: Experiments are conducted with multiple participating nodes under Swarm Learning.</a:t>
            </a:r>
          </a:p>
          <a:p>
            <a:pPr>
              <a:lnSpc>
                <a:spcPct val="150000"/>
              </a:lnSpc>
            </a:pPr>
            <a:r>
              <a:rPr lang="en-IN" dirty="0">
                <a:latin typeface="Times New Roman" panose="02020603050405020304" pitchFamily="18" charset="0"/>
                <a:cs typeface="Times New Roman" panose="02020603050405020304" pitchFamily="18" charset="0"/>
              </a:rPr>
              <a:t>• Attacks: Random Attacker (RA) and Specialized Aggregation Attacker (SA).</a:t>
            </a:r>
          </a:p>
          <a:p>
            <a:pPr>
              <a:lnSpc>
                <a:spcPct val="150000"/>
              </a:lnSpc>
            </a:pPr>
            <a:r>
              <a:rPr lang="en-IN" dirty="0">
                <a:latin typeface="Times New Roman" panose="02020603050405020304" pitchFamily="18" charset="0"/>
                <a:cs typeface="Times New Roman" panose="02020603050405020304" pitchFamily="18" charset="0"/>
              </a:rPr>
              <a:t>• Hardware: Intel Xeon Gold 6226R CPU and NVIDIA RTX A5500 GPU.</a:t>
            </a:r>
          </a:p>
          <a:p>
            <a:endParaRPr lang="en-IN"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 y="6980"/>
            <a:ext cx="12192000" cy="837398"/>
          </a:xfrm>
          <a:prstGeom prst="rect">
            <a:avLst/>
          </a:prstGeom>
          <a:solidFill>
            <a:srgbClr val="E77E69"/>
          </a:soli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IN" dirty="0">
              <a:solidFill>
                <a:srgbClr val="FFFF00"/>
              </a:solidFill>
              <a:latin typeface="Times New Roman" panose="02020603050405020304" pitchFamily="18" charset="0"/>
              <a:cs typeface="Times New Roman" panose="02020603050405020304" pitchFamily="18" charset="0"/>
            </a:endParaRPr>
          </a:p>
        </p:txBody>
      </p:sp>
      <p:sp>
        <p:nvSpPr>
          <p:cNvPr id="5" name="Rectangle 4"/>
          <p:cNvSpPr/>
          <p:nvPr/>
        </p:nvSpPr>
        <p:spPr>
          <a:xfrm>
            <a:off x="0" y="6451517"/>
            <a:ext cx="12192000" cy="393289"/>
          </a:xfrm>
          <a:prstGeom prst="rect">
            <a:avLst/>
          </a:prstGeom>
          <a:solidFill>
            <a:srgbClr val="E77E69"/>
          </a:soli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IN"/>
          </a:p>
        </p:txBody>
      </p:sp>
      <p:sp>
        <p:nvSpPr>
          <p:cNvPr id="11" name="Date Placeholder 10"/>
          <p:cNvSpPr>
            <a:spLocks noGrp="1"/>
          </p:cNvSpPr>
          <p:nvPr>
            <p:ph type="dt" sz="half" idx="10"/>
          </p:nvPr>
        </p:nvSpPr>
        <p:spPr>
          <a:xfrm>
            <a:off x="0" y="6460922"/>
            <a:ext cx="997974" cy="365125"/>
          </a:xfrm>
        </p:spPr>
        <p:txBody>
          <a:bodyPr/>
          <a:lstStyle/>
          <a:p>
            <a:fld id="{C72AAC90-D07C-417D-96C6-81B39DB87062}" type="datetime1">
              <a:rPr lang="en-IN" smtClean="0">
                <a:solidFill>
                  <a:schemeClr val="tx1"/>
                </a:solidFill>
              </a:rPr>
              <a:t>16-09-2026</a:t>
            </a:fld>
            <a:endParaRPr lang="en-IN" dirty="0">
              <a:solidFill>
                <a:schemeClr val="tx1"/>
              </a:solidFill>
            </a:endParaRPr>
          </a:p>
        </p:txBody>
      </p:sp>
      <p:sp>
        <p:nvSpPr>
          <p:cNvPr id="13" name="Slide Number Placeholder 12"/>
          <p:cNvSpPr>
            <a:spLocks noGrp="1"/>
          </p:cNvSpPr>
          <p:nvPr>
            <p:ph type="sldNum" sz="quarter" idx="12"/>
          </p:nvPr>
        </p:nvSpPr>
        <p:spPr>
          <a:xfrm>
            <a:off x="11227443" y="6478792"/>
            <a:ext cx="876067" cy="379208"/>
          </a:xfrm>
        </p:spPr>
        <p:txBody>
          <a:bodyPr/>
          <a:lstStyle/>
          <a:p>
            <a:fld id="{0F06A4E2-163B-4ABA-8562-AD05AC3F17C5}" type="slidenum">
              <a:rPr lang="en-IN" sz="1800" smtClean="0">
                <a:solidFill>
                  <a:schemeClr val="tx1"/>
                </a:solidFill>
              </a:rPr>
              <a:t>17</a:t>
            </a:fld>
            <a:endParaRPr lang="en-IN" sz="1800" dirty="0">
              <a:solidFill>
                <a:schemeClr val="tx1"/>
              </a:solidFill>
            </a:endParaRPr>
          </a:p>
        </p:txBody>
      </p:sp>
      <p:sp>
        <p:nvSpPr>
          <p:cNvPr id="15" name="TextBox 14"/>
          <p:cNvSpPr txBox="1"/>
          <p:nvPr/>
        </p:nvSpPr>
        <p:spPr>
          <a:xfrm flipH="1">
            <a:off x="135928" y="877163"/>
            <a:ext cx="2063808" cy="400110"/>
          </a:xfrm>
          <a:prstGeom prst="rect">
            <a:avLst/>
          </a:prstGeom>
          <a:noFill/>
        </p:spPr>
        <p:txBody>
          <a:bodyPr wrap="square" rtlCol="0">
            <a:spAutoFit/>
          </a:bodyPr>
          <a:lstStyle/>
          <a:p>
            <a:r>
              <a:rPr lang="en-IN" sz="2000" dirty="0">
                <a:latin typeface="Times New Roman" panose="02020603050405020304" pitchFamily="18" charset="0"/>
                <a:cs typeface="Times New Roman" panose="02020603050405020304" pitchFamily="18" charset="0"/>
              </a:rPr>
              <a:t>Literature Review</a:t>
            </a:r>
          </a:p>
        </p:txBody>
      </p:sp>
      <p:sp>
        <p:nvSpPr>
          <p:cNvPr id="2" name="TextBox 1"/>
          <p:cNvSpPr txBox="1"/>
          <p:nvPr/>
        </p:nvSpPr>
        <p:spPr>
          <a:xfrm>
            <a:off x="8955476" y="31393"/>
            <a:ext cx="3148033" cy="830997"/>
          </a:xfrm>
          <a:prstGeom prst="rect">
            <a:avLst/>
          </a:prstGeom>
          <a:noFill/>
        </p:spPr>
        <p:txBody>
          <a:bodyPr wrap="square" rtlCol="0">
            <a:spAutoFit/>
          </a:bodyPr>
          <a:lstStyle/>
          <a:p>
            <a:r>
              <a:rPr lang="en-IN" sz="1200" dirty="0">
                <a:latin typeface="Times New Roman" panose="02020603050405020304" pitchFamily="18" charset="0"/>
                <a:cs typeface="Times New Roman" panose="02020603050405020304" pitchFamily="18" charset="0"/>
              </a:rPr>
              <a:t>Guide: Mrs. B. Lalitha Rajeswari</a:t>
            </a:r>
          </a:p>
          <a:p>
            <a:r>
              <a:rPr lang="en-IN" sz="1200" dirty="0">
                <a:latin typeface="Times New Roman" panose="02020603050405020304" pitchFamily="18" charset="0"/>
                <a:cs typeface="Times New Roman" panose="02020603050405020304" pitchFamily="18" charset="0"/>
              </a:rPr>
              <a:t>Batch ID: A14</a:t>
            </a:r>
          </a:p>
          <a:p>
            <a:r>
              <a:rPr lang="en-IN" sz="1200" dirty="0">
                <a:latin typeface="Times New Roman" panose="02020603050405020304" pitchFamily="18" charset="0"/>
                <a:cs typeface="Times New Roman" panose="02020603050405020304" pitchFamily="18" charset="0"/>
              </a:rPr>
              <a:t>23BQ1A6129(TL),	23BQ1A6136,</a:t>
            </a:r>
          </a:p>
          <a:p>
            <a:r>
              <a:rPr lang="en-IN" sz="1200" dirty="0">
                <a:latin typeface="Times New Roman" panose="02020603050405020304" pitchFamily="18" charset="0"/>
                <a:cs typeface="Times New Roman" panose="02020603050405020304" pitchFamily="18" charset="0"/>
              </a:rPr>
              <a:t>23BQ1A6123,                         24BQ5A6125</a:t>
            </a:r>
            <a:endParaRPr lang="en-IN" sz="1200" dirty="0"/>
          </a:p>
        </p:txBody>
      </p:sp>
      <p:pic>
        <p:nvPicPr>
          <p:cNvPr id="3" name="Picture 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4186" y="92353"/>
            <a:ext cx="993618" cy="693462"/>
          </a:xfrm>
          <a:prstGeom prst="rect">
            <a:avLst/>
          </a:prstGeom>
        </p:spPr>
      </p:pic>
      <p:sp>
        <p:nvSpPr>
          <p:cNvPr id="14" name="TextBox 13"/>
          <p:cNvSpPr txBox="1"/>
          <p:nvPr/>
        </p:nvSpPr>
        <p:spPr>
          <a:xfrm>
            <a:off x="1531467" y="82617"/>
            <a:ext cx="7424010" cy="646331"/>
          </a:xfrm>
          <a:prstGeom prst="rect">
            <a:avLst/>
          </a:prstGeom>
          <a:noFill/>
        </p:spPr>
        <p:txBody>
          <a:bodyPr wrap="square" rtlCol="0">
            <a:spAutoFit/>
          </a:bodyPr>
          <a:lstStyle/>
          <a:p>
            <a:r>
              <a:rPr lang="en-IN" dirty="0">
                <a:latin typeface="Times New Roman" panose="02020603050405020304" pitchFamily="18" charset="0"/>
                <a:cs typeface="Times New Roman" panose="02020603050405020304" pitchFamily="18" charset="0"/>
              </a:rPr>
              <a:t>Contribution-Aware Trust Mechanism for Poisoning Attack Detection in Swarm Learning</a:t>
            </a:r>
          </a:p>
        </p:txBody>
      </p:sp>
      <p:sp>
        <p:nvSpPr>
          <p:cNvPr id="16" name="Footer Placeholder 11"/>
          <p:cNvSpPr>
            <a:spLocks noGrp="1"/>
          </p:cNvSpPr>
          <p:nvPr>
            <p:ph type="ftr" sz="quarter" idx="11"/>
          </p:nvPr>
        </p:nvSpPr>
        <p:spPr>
          <a:xfrm>
            <a:off x="3999271" y="6460922"/>
            <a:ext cx="4114800" cy="365125"/>
          </a:xfrm>
        </p:spPr>
        <p:txBody>
          <a:bodyPr/>
          <a:lstStyle/>
          <a:p>
            <a:r>
              <a:rPr lang="en-IN" dirty="0">
                <a:solidFill>
                  <a:schemeClr val="tx1"/>
                </a:solidFill>
              </a:rPr>
              <a:t>Dept. CSM @ VVIT</a:t>
            </a:r>
          </a:p>
        </p:txBody>
      </p:sp>
      <p:sp>
        <p:nvSpPr>
          <p:cNvPr id="17" name="TextBox 16"/>
          <p:cNvSpPr txBox="1"/>
          <p:nvPr/>
        </p:nvSpPr>
        <p:spPr>
          <a:xfrm flipH="1">
            <a:off x="135928" y="1326501"/>
            <a:ext cx="11920141" cy="307777"/>
          </a:xfrm>
          <a:prstGeom prst="rect">
            <a:avLst/>
          </a:prstGeom>
          <a:noFill/>
        </p:spPr>
        <p:txBody>
          <a:bodyPr wrap="square" rtlCol="0">
            <a:spAutoFit/>
          </a:bodyPr>
          <a:lstStyle/>
          <a:p>
            <a:r>
              <a:rPr lang="en-IN" sz="1400" dirty="0">
                <a:solidFill>
                  <a:schemeClr val="bg1">
                    <a:lumMod val="75000"/>
                  </a:schemeClr>
                </a:solidFill>
                <a:latin typeface="Times New Roman" panose="02020603050405020304" pitchFamily="18" charset="0"/>
                <a:cs typeface="Times New Roman" panose="02020603050405020304" pitchFamily="18" charset="0"/>
              </a:rPr>
              <a:t>| Proposed Method | Data &amp; Setup </a:t>
            </a:r>
            <a:r>
              <a:rPr lang="en-IN" sz="1400" dirty="0">
                <a:latin typeface="Times New Roman" panose="02020603050405020304" pitchFamily="18" charset="0"/>
                <a:cs typeface="Times New Roman" panose="02020603050405020304" pitchFamily="18" charset="0"/>
              </a:rPr>
              <a:t>| key Results | </a:t>
            </a:r>
            <a:r>
              <a:rPr lang="en-IN" sz="1400" dirty="0">
                <a:solidFill>
                  <a:schemeClr val="bg1">
                    <a:lumMod val="75000"/>
                  </a:schemeClr>
                </a:solidFill>
                <a:latin typeface="Times New Roman" panose="02020603050405020304" pitchFamily="18" charset="0"/>
                <a:cs typeface="Times New Roman" panose="02020603050405020304" pitchFamily="18" charset="0"/>
              </a:rPr>
              <a:t>Strengths &amp; Limitations | Relevance to my research |</a:t>
            </a:r>
          </a:p>
        </p:txBody>
      </p:sp>
      <p:sp>
        <p:nvSpPr>
          <p:cNvPr id="6" name="Rectangle 5"/>
          <p:cNvSpPr/>
          <p:nvPr/>
        </p:nvSpPr>
        <p:spPr>
          <a:xfrm>
            <a:off x="2082799" y="862390"/>
            <a:ext cx="10020709" cy="523220"/>
          </a:xfrm>
          <a:prstGeom prst="rect">
            <a:avLst/>
          </a:prstGeom>
        </p:spPr>
        <p:txBody>
          <a:bodyPr wrap="square">
            <a:spAutoFit/>
          </a:bodyPr>
          <a:lstStyle/>
          <a:p>
            <a:r>
              <a:rPr lang="en-US" sz="1400" b="1" dirty="0"/>
              <a:t>Ref 03 – Deep Learning-Based  </a:t>
            </a:r>
            <a:r>
              <a:rPr lang="en-IN" sz="1400" b="1" dirty="0"/>
              <a:t>Zero-Trust Empowered Decentralized Security </a:t>
            </a:r>
            <a:r>
              <a:rPr lang="en-IN" sz="1400" b="1" dirty="0" err="1"/>
              <a:t>Defense</a:t>
            </a:r>
            <a:r>
              <a:rPr lang="en-IN" sz="1400" b="1" dirty="0"/>
              <a:t> against Poisoning Attacks in SL-IoT: Joint Distance-Accuracy Detection Approach</a:t>
            </a:r>
            <a:endParaRPr lang="en-IN" sz="1400" dirty="0"/>
          </a:p>
        </p:txBody>
      </p:sp>
      <p:sp>
        <p:nvSpPr>
          <p:cNvPr id="8" name="TextBox 7"/>
          <p:cNvSpPr txBox="1"/>
          <p:nvPr/>
        </p:nvSpPr>
        <p:spPr>
          <a:xfrm>
            <a:off x="354563" y="2098389"/>
            <a:ext cx="11411339" cy="3277820"/>
          </a:xfrm>
          <a:prstGeom prst="rect">
            <a:avLst/>
          </a:prstGeom>
          <a:noFill/>
        </p:spPr>
        <p:txBody>
          <a:bodyPr wrap="square" rtlCol="0">
            <a:spAutoFit/>
          </a:bodyPr>
          <a:lstStyle/>
          <a:p>
            <a:pPr>
              <a:lnSpc>
                <a:spcPct val="150000"/>
              </a:lnSpc>
            </a:pPr>
            <a:r>
              <a:rPr lang="en-IN" dirty="0">
                <a:latin typeface="Times New Roman" panose="02020603050405020304" pitchFamily="18" charset="0"/>
                <a:cs typeface="Times New Roman" panose="02020603050405020304" pitchFamily="18" charset="0"/>
              </a:rPr>
              <a:t>• Improved global model accuracy compared with existing </a:t>
            </a:r>
            <a:r>
              <a:rPr lang="en-IN" dirty="0" err="1">
                <a:latin typeface="Times New Roman" panose="02020603050405020304" pitchFamily="18" charset="0"/>
                <a:cs typeface="Times New Roman" panose="02020603050405020304" pitchFamily="18" charset="0"/>
              </a:rPr>
              <a:t>defense</a:t>
            </a:r>
            <a:r>
              <a:rPr lang="en-IN" dirty="0">
                <a:latin typeface="Times New Roman" panose="02020603050405020304" pitchFamily="18" charset="0"/>
                <a:cs typeface="Times New Roman" panose="02020603050405020304" pitchFamily="18" charset="0"/>
              </a:rPr>
              <a:t> schemes in most experimental cases.</a:t>
            </a:r>
          </a:p>
          <a:p>
            <a:pPr>
              <a:lnSpc>
                <a:spcPct val="150000"/>
              </a:lnSpc>
            </a:pPr>
            <a:r>
              <a:rPr lang="en-IN" dirty="0">
                <a:latin typeface="Times New Roman" panose="02020603050405020304" pitchFamily="18" charset="0"/>
                <a:cs typeface="Times New Roman" panose="02020603050405020304" pitchFamily="18" charset="0"/>
              </a:rPr>
              <a:t>• Effective against Random Attacker (RA) and Specialized Aggregation Attacker (SA) poisoning attacks.</a:t>
            </a:r>
          </a:p>
          <a:p>
            <a:pPr>
              <a:lnSpc>
                <a:spcPct val="150000"/>
              </a:lnSpc>
            </a:pPr>
            <a:r>
              <a:rPr lang="en-IN" dirty="0">
                <a:latin typeface="Times New Roman" panose="02020603050405020304" pitchFamily="18" charset="0"/>
                <a:cs typeface="Times New Roman" panose="02020603050405020304" pitchFamily="18" charset="0"/>
              </a:rPr>
              <a:t>• Successfully handles malicious header nodes in the Swarm Learning environment.</a:t>
            </a:r>
          </a:p>
          <a:p>
            <a:pPr>
              <a:lnSpc>
                <a:spcPct val="150000"/>
              </a:lnSpc>
            </a:pPr>
            <a:r>
              <a:rPr lang="en-IN" dirty="0">
                <a:latin typeface="Times New Roman" panose="02020603050405020304" pitchFamily="18" charset="0"/>
                <a:cs typeface="Times New Roman" panose="02020603050405020304" pitchFamily="18" charset="0"/>
              </a:rPr>
              <a:t>• Joint distance-accuracy detection improves the identification of abnormal or poisoned model updates.</a:t>
            </a:r>
          </a:p>
          <a:p>
            <a:pPr>
              <a:lnSpc>
                <a:spcPct val="150000"/>
              </a:lnSpc>
            </a:pPr>
            <a:r>
              <a:rPr lang="en-IN" dirty="0">
                <a:latin typeface="Times New Roman" panose="02020603050405020304" pitchFamily="18" charset="0"/>
                <a:cs typeface="Times New Roman" panose="02020603050405020304" pitchFamily="18" charset="0"/>
              </a:rPr>
              <a:t>• Risk/credit-based header selection reduces the possibility of repeatedly selecting unreliable or malicious nodes.</a:t>
            </a:r>
          </a:p>
          <a:p>
            <a:pPr>
              <a:lnSpc>
                <a:spcPct val="150000"/>
              </a:lnSpc>
            </a:pPr>
            <a:r>
              <a:rPr lang="en-IN" dirty="0">
                <a:latin typeface="Times New Roman" panose="02020603050405020304" pitchFamily="18" charset="0"/>
                <a:cs typeface="Times New Roman" panose="02020603050405020304" pitchFamily="18" charset="0"/>
              </a:rPr>
              <a:t>• Achieved better robustness under high attack ratios, although specialized attacks and many-attacker scenarios remain challenging.</a:t>
            </a:r>
          </a:p>
          <a:p>
            <a:endParaRPr lang="en-IN"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 y="6980"/>
            <a:ext cx="12192000" cy="837398"/>
          </a:xfrm>
          <a:prstGeom prst="rect">
            <a:avLst/>
          </a:prstGeom>
          <a:solidFill>
            <a:srgbClr val="E77E69"/>
          </a:soli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IN" dirty="0">
              <a:solidFill>
                <a:srgbClr val="FFFF00"/>
              </a:solidFill>
              <a:latin typeface="Times New Roman" panose="02020603050405020304" pitchFamily="18" charset="0"/>
              <a:cs typeface="Times New Roman" panose="02020603050405020304" pitchFamily="18" charset="0"/>
            </a:endParaRPr>
          </a:p>
        </p:txBody>
      </p:sp>
      <p:sp>
        <p:nvSpPr>
          <p:cNvPr id="5" name="Rectangle 4"/>
          <p:cNvSpPr/>
          <p:nvPr/>
        </p:nvSpPr>
        <p:spPr>
          <a:xfrm>
            <a:off x="0" y="6451517"/>
            <a:ext cx="12192000" cy="393289"/>
          </a:xfrm>
          <a:prstGeom prst="rect">
            <a:avLst/>
          </a:prstGeom>
          <a:solidFill>
            <a:srgbClr val="E77E69"/>
          </a:soli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IN"/>
          </a:p>
        </p:txBody>
      </p:sp>
      <p:sp>
        <p:nvSpPr>
          <p:cNvPr id="11" name="Date Placeholder 10"/>
          <p:cNvSpPr>
            <a:spLocks noGrp="1"/>
          </p:cNvSpPr>
          <p:nvPr>
            <p:ph type="dt" sz="half" idx="10"/>
          </p:nvPr>
        </p:nvSpPr>
        <p:spPr>
          <a:xfrm>
            <a:off x="0" y="6460922"/>
            <a:ext cx="997974" cy="365125"/>
          </a:xfrm>
        </p:spPr>
        <p:txBody>
          <a:bodyPr/>
          <a:lstStyle/>
          <a:p>
            <a:fld id="{C72AAC90-D07C-417D-96C6-81B39DB87062}" type="datetime1">
              <a:rPr lang="en-IN" smtClean="0">
                <a:solidFill>
                  <a:schemeClr val="tx1"/>
                </a:solidFill>
              </a:rPr>
              <a:t>16-09-2026</a:t>
            </a:fld>
            <a:endParaRPr lang="en-IN" dirty="0">
              <a:solidFill>
                <a:schemeClr val="tx1"/>
              </a:solidFill>
            </a:endParaRPr>
          </a:p>
        </p:txBody>
      </p:sp>
      <p:sp>
        <p:nvSpPr>
          <p:cNvPr id="13" name="Slide Number Placeholder 12"/>
          <p:cNvSpPr>
            <a:spLocks noGrp="1"/>
          </p:cNvSpPr>
          <p:nvPr>
            <p:ph type="sldNum" sz="quarter" idx="12"/>
          </p:nvPr>
        </p:nvSpPr>
        <p:spPr>
          <a:xfrm>
            <a:off x="11227443" y="6478792"/>
            <a:ext cx="876067" cy="379208"/>
          </a:xfrm>
        </p:spPr>
        <p:txBody>
          <a:bodyPr/>
          <a:lstStyle/>
          <a:p>
            <a:fld id="{0F06A4E2-163B-4ABA-8562-AD05AC3F17C5}" type="slidenum">
              <a:rPr lang="en-IN" sz="1800" smtClean="0">
                <a:solidFill>
                  <a:schemeClr val="tx1"/>
                </a:solidFill>
              </a:rPr>
              <a:t>18</a:t>
            </a:fld>
            <a:endParaRPr lang="en-IN" sz="1800" dirty="0">
              <a:solidFill>
                <a:schemeClr val="tx1"/>
              </a:solidFill>
            </a:endParaRPr>
          </a:p>
        </p:txBody>
      </p:sp>
      <p:sp>
        <p:nvSpPr>
          <p:cNvPr id="15" name="TextBox 14"/>
          <p:cNvSpPr txBox="1"/>
          <p:nvPr/>
        </p:nvSpPr>
        <p:spPr>
          <a:xfrm flipH="1">
            <a:off x="135928" y="877163"/>
            <a:ext cx="2063808" cy="400110"/>
          </a:xfrm>
          <a:prstGeom prst="rect">
            <a:avLst/>
          </a:prstGeom>
          <a:noFill/>
        </p:spPr>
        <p:txBody>
          <a:bodyPr wrap="square" rtlCol="0">
            <a:spAutoFit/>
          </a:bodyPr>
          <a:lstStyle/>
          <a:p>
            <a:r>
              <a:rPr lang="en-IN" sz="2000" dirty="0">
                <a:latin typeface="Times New Roman" panose="02020603050405020304" pitchFamily="18" charset="0"/>
                <a:cs typeface="Times New Roman" panose="02020603050405020304" pitchFamily="18" charset="0"/>
              </a:rPr>
              <a:t>Literature Review</a:t>
            </a:r>
          </a:p>
        </p:txBody>
      </p:sp>
      <p:sp>
        <p:nvSpPr>
          <p:cNvPr id="2" name="TextBox 1"/>
          <p:cNvSpPr txBox="1"/>
          <p:nvPr/>
        </p:nvSpPr>
        <p:spPr>
          <a:xfrm>
            <a:off x="8955476" y="31393"/>
            <a:ext cx="3148033" cy="830997"/>
          </a:xfrm>
          <a:prstGeom prst="rect">
            <a:avLst/>
          </a:prstGeom>
          <a:noFill/>
        </p:spPr>
        <p:txBody>
          <a:bodyPr wrap="square" rtlCol="0">
            <a:spAutoFit/>
          </a:bodyPr>
          <a:lstStyle/>
          <a:p>
            <a:r>
              <a:rPr lang="en-IN" sz="1200" dirty="0">
                <a:latin typeface="Times New Roman" panose="02020603050405020304" pitchFamily="18" charset="0"/>
                <a:cs typeface="Times New Roman" panose="02020603050405020304" pitchFamily="18" charset="0"/>
              </a:rPr>
              <a:t>Guide: Mrs. B. Lalitha Rajeswari</a:t>
            </a:r>
          </a:p>
          <a:p>
            <a:r>
              <a:rPr lang="en-IN" sz="1200" dirty="0">
                <a:latin typeface="Times New Roman" panose="02020603050405020304" pitchFamily="18" charset="0"/>
                <a:cs typeface="Times New Roman" panose="02020603050405020304" pitchFamily="18" charset="0"/>
              </a:rPr>
              <a:t>Batch ID: A14</a:t>
            </a:r>
          </a:p>
          <a:p>
            <a:r>
              <a:rPr lang="en-IN" sz="1200" dirty="0">
                <a:latin typeface="Times New Roman" panose="02020603050405020304" pitchFamily="18" charset="0"/>
                <a:cs typeface="Times New Roman" panose="02020603050405020304" pitchFamily="18" charset="0"/>
              </a:rPr>
              <a:t>23BQ1A6129(TL),	23BQ1A6136,</a:t>
            </a:r>
          </a:p>
          <a:p>
            <a:r>
              <a:rPr lang="en-IN" sz="1200" dirty="0">
                <a:latin typeface="Times New Roman" panose="02020603050405020304" pitchFamily="18" charset="0"/>
                <a:cs typeface="Times New Roman" panose="02020603050405020304" pitchFamily="18" charset="0"/>
              </a:rPr>
              <a:t>23BQ1A6123,                         24BQ5A6125</a:t>
            </a:r>
            <a:endParaRPr lang="en-IN" sz="1200" dirty="0"/>
          </a:p>
        </p:txBody>
      </p:sp>
      <p:pic>
        <p:nvPicPr>
          <p:cNvPr id="3" name="Picture 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4186" y="92353"/>
            <a:ext cx="993618" cy="693462"/>
          </a:xfrm>
          <a:prstGeom prst="rect">
            <a:avLst/>
          </a:prstGeom>
        </p:spPr>
      </p:pic>
      <p:sp>
        <p:nvSpPr>
          <p:cNvPr id="14" name="TextBox 13"/>
          <p:cNvSpPr txBox="1"/>
          <p:nvPr/>
        </p:nvSpPr>
        <p:spPr>
          <a:xfrm>
            <a:off x="1531467" y="82617"/>
            <a:ext cx="7424010" cy="646331"/>
          </a:xfrm>
          <a:prstGeom prst="rect">
            <a:avLst/>
          </a:prstGeom>
          <a:noFill/>
        </p:spPr>
        <p:txBody>
          <a:bodyPr wrap="square" rtlCol="0">
            <a:spAutoFit/>
          </a:bodyPr>
          <a:lstStyle/>
          <a:p>
            <a:r>
              <a:rPr lang="en-IN" dirty="0">
                <a:latin typeface="Times New Roman" panose="02020603050405020304" pitchFamily="18" charset="0"/>
                <a:cs typeface="Times New Roman" panose="02020603050405020304" pitchFamily="18" charset="0"/>
              </a:rPr>
              <a:t>Contribution-Aware Trust Mechanism for Poisoning Attack Detection in Swarm Learning</a:t>
            </a:r>
          </a:p>
        </p:txBody>
      </p:sp>
      <p:sp>
        <p:nvSpPr>
          <p:cNvPr id="16" name="Footer Placeholder 11"/>
          <p:cNvSpPr>
            <a:spLocks noGrp="1"/>
          </p:cNvSpPr>
          <p:nvPr>
            <p:ph type="ftr" sz="quarter" idx="11"/>
          </p:nvPr>
        </p:nvSpPr>
        <p:spPr>
          <a:xfrm>
            <a:off x="3999271" y="6460922"/>
            <a:ext cx="4114800" cy="365125"/>
          </a:xfrm>
        </p:spPr>
        <p:txBody>
          <a:bodyPr/>
          <a:lstStyle/>
          <a:p>
            <a:r>
              <a:rPr lang="en-IN" dirty="0">
                <a:solidFill>
                  <a:schemeClr val="tx1"/>
                </a:solidFill>
              </a:rPr>
              <a:t>Dept. CSM @ VVIT</a:t>
            </a:r>
          </a:p>
        </p:txBody>
      </p:sp>
      <p:sp>
        <p:nvSpPr>
          <p:cNvPr id="17" name="TextBox 16"/>
          <p:cNvSpPr txBox="1"/>
          <p:nvPr/>
        </p:nvSpPr>
        <p:spPr>
          <a:xfrm flipH="1">
            <a:off x="135928" y="1326501"/>
            <a:ext cx="11920141" cy="307777"/>
          </a:xfrm>
          <a:prstGeom prst="rect">
            <a:avLst/>
          </a:prstGeom>
          <a:noFill/>
        </p:spPr>
        <p:txBody>
          <a:bodyPr wrap="square" rtlCol="0">
            <a:spAutoFit/>
          </a:bodyPr>
          <a:lstStyle/>
          <a:p>
            <a:r>
              <a:rPr lang="en-IN" sz="1400" dirty="0">
                <a:solidFill>
                  <a:schemeClr val="bg1">
                    <a:lumMod val="75000"/>
                  </a:schemeClr>
                </a:solidFill>
                <a:latin typeface="Times New Roman" panose="02020603050405020304" pitchFamily="18" charset="0"/>
                <a:cs typeface="Times New Roman" panose="02020603050405020304" pitchFamily="18" charset="0"/>
              </a:rPr>
              <a:t>| Proposed Method | Data &amp; Setup | key Results </a:t>
            </a:r>
            <a:r>
              <a:rPr lang="en-IN" sz="1400" dirty="0">
                <a:latin typeface="Times New Roman" panose="02020603050405020304" pitchFamily="18" charset="0"/>
                <a:cs typeface="Times New Roman" panose="02020603050405020304" pitchFamily="18" charset="0"/>
              </a:rPr>
              <a:t>| Strengths &amp; Limitations | </a:t>
            </a:r>
            <a:r>
              <a:rPr lang="en-IN" sz="1400" dirty="0">
                <a:solidFill>
                  <a:schemeClr val="bg1">
                    <a:lumMod val="75000"/>
                  </a:schemeClr>
                </a:solidFill>
                <a:latin typeface="Times New Roman" panose="02020603050405020304" pitchFamily="18" charset="0"/>
                <a:cs typeface="Times New Roman" panose="02020603050405020304" pitchFamily="18" charset="0"/>
              </a:rPr>
              <a:t>Relevance to my research |</a:t>
            </a:r>
          </a:p>
        </p:txBody>
      </p:sp>
      <p:sp>
        <p:nvSpPr>
          <p:cNvPr id="6" name="Rectangle 5"/>
          <p:cNvSpPr/>
          <p:nvPr/>
        </p:nvSpPr>
        <p:spPr>
          <a:xfrm>
            <a:off x="2082799" y="862390"/>
            <a:ext cx="10020709" cy="523220"/>
          </a:xfrm>
          <a:prstGeom prst="rect">
            <a:avLst/>
          </a:prstGeom>
        </p:spPr>
        <p:txBody>
          <a:bodyPr wrap="square">
            <a:spAutoFit/>
          </a:bodyPr>
          <a:lstStyle/>
          <a:p>
            <a:r>
              <a:rPr lang="en-US" sz="1400" b="1" dirty="0"/>
              <a:t>Ref 03 – Deep Learning-Based  </a:t>
            </a:r>
            <a:r>
              <a:rPr lang="en-IN" sz="1400" b="1" dirty="0"/>
              <a:t>Zero-Trust Empowered Decentralized Security </a:t>
            </a:r>
            <a:r>
              <a:rPr lang="en-IN" sz="1400" b="1" dirty="0" err="1"/>
              <a:t>Defense</a:t>
            </a:r>
            <a:r>
              <a:rPr lang="en-IN" sz="1400" b="1" dirty="0"/>
              <a:t> against Poisoning Attacks in SL-IoT: Joint Distance-Accuracy Detection Approach</a:t>
            </a:r>
            <a:endParaRPr lang="en-IN" sz="1400" dirty="0"/>
          </a:p>
        </p:txBody>
      </p:sp>
      <p:sp>
        <p:nvSpPr>
          <p:cNvPr id="8" name="Rectangle 7"/>
          <p:cNvSpPr/>
          <p:nvPr/>
        </p:nvSpPr>
        <p:spPr>
          <a:xfrm>
            <a:off x="6259202" y="2148841"/>
            <a:ext cx="5441307" cy="45719"/>
          </a:xfrm>
          <a:prstGeom prst="rect">
            <a:avLst/>
          </a:prstGeom>
          <a:solidFill>
            <a:srgbClr val="EC7E6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 name="Rectangle 18"/>
          <p:cNvSpPr/>
          <p:nvPr/>
        </p:nvSpPr>
        <p:spPr>
          <a:xfrm>
            <a:off x="393386" y="2148841"/>
            <a:ext cx="5441307" cy="45719"/>
          </a:xfrm>
          <a:prstGeom prst="rect">
            <a:avLst/>
          </a:prstGeom>
          <a:solidFill>
            <a:srgbClr val="EC7E6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TextBox 8"/>
          <p:cNvSpPr txBox="1"/>
          <p:nvPr/>
        </p:nvSpPr>
        <p:spPr>
          <a:xfrm>
            <a:off x="393386" y="1799012"/>
            <a:ext cx="1075872" cy="369332"/>
          </a:xfrm>
          <a:prstGeom prst="rect">
            <a:avLst/>
          </a:prstGeom>
          <a:noFill/>
        </p:spPr>
        <p:txBody>
          <a:bodyPr wrap="none" rtlCol="0">
            <a:spAutoFit/>
          </a:bodyPr>
          <a:lstStyle/>
          <a:p>
            <a:r>
              <a:rPr lang="en-IN" dirty="0">
                <a:latin typeface="Times New Roman" panose="02020603050405020304" pitchFamily="18" charset="0"/>
                <a:cs typeface="Times New Roman" panose="02020603050405020304" pitchFamily="18" charset="0"/>
              </a:rPr>
              <a:t>Strengths</a:t>
            </a:r>
          </a:p>
        </p:txBody>
      </p:sp>
      <p:sp>
        <p:nvSpPr>
          <p:cNvPr id="20" name="TextBox 19"/>
          <p:cNvSpPr txBox="1"/>
          <p:nvPr/>
        </p:nvSpPr>
        <p:spPr>
          <a:xfrm>
            <a:off x="6259202" y="1779509"/>
            <a:ext cx="1249060" cy="369332"/>
          </a:xfrm>
          <a:prstGeom prst="rect">
            <a:avLst/>
          </a:prstGeom>
          <a:noFill/>
        </p:spPr>
        <p:txBody>
          <a:bodyPr wrap="none" rtlCol="0">
            <a:spAutoFit/>
          </a:bodyPr>
          <a:lstStyle/>
          <a:p>
            <a:r>
              <a:rPr lang="en-IN" dirty="0">
                <a:latin typeface="Times New Roman" panose="02020603050405020304" pitchFamily="18" charset="0"/>
                <a:cs typeface="Times New Roman" panose="02020603050405020304" pitchFamily="18" charset="0"/>
              </a:rPr>
              <a:t>Limitations</a:t>
            </a:r>
          </a:p>
        </p:txBody>
      </p:sp>
      <p:sp>
        <p:nvSpPr>
          <p:cNvPr id="10" name="TextBox 9">
            <a:extLst>
              <a:ext uri="{FF2B5EF4-FFF2-40B4-BE49-F238E27FC236}">
                <a16:creationId xmlns:a16="http://schemas.microsoft.com/office/drawing/2014/main" id="{60F867E2-DA69-AF01-279A-D0C621299B6E}"/>
              </a:ext>
            </a:extLst>
          </p:cNvPr>
          <p:cNvSpPr txBox="1"/>
          <p:nvPr/>
        </p:nvSpPr>
        <p:spPr>
          <a:xfrm>
            <a:off x="393386" y="2224132"/>
            <a:ext cx="5256195" cy="3693319"/>
          </a:xfrm>
          <a:prstGeom prst="rect">
            <a:avLst/>
          </a:prstGeom>
          <a:noFill/>
        </p:spPr>
        <p:txBody>
          <a:bodyPr wrap="square" rtlCol="0">
            <a:spAutoFit/>
          </a:bodyPr>
          <a:lstStyle/>
          <a:p>
            <a:pPr marL="285750" lvl="0" indent="-28575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Uses a Zero-Trust Architecture. </a:t>
            </a:r>
          </a:p>
          <a:p>
            <a:pPr marL="285750" lvl="0" indent="-28575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Protects against malicious </a:t>
            </a:r>
            <a:r>
              <a:rPr lang="en-IN" dirty="0" err="1">
                <a:latin typeface="Times New Roman" panose="02020603050405020304" pitchFamily="18" charset="0"/>
                <a:cs typeface="Times New Roman" panose="02020603050405020304" pitchFamily="18" charset="0"/>
              </a:rPr>
              <a:t>headr</a:t>
            </a:r>
            <a:r>
              <a:rPr lang="en-IN" dirty="0">
                <a:latin typeface="Times New Roman" panose="02020603050405020304" pitchFamily="18" charset="0"/>
                <a:cs typeface="Times New Roman" panose="02020603050405020304" pitchFamily="18" charset="0"/>
              </a:rPr>
              <a:t> nodes. </a:t>
            </a:r>
          </a:p>
          <a:p>
            <a:pPr marL="285750" lvl="0" indent="-28575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Combines distance and accuracy detection. </a:t>
            </a:r>
          </a:p>
          <a:p>
            <a:pPr marL="285750" lvl="0" indent="-28575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Uses node risk/credit and historical behave+</a:t>
            </a:r>
          </a:p>
          <a:p>
            <a:pPr marL="285750" lvl="0" indent="-28575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or. </a:t>
            </a:r>
          </a:p>
          <a:p>
            <a:pPr marL="285750" lvl="0" indent="-28575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Maintains decentralized learning. </a:t>
            </a:r>
          </a:p>
          <a:p>
            <a:pPr marL="285750" lvl="0" indent="-28575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Provides an extra </a:t>
            </a:r>
            <a:r>
              <a:rPr lang="en-IN" dirty="0" err="1">
                <a:latin typeface="Times New Roman" panose="02020603050405020304" pitchFamily="18" charset="0"/>
                <a:cs typeface="Times New Roman" panose="02020603050405020304" pitchFamily="18" charset="0"/>
              </a:rPr>
              <a:t>defense</a:t>
            </a:r>
            <a:r>
              <a:rPr lang="en-IN" dirty="0">
                <a:latin typeface="Times New Roman" panose="02020603050405020304" pitchFamily="18" charset="0"/>
                <a:cs typeface="Times New Roman" panose="02020603050405020304" pitchFamily="18" charset="0"/>
              </a:rPr>
              <a:t> mechanism when detection becomes unreliable</a:t>
            </a:r>
            <a:r>
              <a:rPr lang="en-IN" dirty="0"/>
              <a:t>. </a:t>
            </a:r>
          </a:p>
          <a:p>
            <a:endParaRPr lang="en-IN" dirty="0"/>
          </a:p>
        </p:txBody>
      </p:sp>
      <p:sp>
        <p:nvSpPr>
          <p:cNvPr id="21" name="TextBox 20">
            <a:extLst>
              <a:ext uri="{FF2B5EF4-FFF2-40B4-BE49-F238E27FC236}">
                <a16:creationId xmlns:a16="http://schemas.microsoft.com/office/drawing/2014/main" id="{E5FCC88D-247C-BA18-726F-FF45E33D5AEA}"/>
              </a:ext>
            </a:extLst>
          </p:cNvPr>
          <p:cNvSpPr txBox="1"/>
          <p:nvPr/>
        </p:nvSpPr>
        <p:spPr>
          <a:xfrm>
            <a:off x="6095998" y="2194560"/>
            <a:ext cx="5604511" cy="3782061"/>
          </a:xfrm>
          <a:prstGeom prst="rect">
            <a:avLst/>
          </a:prstGeom>
          <a:noFill/>
        </p:spPr>
        <p:txBody>
          <a:bodyPr wrap="square">
            <a:spAutoFit/>
          </a:bodyPr>
          <a:lstStyle/>
          <a:p>
            <a:pPr marL="285750" lvl="0" indent="-285750">
              <a:lnSpc>
                <a:spcPct val="150000"/>
              </a:lnSpc>
              <a:buFont typeface="Arial" panose="020B0604020202020204" pitchFamily="34" charset="0"/>
              <a:buChar char="•"/>
            </a:pPr>
            <a:r>
              <a:rPr lang="en-IN" sz="1800" dirty="0">
                <a:solidFill>
                  <a:schemeClr val="tx1"/>
                </a:solidFill>
                <a:latin typeface="Times New Roman" panose="02020603050405020304" pitchFamily="18" charset="0"/>
                <a:cs typeface="Times New Roman" panose="02020603050405020304" pitchFamily="18" charset="0"/>
              </a:rPr>
              <a:t>Manhattan distance can still be affected by Non-IID data distributions. </a:t>
            </a:r>
          </a:p>
          <a:p>
            <a:pPr marL="285750" lvl="0" indent="-285750">
              <a:lnSpc>
                <a:spcPct val="150000"/>
              </a:lnSpc>
              <a:buFont typeface="Arial" panose="020B0604020202020204" pitchFamily="34" charset="0"/>
              <a:buChar char="•"/>
            </a:pPr>
            <a:r>
              <a:rPr lang="en-IN" sz="1800" dirty="0">
                <a:solidFill>
                  <a:schemeClr val="tx1"/>
                </a:solidFill>
                <a:latin typeface="Times New Roman" panose="02020603050405020304" pitchFamily="18" charset="0"/>
                <a:cs typeface="Times New Roman" panose="02020603050405020304" pitchFamily="18" charset="0"/>
              </a:rPr>
              <a:t>Honest nodes with naturally different updates may appear abnormal. </a:t>
            </a:r>
          </a:p>
          <a:p>
            <a:pPr marL="285750" lvl="0" indent="-285750">
              <a:lnSpc>
                <a:spcPct val="150000"/>
              </a:lnSpc>
              <a:buFont typeface="Arial" panose="020B0604020202020204" pitchFamily="34" charset="0"/>
              <a:buChar char="•"/>
            </a:pPr>
            <a:r>
              <a:rPr lang="en-IN" sz="1800" dirty="0">
                <a:solidFill>
                  <a:schemeClr val="tx1"/>
                </a:solidFill>
                <a:latin typeface="Times New Roman" panose="02020603050405020304" pitchFamily="18" charset="0"/>
                <a:cs typeface="Times New Roman" panose="02020603050405020304" pitchFamily="18" charset="0"/>
              </a:rPr>
              <a:t>Detection mainly focuses on parameter distance and accuracy. </a:t>
            </a:r>
          </a:p>
          <a:p>
            <a:pPr marL="285750" lvl="0" indent="-285750">
              <a:lnSpc>
                <a:spcPct val="150000"/>
              </a:lnSpc>
              <a:buFont typeface="Arial" panose="020B0604020202020204" pitchFamily="34" charset="0"/>
              <a:buChar char="•"/>
            </a:pPr>
            <a:r>
              <a:rPr lang="en-IN" sz="1800" dirty="0">
                <a:solidFill>
                  <a:schemeClr val="tx1"/>
                </a:solidFill>
                <a:latin typeface="Times New Roman" panose="02020603050405020304" pitchFamily="18" charset="0"/>
                <a:cs typeface="Times New Roman" panose="02020603050405020304" pitchFamily="18" charset="0"/>
              </a:rPr>
              <a:t>Participant contribution is not explicitly considered. </a:t>
            </a:r>
          </a:p>
          <a:p>
            <a:pPr marL="285750" lvl="0" indent="-285750">
              <a:lnSpc>
                <a:spcPct val="150000"/>
              </a:lnSpc>
              <a:buFont typeface="Arial" panose="020B0604020202020204" pitchFamily="34" charset="0"/>
              <a:buChar char="•"/>
            </a:pPr>
            <a:r>
              <a:rPr lang="en-IN" sz="1800" dirty="0">
                <a:solidFill>
                  <a:schemeClr val="tx1"/>
                </a:solidFill>
                <a:latin typeface="Times New Roman" panose="02020603050405020304" pitchFamily="18" charset="0"/>
                <a:cs typeface="Times New Roman" panose="02020603050405020304" pitchFamily="18" charset="0"/>
              </a:rPr>
              <a:t>Similarity alone/distance-based detection may not fully identify sophisticated poisoning.</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 y="6980"/>
            <a:ext cx="12192000" cy="837398"/>
          </a:xfrm>
          <a:prstGeom prst="rect">
            <a:avLst/>
          </a:prstGeom>
          <a:solidFill>
            <a:srgbClr val="E77E69"/>
          </a:soli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IN" dirty="0">
              <a:solidFill>
                <a:srgbClr val="FFFF00"/>
              </a:solidFill>
              <a:latin typeface="Times New Roman" panose="02020603050405020304" pitchFamily="18" charset="0"/>
              <a:cs typeface="Times New Roman" panose="02020603050405020304" pitchFamily="18" charset="0"/>
            </a:endParaRPr>
          </a:p>
        </p:txBody>
      </p:sp>
      <p:sp>
        <p:nvSpPr>
          <p:cNvPr id="5" name="Rectangle 4"/>
          <p:cNvSpPr/>
          <p:nvPr/>
        </p:nvSpPr>
        <p:spPr>
          <a:xfrm>
            <a:off x="0" y="6451517"/>
            <a:ext cx="12192000" cy="393289"/>
          </a:xfrm>
          <a:prstGeom prst="rect">
            <a:avLst/>
          </a:prstGeom>
          <a:solidFill>
            <a:srgbClr val="E77E69"/>
          </a:soli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IN"/>
          </a:p>
        </p:txBody>
      </p:sp>
      <p:sp>
        <p:nvSpPr>
          <p:cNvPr id="11" name="Date Placeholder 10"/>
          <p:cNvSpPr>
            <a:spLocks noGrp="1"/>
          </p:cNvSpPr>
          <p:nvPr>
            <p:ph type="dt" sz="half" idx="10"/>
          </p:nvPr>
        </p:nvSpPr>
        <p:spPr>
          <a:xfrm>
            <a:off x="0" y="6460922"/>
            <a:ext cx="997974" cy="365125"/>
          </a:xfrm>
        </p:spPr>
        <p:txBody>
          <a:bodyPr/>
          <a:lstStyle/>
          <a:p>
            <a:fld id="{C72AAC90-D07C-417D-96C6-81B39DB87062}" type="datetime1">
              <a:rPr lang="en-IN" smtClean="0">
                <a:solidFill>
                  <a:schemeClr val="tx1"/>
                </a:solidFill>
              </a:rPr>
              <a:t>16-09-2026</a:t>
            </a:fld>
            <a:endParaRPr lang="en-IN" dirty="0">
              <a:solidFill>
                <a:schemeClr val="tx1"/>
              </a:solidFill>
            </a:endParaRPr>
          </a:p>
        </p:txBody>
      </p:sp>
      <p:sp>
        <p:nvSpPr>
          <p:cNvPr id="13" name="Slide Number Placeholder 12"/>
          <p:cNvSpPr>
            <a:spLocks noGrp="1"/>
          </p:cNvSpPr>
          <p:nvPr>
            <p:ph type="sldNum" sz="quarter" idx="12"/>
          </p:nvPr>
        </p:nvSpPr>
        <p:spPr>
          <a:xfrm>
            <a:off x="11227443" y="6478792"/>
            <a:ext cx="876067" cy="379208"/>
          </a:xfrm>
        </p:spPr>
        <p:txBody>
          <a:bodyPr/>
          <a:lstStyle/>
          <a:p>
            <a:fld id="{0F06A4E2-163B-4ABA-8562-AD05AC3F17C5}" type="slidenum">
              <a:rPr lang="en-IN" sz="1800" smtClean="0">
                <a:solidFill>
                  <a:schemeClr val="tx1"/>
                </a:solidFill>
              </a:rPr>
              <a:t>19</a:t>
            </a:fld>
            <a:endParaRPr lang="en-IN" sz="1800" dirty="0">
              <a:solidFill>
                <a:schemeClr val="tx1"/>
              </a:solidFill>
            </a:endParaRPr>
          </a:p>
        </p:txBody>
      </p:sp>
      <p:sp>
        <p:nvSpPr>
          <p:cNvPr id="15" name="TextBox 14"/>
          <p:cNvSpPr txBox="1"/>
          <p:nvPr/>
        </p:nvSpPr>
        <p:spPr>
          <a:xfrm flipH="1">
            <a:off x="135928" y="877163"/>
            <a:ext cx="2063808" cy="400110"/>
          </a:xfrm>
          <a:prstGeom prst="rect">
            <a:avLst/>
          </a:prstGeom>
          <a:noFill/>
        </p:spPr>
        <p:txBody>
          <a:bodyPr wrap="square" rtlCol="0">
            <a:spAutoFit/>
          </a:bodyPr>
          <a:lstStyle/>
          <a:p>
            <a:r>
              <a:rPr lang="en-IN" sz="2000" dirty="0">
                <a:latin typeface="Times New Roman" panose="02020603050405020304" pitchFamily="18" charset="0"/>
                <a:cs typeface="Times New Roman" panose="02020603050405020304" pitchFamily="18" charset="0"/>
              </a:rPr>
              <a:t>Literature Review</a:t>
            </a:r>
          </a:p>
        </p:txBody>
      </p:sp>
      <p:sp>
        <p:nvSpPr>
          <p:cNvPr id="2" name="TextBox 1"/>
          <p:cNvSpPr txBox="1"/>
          <p:nvPr/>
        </p:nvSpPr>
        <p:spPr>
          <a:xfrm>
            <a:off x="8955476" y="31393"/>
            <a:ext cx="3148033" cy="830997"/>
          </a:xfrm>
          <a:prstGeom prst="rect">
            <a:avLst/>
          </a:prstGeom>
          <a:noFill/>
        </p:spPr>
        <p:txBody>
          <a:bodyPr wrap="square" rtlCol="0">
            <a:spAutoFit/>
          </a:bodyPr>
          <a:lstStyle/>
          <a:p>
            <a:r>
              <a:rPr lang="en-IN" sz="1200" dirty="0">
                <a:latin typeface="Times New Roman" panose="02020603050405020304" pitchFamily="18" charset="0"/>
                <a:cs typeface="Times New Roman" panose="02020603050405020304" pitchFamily="18" charset="0"/>
              </a:rPr>
              <a:t>Guide: Mrs. B. Lalitha Rajeswari</a:t>
            </a:r>
          </a:p>
          <a:p>
            <a:r>
              <a:rPr lang="en-IN" sz="1200" dirty="0">
                <a:latin typeface="Times New Roman" panose="02020603050405020304" pitchFamily="18" charset="0"/>
                <a:cs typeface="Times New Roman" panose="02020603050405020304" pitchFamily="18" charset="0"/>
              </a:rPr>
              <a:t>Batch ID: A14</a:t>
            </a:r>
          </a:p>
          <a:p>
            <a:r>
              <a:rPr lang="en-IN" sz="1200" dirty="0">
                <a:latin typeface="Times New Roman" panose="02020603050405020304" pitchFamily="18" charset="0"/>
                <a:cs typeface="Times New Roman" panose="02020603050405020304" pitchFamily="18" charset="0"/>
              </a:rPr>
              <a:t>23BQ1A6129(TL),	23BQ1A6136,</a:t>
            </a:r>
          </a:p>
          <a:p>
            <a:r>
              <a:rPr lang="en-IN" sz="1200" dirty="0">
                <a:latin typeface="Times New Roman" panose="02020603050405020304" pitchFamily="18" charset="0"/>
                <a:cs typeface="Times New Roman" panose="02020603050405020304" pitchFamily="18" charset="0"/>
              </a:rPr>
              <a:t>23BQ1A6123,                         24BQ5A6125</a:t>
            </a:r>
            <a:endParaRPr lang="en-IN" sz="1200" dirty="0"/>
          </a:p>
        </p:txBody>
      </p:sp>
      <p:pic>
        <p:nvPicPr>
          <p:cNvPr id="3" name="Picture 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4186" y="92353"/>
            <a:ext cx="993618" cy="693462"/>
          </a:xfrm>
          <a:prstGeom prst="rect">
            <a:avLst/>
          </a:prstGeom>
        </p:spPr>
      </p:pic>
      <p:sp>
        <p:nvSpPr>
          <p:cNvPr id="14" name="TextBox 13"/>
          <p:cNvSpPr txBox="1"/>
          <p:nvPr/>
        </p:nvSpPr>
        <p:spPr>
          <a:xfrm>
            <a:off x="1531467" y="82617"/>
            <a:ext cx="7424010" cy="646331"/>
          </a:xfrm>
          <a:prstGeom prst="rect">
            <a:avLst/>
          </a:prstGeom>
          <a:noFill/>
        </p:spPr>
        <p:txBody>
          <a:bodyPr wrap="square" rtlCol="0">
            <a:spAutoFit/>
          </a:bodyPr>
          <a:lstStyle/>
          <a:p>
            <a:r>
              <a:rPr lang="en-IN" dirty="0">
                <a:latin typeface="Times New Roman" panose="02020603050405020304" pitchFamily="18" charset="0"/>
                <a:cs typeface="Times New Roman" panose="02020603050405020304" pitchFamily="18" charset="0"/>
              </a:rPr>
              <a:t>Contribution-Aware Trust Mechanism for Poisoning Attack Detection in Swarm Learning</a:t>
            </a:r>
          </a:p>
        </p:txBody>
      </p:sp>
      <p:sp>
        <p:nvSpPr>
          <p:cNvPr id="16" name="Footer Placeholder 11"/>
          <p:cNvSpPr>
            <a:spLocks noGrp="1"/>
          </p:cNvSpPr>
          <p:nvPr>
            <p:ph type="ftr" sz="quarter" idx="11"/>
          </p:nvPr>
        </p:nvSpPr>
        <p:spPr>
          <a:xfrm>
            <a:off x="3999271" y="6460922"/>
            <a:ext cx="4114800" cy="365125"/>
          </a:xfrm>
        </p:spPr>
        <p:txBody>
          <a:bodyPr/>
          <a:lstStyle/>
          <a:p>
            <a:r>
              <a:rPr lang="en-IN" dirty="0">
                <a:solidFill>
                  <a:schemeClr val="tx1"/>
                </a:solidFill>
              </a:rPr>
              <a:t>Dept. CSM @ VVIT</a:t>
            </a:r>
          </a:p>
        </p:txBody>
      </p:sp>
      <p:sp>
        <p:nvSpPr>
          <p:cNvPr id="17" name="TextBox 16"/>
          <p:cNvSpPr txBox="1"/>
          <p:nvPr/>
        </p:nvSpPr>
        <p:spPr>
          <a:xfrm flipH="1">
            <a:off x="135928" y="1326501"/>
            <a:ext cx="11920141" cy="307777"/>
          </a:xfrm>
          <a:prstGeom prst="rect">
            <a:avLst/>
          </a:prstGeom>
          <a:noFill/>
        </p:spPr>
        <p:txBody>
          <a:bodyPr wrap="square" rtlCol="0">
            <a:spAutoFit/>
          </a:bodyPr>
          <a:lstStyle/>
          <a:p>
            <a:r>
              <a:rPr lang="en-IN" sz="1400" dirty="0">
                <a:solidFill>
                  <a:schemeClr val="bg1">
                    <a:lumMod val="75000"/>
                  </a:schemeClr>
                </a:solidFill>
                <a:latin typeface="Times New Roman" panose="02020603050405020304" pitchFamily="18" charset="0"/>
                <a:cs typeface="Times New Roman" panose="02020603050405020304" pitchFamily="18" charset="0"/>
              </a:rPr>
              <a:t>| Proposed Method | Data &amp; Setup | key Results | Strengths &amp; Limitations </a:t>
            </a:r>
            <a:r>
              <a:rPr lang="en-IN" sz="1400" dirty="0">
                <a:latin typeface="Times New Roman" panose="02020603050405020304" pitchFamily="18" charset="0"/>
                <a:cs typeface="Times New Roman" panose="02020603050405020304" pitchFamily="18" charset="0"/>
              </a:rPr>
              <a:t>| Relevance to my research |</a:t>
            </a:r>
          </a:p>
        </p:txBody>
      </p:sp>
      <p:sp>
        <p:nvSpPr>
          <p:cNvPr id="6" name="Rectangle 5"/>
          <p:cNvSpPr/>
          <p:nvPr/>
        </p:nvSpPr>
        <p:spPr>
          <a:xfrm>
            <a:off x="2082799" y="862390"/>
            <a:ext cx="10020709" cy="523220"/>
          </a:xfrm>
          <a:prstGeom prst="rect">
            <a:avLst/>
          </a:prstGeom>
        </p:spPr>
        <p:txBody>
          <a:bodyPr wrap="square">
            <a:spAutoFit/>
          </a:bodyPr>
          <a:lstStyle/>
          <a:p>
            <a:r>
              <a:rPr lang="en-US" sz="1400" b="1" dirty="0"/>
              <a:t>Ref 03 – Deep Learning-Based  </a:t>
            </a:r>
            <a:r>
              <a:rPr lang="en-IN" sz="1400" b="1" dirty="0"/>
              <a:t>Zero-Trust Empowered Decentralized Security </a:t>
            </a:r>
            <a:r>
              <a:rPr lang="en-IN" sz="1400" b="1" dirty="0" err="1"/>
              <a:t>Defense</a:t>
            </a:r>
            <a:r>
              <a:rPr lang="en-IN" sz="1400" b="1"/>
              <a:t> against Poisoning Attacks in SL-IoT: Joint Distance-Accuracy Detection Approach</a:t>
            </a:r>
            <a:endParaRPr lang="en-IN" sz="1400" dirty="0"/>
          </a:p>
        </p:txBody>
      </p:sp>
      <p:sp>
        <p:nvSpPr>
          <p:cNvPr id="7" name="TextBox 6"/>
          <p:cNvSpPr txBox="1"/>
          <p:nvPr/>
        </p:nvSpPr>
        <p:spPr>
          <a:xfrm>
            <a:off x="373224" y="1912776"/>
            <a:ext cx="11689134" cy="2862322"/>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Provides a Zero-Trust-based approach that is relevant to poisoning attack detection in Swarm Learning.</a:t>
            </a:r>
          </a:p>
          <a:p>
            <a:pPr marL="285750" indent="-28575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 Shows that model update distance and validation accuracy can be combined to improve poisoning detection.</a:t>
            </a:r>
          </a:p>
          <a:p>
            <a:pPr marL="285750" indent="-28575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 Considers node risk, credit, and historical </a:t>
            </a:r>
            <a:r>
              <a:rPr lang="en-IN" dirty="0" err="1">
                <a:latin typeface="Times New Roman" panose="02020603050405020304" pitchFamily="18" charset="0"/>
                <a:cs typeface="Times New Roman" panose="02020603050405020304" pitchFamily="18" charset="0"/>
              </a:rPr>
              <a:t>behavior</a:t>
            </a:r>
            <a:r>
              <a:rPr lang="en-IN" dirty="0">
                <a:latin typeface="Times New Roman" panose="02020603050405020304" pitchFamily="18" charset="0"/>
                <a:cs typeface="Times New Roman" panose="02020603050405020304" pitchFamily="18" charset="0"/>
              </a:rPr>
              <a:t>, which are important for evaluating participant trust.</a:t>
            </a:r>
          </a:p>
          <a:p>
            <a:pPr marL="285750" indent="-28575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Addresses malicious header nodes, which is an important security issue in decentralized Swarm Learning.</a:t>
            </a:r>
          </a:p>
          <a:p>
            <a:pPr marL="285750" indent="-28575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 Our project extends this direction by considering contribution, validation performance, update magnitude, similarity, </a:t>
            </a:r>
          </a:p>
          <a:p>
            <a:pPr marL="285750" indent="-28575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and historical </a:t>
            </a:r>
            <a:r>
              <a:rPr lang="en-IN" dirty="0" err="1">
                <a:latin typeface="Times New Roman" panose="02020603050405020304" pitchFamily="18" charset="0"/>
                <a:cs typeface="Times New Roman" panose="02020603050405020304" pitchFamily="18" charset="0"/>
              </a:rPr>
              <a:t>behavior</a:t>
            </a:r>
            <a:r>
              <a:rPr lang="en-IN" dirty="0">
                <a:latin typeface="Times New Roman" panose="02020603050405020304" pitchFamily="18" charset="0"/>
                <a:cs typeface="Times New Roman" panose="02020603050405020304" pitchFamily="18" charset="0"/>
              </a:rPr>
              <a:t> to reduce false positives for honest Non-IID participants.</a:t>
            </a:r>
          </a:p>
          <a:p>
            <a:endParaRPr lang="en-IN"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 y="6980"/>
            <a:ext cx="12192000" cy="837398"/>
          </a:xfrm>
          <a:prstGeom prst="rect">
            <a:avLst/>
          </a:prstGeom>
          <a:solidFill>
            <a:srgbClr val="E77E69"/>
          </a:soli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IN" dirty="0">
              <a:solidFill>
                <a:srgbClr val="FFFF00"/>
              </a:solidFill>
              <a:latin typeface="Times New Roman" panose="02020603050405020304" pitchFamily="18" charset="0"/>
              <a:cs typeface="Times New Roman" panose="02020603050405020304" pitchFamily="18" charset="0"/>
            </a:endParaRPr>
          </a:p>
        </p:txBody>
      </p:sp>
      <p:sp>
        <p:nvSpPr>
          <p:cNvPr id="5" name="Rectangle 4"/>
          <p:cNvSpPr/>
          <p:nvPr/>
        </p:nvSpPr>
        <p:spPr>
          <a:xfrm>
            <a:off x="0" y="6451517"/>
            <a:ext cx="12192000" cy="393289"/>
          </a:xfrm>
          <a:prstGeom prst="rect">
            <a:avLst/>
          </a:prstGeom>
          <a:solidFill>
            <a:srgbClr val="E77E69"/>
          </a:soli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IN"/>
          </a:p>
        </p:txBody>
      </p:sp>
      <p:sp>
        <p:nvSpPr>
          <p:cNvPr id="11" name="Date Placeholder 10"/>
          <p:cNvSpPr>
            <a:spLocks noGrp="1"/>
          </p:cNvSpPr>
          <p:nvPr>
            <p:ph type="dt" sz="half" idx="10"/>
          </p:nvPr>
        </p:nvSpPr>
        <p:spPr>
          <a:xfrm>
            <a:off x="0" y="6460922"/>
            <a:ext cx="997974" cy="365125"/>
          </a:xfrm>
        </p:spPr>
        <p:txBody>
          <a:bodyPr/>
          <a:lstStyle/>
          <a:p>
            <a:fld id="{C72AAC90-D07C-417D-96C6-81B39DB87062}" type="datetime1">
              <a:rPr lang="en-IN" smtClean="0">
                <a:solidFill>
                  <a:schemeClr val="tx1"/>
                </a:solidFill>
              </a:rPr>
              <a:t>16-09-2026</a:t>
            </a:fld>
            <a:endParaRPr lang="en-IN" dirty="0">
              <a:solidFill>
                <a:schemeClr val="tx1"/>
              </a:solidFill>
            </a:endParaRPr>
          </a:p>
        </p:txBody>
      </p:sp>
      <p:sp>
        <p:nvSpPr>
          <p:cNvPr id="13" name="Slide Number Placeholder 12"/>
          <p:cNvSpPr>
            <a:spLocks noGrp="1"/>
          </p:cNvSpPr>
          <p:nvPr>
            <p:ph type="sldNum" sz="quarter" idx="12"/>
          </p:nvPr>
        </p:nvSpPr>
        <p:spPr>
          <a:xfrm>
            <a:off x="11227443" y="6478792"/>
            <a:ext cx="876067" cy="379208"/>
          </a:xfrm>
        </p:spPr>
        <p:txBody>
          <a:bodyPr/>
          <a:lstStyle/>
          <a:p>
            <a:fld id="{0F06A4E2-163B-4ABA-8562-AD05AC3F17C5}" type="slidenum">
              <a:rPr lang="en-IN" sz="1800" smtClean="0">
                <a:solidFill>
                  <a:schemeClr val="tx1"/>
                </a:solidFill>
              </a:rPr>
              <a:t>20</a:t>
            </a:fld>
            <a:endParaRPr lang="en-IN" sz="1800" dirty="0">
              <a:solidFill>
                <a:schemeClr val="tx1"/>
              </a:solidFill>
            </a:endParaRPr>
          </a:p>
        </p:txBody>
      </p:sp>
      <p:sp>
        <p:nvSpPr>
          <p:cNvPr id="15" name="TextBox 14"/>
          <p:cNvSpPr txBox="1"/>
          <p:nvPr/>
        </p:nvSpPr>
        <p:spPr>
          <a:xfrm flipH="1">
            <a:off x="135927" y="877163"/>
            <a:ext cx="7167697" cy="400110"/>
          </a:xfrm>
          <a:prstGeom prst="rect">
            <a:avLst/>
          </a:prstGeom>
          <a:noFill/>
        </p:spPr>
        <p:txBody>
          <a:bodyPr wrap="square" rtlCol="0">
            <a:spAutoFit/>
          </a:bodyPr>
          <a:lstStyle/>
          <a:p>
            <a:r>
              <a:rPr lang="en-IN" sz="2000" dirty="0">
                <a:latin typeface="Times New Roman" panose="02020603050405020304" pitchFamily="18" charset="0"/>
                <a:cs typeface="Times New Roman" panose="02020603050405020304" pitchFamily="18" charset="0"/>
              </a:rPr>
              <a:t>Literature Review - Summary</a:t>
            </a:r>
          </a:p>
        </p:txBody>
      </p:sp>
      <p:sp>
        <p:nvSpPr>
          <p:cNvPr id="2" name="TextBox 1"/>
          <p:cNvSpPr txBox="1"/>
          <p:nvPr/>
        </p:nvSpPr>
        <p:spPr>
          <a:xfrm>
            <a:off x="8955476" y="31393"/>
            <a:ext cx="3148033" cy="830997"/>
          </a:xfrm>
          <a:prstGeom prst="rect">
            <a:avLst/>
          </a:prstGeom>
          <a:noFill/>
        </p:spPr>
        <p:txBody>
          <a:bodyPr wrap="square" rtlCol="0">
            <a:spAutoFit/>
          </a:bodyPr>
          <a:lstStyle/>
          <a:p>
            <a:r>
              <a:rPr lang="en-IN" sz="1200" dirty="0">
                <a:latin typeface="Times New Roman" panose="02020603050405020304" pitchFamily="18" charset="0"/>
                <a:cs typeface="Times New Roman" panose="02020603050405020304" pitchFamily="18" charset="0"/>
              </a:rPr>
              <a:t>Guide: Mrs. B. Lalitha Rajeswari</a:t>
            </a:r>
          </a:p>
          <a:p>
            <a:r>
              <a:rPr lang="en-IN" sz="1200" dirty="0">
                <a:latin typeface="Times New Roman" panose="02020603050405020304" pitchFamily="18" charset="0"/>
                <a:cs typeface="Times New Roman" panose="02020603050405020304" pitchFamily="18" charset="0"/>
              </a:rPr>
              <a:t>Batch ID: A14</a:t>
            </a:r>
          </a:p>
          <a:p>
            <a:r>
              <a:rPr lang="en-IN" sz="1200" dirty="0">
                <a:latin typeface="Times New Roman" panose="02020603050405020304" pitchFamily="18" charset="0"/>
                <a:cs typeface="Times New Roman" panose="02020603050405020304" pitchFamily="18" charset="0"/>
              </a:rPr>
              <a:t>23BQ1A6129(TL),	23BQ1A6136,</a:t>
            </a:r>
          </a:p>
          <a:p>
            <a:r>
              <a:rPr lang="en-IN" sz="1200" dirty="0">
                <a:latin typeface="Times New Roman" panose="02020603050405020304" pitchFamily="18" charset="0"/>
                <a:cs typeface="Times New Roman" panose="02020603050405020304" pitchFamily="18" charset="0"/>
              </a:rPr>
              <a:t>23BQ1A6123,                         24BQ5A6125</a:t>
            </a:r>
            <a:endParaRPr lang="en-IN" sz="1200" dirty="0"/>
          </a:p>
        </p:txBody>
      </p:sp>
      <p:pic>
        <p:nvPicPr>
          <p:cNvPr id="3" name="Picture 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4186" y="92353"/>
            <a:ext cx="993618" cy="693462"/>
          </a:xfrm>
          <a:prstGeom prst="rect">
            <a:avLst/>
          </a:prstGeom>
        </p:spPr>
      </p:pic>
      <p:sp>
        <p:nvSpPr>
          <p:cNvPr id="14" name="TextBox 13"/>
          <p:cNvSpPr txBox="1"/>
          <p:nvPr/>
        </p:nvSpPr>
        <p:spPr>
          <a:xfrm>
            <a:off x="1531467" y="82617"/>
            <a:ext cx="7424010" cy="646331"/>
          </a:xfrm>
          <a:prstGeom prst="rect">
            <a:avLst/>
          </a:prstGeom>
          <a:noFill/>
        </p:spPr>
        <p:txBody>
          <a:bodyPr wrap="square" rtlCol="0">
            <a:spAutoFit/>
          </a:bodyPr>
          <a:lstStyle/>
          <a:p>
            <a:r>
              <a:rPr lang="en-IN" dirty="0">
                <a:latin typeface="Times New Roman" panose="02020603050405020304" pitchFamily="18" charset="0"/>
                <a:cs typeface="Times New Roman" panose="02020603050405020304" pitchFamily="18" charset="0"/>
              </a:rPr>
              <a:t>Contribution-Aware Trust Mechanism for Poisoning Attack Detection in Swarm Learning</a:t>
            </a:r>
          </a:p>
        </p:txBody>
      </p:sp>
      <p:sp>
        <p:nvSpPr>
          <p:cNvPr id="16" name="Footer Placeholder 11"/>
          <p:cNvSpPr>
            <a:spLocks noGrp="1"/>
          </p:cNvSpPr>
          <p:nvPr>
            <p:ph type="ftr" sz="quarter" idx="11"/>
          </p:nvPr>
        </p:nvSpPr>
        <p:spPr>
          <a:xfrm>
            <a:off x="3999271" y="6460922"/>
            <a:ext cx="4114800" cy="365125"/>
          </a:xfrm>
        </p:spPr>
        <p:txBody>
          <a:bodyPr/>
          <a:lstStyle/>
          <a:p>
            <a:r>
              <a:rPr lang="en-IN" dirty="0">
                <a:solidFill>
                  <a:schemeClr val="tx1"/>
                </a:solidFill>
              </a:rPr>
              <a:t>Dept. CSM @ VVIT</a:t>
            </a:r>
          </a:p>
        </p:txBody>
      </p:sp>
      <p:graphicFrame>
        <p:nvGraphicFramePr>
          <p:cNvPr id="6" name="Table 5"/>
          <p:cNvGraphicFramePr>
            <a:graphicFrameLocks noGrp="1"/>
          </p:cNvGraphicFramePr>
          <p:nvPr/>
        </p:nvGraphicFramePr>
        <p:xfrm>
          <a:off x="470995" y="1637521"/>
          <a:ext cx="10515600" cy="3582958"/>
        </p:xfrm>
        <a:graphic>
          <a:graphicData uri="http://schemas.openxmlformats.org/drawingml/2006/table">
            <a:tbl>
              <a:tblPr>
                <a:tableStyleId>{5940675A-B579-460E-94D1-54222C63F5DA}</a:tableStyleId>
              </a:tblPr>
              <a:tblGrid>
                <a:gridCol w="2103120">
                  <a:extLst>
                    <a:ext uri="{9D8B030D-6E8A-4147-A177-3AD203B41FA5}">
                      <a16:colId xmlns:a16="http://schemas.microsoft.com/office/drawing/2014/main" val="20000"/>
                    </a:ext>
                  </a:extLst>
                </a:gridCol>
                <a:gridCol w="2103120">
                  <a:extLst>
                    <a:ext uri="{9D8B030D-6E8A-4147-A177-3AD203B41FA5}">
                      <a16:colId xmlns:a16="http://schemas.microsoft.com/office/drawing/2014/main" val="20001"/>
                    </a:ext>
                  </a:extLst>
                </a:gridCol>
                <a:gridCol w="2103120">
                  <a:extLst>
                    <a:ext uri="{9D8B030D-6E8A-4147-A177-3AD203B41FA5}">
                      <a16:colId xmlns:a16="http://schemas.microsoft.com/office/drawing/2014/main" val="20002"/>
                    </a:ext>
                  </a:extLst>
                </a:gridCol>
                <a:gridCol w="2103120">
                  <a:extLst>
                    <a:ext uri="{9D8B030D-6E8A-4147-A177-3AD203B41FA5}">
                      <a16:colId xmlns:a16="http://schemas.microsoft.com/office/drawing/2014/main" val="20003"/>
                    </a:ext>
                  </a:extLst>
                </a:gridCol>
                <a:gridCol w="2103120">
                  <a:extLst>
                    <a:ext uri="{9D8B030D-6E8A-4147-A177-3AD203B41FA5}">
                      <a16:colId xmlns:a16="http://schemas.microsoft.com/office/drawing/2014/main" val="20004"/>
                    </a:ext>
                  </a:extLst>
                </a:gridCol>
              </a:tblGrid>
              <a:tr h="447870">
                <a:tc>
                  <a:txBody>
                    <a:bodyPr/>
                    <a:lstStyle/>
                    <a:p>
                      <a:pPr>
                        <a:buNone/>
                      </a:pPr>
                      <a:r>
                        <a:rPr lang="en-IN"/>
                        <a:t>Reference</a:t>
                      </a:r>
                    </a:p>
                  </a:txBody>
                  <a:tcPr anchor="ctr"/>
                </a:tc>
                <a:tc>
                  <a:txBody>
                    <a:bodyPr/>
                    <a:lstStyle/>
                    <a:p>
                      <a:pPr algn="r">
                        <a:buNone/>
                      </a:pPr>
                      <a:r>
                        <a:rPr lang="en-IN"/>
                        <a:t>Year</a:t>
                      </a:r>
                    </a:p>
                  </a:txBody>
                  <a:tcPr anchor="ctr"/>
                </a:tc>
                <a:tc>
                  <a:txBody>
                    <a:bodyPr/>
                    <a:lstStyle/>
                    <a:p>
                      <a:pPr>
                        <a:buNone/>
                      </a:pPr>
                      <a:r>
                        <a:rPr lang="en-IN"/>
                        <a:t>Main Idea</a:t>
                      </a:r>
                    </a:p>
                  </a:txBody>
                  <a:tcPr anchor="ctr"/>
                </a:tc>
                <a:tc>
                  <a:txBody>
                    <a:bodyPr/>
                    <a:lstStyle/>
                    <a:p>
                      <a:pPr>
                        <a:buNone/>
                      </a:pPr>
                      <a:r>
                        <a:rPr lang="en-IN"/>
                        <a:t>Strengths</a:t>
                      </a:r>
                    </a:p>
                  </a:txBody>
                  <a:tcPr anchor="ctr"/>
                </a:tc>
                <a:tc>
                  <a:txBody>
                    <a:bodyPr/>
                    <a:lstStyle/>
                    <a:p>
                      <a:pPr>
                        <a:buNone/>
                      </a:pPr>
                      <a:r>
                        <a:rPr lang="en-IN"/>
                        <a:t>Limitation</a:t>
                      </a:r>
                    </a:p>
                  </a:txBody>
                  <a:tcPr anchor="ctr"/>
                </a:tc>
                <a:extLst>
                  <a:ext uri="{0D108BD9-81ED-4DB2-BD59-A6C34878D82A}">
                    <a16:rowId xmlns:a16="http://schemas.microsoft.com/office/drawing/2014/main" val="10000"/>
                  </a:ext>
                </a:extLst>
              </a:tr>
              <a:tr h="783772">
                <a:tc>
                  <a:txBody>
                    <a:bodyPr/>
                    <a:lstStyle/>
                    <a:p>
                      <a:pPr>
                        <a:buNone/>
                      </a:pPr>
                      <a:r>
                        <a:rPr lang="en-IN"/>
                        <a:t>Zhu et al.</a:t>
                      </a:r>
                    </a:p>
                  </a:txBody>
                  <a:tcPr anchor="ctr"/>
                </a:tc>
                <a:tc>
                  <a:txBody>
                    <a:bodyPr/>
                    <a:lstStyle/>
                    <a:p>
                      <a:pPr algn="r">
                        <a:buNone/>
                      </a:pPr>
                      <a:r>
                        <a:rPr lang="en-IN" dirty="0"/>
                        <a:t>2024</a:t>
                      </a:r>
                    </a:p>
                  </a:txBody>
                  <a:tcPr anchor="ctr"/>
                </a:tc>
                <a:tc>
                  <a:txBody>
                    <a:bodyPr/>
                    <a:lstStyle/>
                    <a:p>
                      <a:pPr>
                        <a:buNone/>
                      </a:pPr>
                      <a:r>
                        <a:rPr lang="en-IN"/>
                        <a:t>Cosine-based attack detection</a:t>
                      </a:r>
                    </a:p>
                  </a:txBody>
                  <a:tcPr anchor="ctr"/>
                </a:tc>
                <a:tc>
                  <a:txBody>
                    <a:bodyPr/>
                    <a:lstStyle/>
                    <a:p>
                      <a:pPr>
                        <a:buNone/>
                      </a:pPr>
                      <a:r>
                        <a:rPr lang="en-IN"/>
                        <a:t>Private, Byzantine-resilient</a:t>
                      </a:r>
                    </a:p>
                  </a:txBody>
                  <a:tcPr anchor="ctr"/>
                </a:tc>
                <a:tc>
                  <a:txBody>
                    <a:bodyPr/>
                    <a:lstStyle/>
                    <a:p>
                      <a:pPr>
                        <a:buNone/>
                      </a:pPr>
                      <a:r>
                        <a:rPr lang="en-IN"/>
                        <a:t>Weak for Non-IID</a:t>
                      </a:r>
                    </a:p>
                  </a:txBody>
                  <a:tcPr anchor="ctr"/>
                </a:tc>
                <a:extLst>
                  <a:ext uri="{0D108BD9-81ED-4DB2-BD59-A6C34878D82A}">
                    <a16:rowId xmlns:a16="http://schemas.microsoft.com/office/drawing/2014/main" val="10001"/>
                  </a:ext>
                </a:extLst>
              </a:tr>
              <a:tr h="783772">
                <a:tc>
                  <a:txBody>
                    <a:bodyPr/>
                    <a:lstStyle/>
                    <a:p>
                      <a:pPr>
                        <a:buNone/>
                      </a:pPr>
                      <a:r>
                        <a:rPr lang="en-IN"/>
                        <a:t>Karami et al.</a:t>
                      </a:r>
                    </a:p>
                  </a:txBody>
                  <a:tcPr anchor="ctr"/>
                </a:tc>
                <a:tc>
                  <a:txBody>
                    <a:bodyPr/>
                    <a:lstStyle/>
                    <a:p>
                      <a:pPr algn="r">
                        <a:buNone/>
                      </a:pPr>
                      <a:r>
                        <a:rPr lang="en-IN"/>
                        <a:t>2026</a:t>
                      </a:r>
                    </a:p>
                  </a:txBody>
                  <a:tcPr anchor="ctr"/>
                </a:tc>
                <a:tc>
                  <a:txBody>
                    <a:bodyPr/>
                    <a:lstStyle/>
                    <a:p>
                      <a:pPr>
                        <a:buNone/>
                      </a:pPr>
                      <a:r>
                        <a:rPr lang="en-IN"/>
                        <a:t>Multi-signal trust + Shapley</a:t>
                      </a:r>
                    </a:p>
                  </a:txBody>
                  <a:tcPr anchor="ctr"/>
                </a:tc>
                <a:tc>
                  <a:txBody>
                    <a:bodyPr/>
                    <a:lstStyle/>
                    <a:p>
                      <a:pPr>
                        <a:buNone/>
                      </a:pPr>
                      <a:r>
                        <a:rPr lang="en-IN"/>
                        <a:t>Robust under Non-IID</a:t>
                      </a:r>
                    </a:p>
                  </a:txBody>
                  <a:tcPr anchor="ctr"/>
                </a:tc>
                <a:tc>
                  <a:txBody>
                    <a:bodyPr/>
                    <a:lstStyle/>
                    <a:p>
                      <a:pPr>
                        <a:buNone/>
                      </a:pPr>
                      <a:r>
                        <a:rPr lang="en-IN"/>
                        <a:t>Subtle attacks</a:t>
                      </a:r>
                    </a:p>
                  </a:txBody>
                  <a:tcPr anchor="ctr"/>
                </a:tc>
                <a:extLst>
                  <a:ext uri="{0D108BD9-81ED-4DB2-BD59-A6C34878D82A}">
                    <a16:rowId xmlns:a16="http://schemas.microsoft.com/office/drawing/2014/main" val="10002"/>
                  </a:ext>
                </a:extLst>
              </a:tr>
              <a:tr h="783772">
                <a:tc>
                  <a:txBody>
                    <a:bodyPr/>
                    <a:lstStyle/>
                    <a:p>
                      <a:pPr>
                        <a:buNone/>
                      </a:pPr>
                      <a:r>
                        <a:rPr lang="en-IN"/>
                        <a:t>Kavuri et al.</a:t>
                      </a:r>
                    </a:p>
                  </a:txBody>
                  <a:tcPr anchor="ctr"/>
                </a:tc>
                <a:tc>
                  <a:txBody>
                    <a:bodyPr/>
                    <a:lstStyle/>
                    <a:p>
                      <a:pPr algn="r">
                        <a:buNone/>
                      </a:pPr>
                      <a:r>
                        <a:rPr lang="en-IN"/>
                        <a:t>2025</a:t>
                      </a:r>
                    </a:p>
                  </a:txBody>
                  <a:tcPr anchor="ctr"/>
                </a:tc>
                <a:tc>
                  <a:txBody>
                    <a:bodyPr/>
                    <a:lstStyle/>
                    <a:p>
                      <a:pPr>
                        <a:buNone/>
                      </a:pPr>
                      <a:r>
                        <a:rPr lang="en-IN"/>
                        <a:t>Multi-factor client trust</a:t>
                      </a:r>
                    </a:p>
                  </a:txBody>
                  <a:tcPr anchor="ctr"/>
                </a:tc>
                <a:tc>
                  <a:txBody>
                    <a:bodyPr/>
                    <a:lstStyle/>
                    <a:p>
                      <a:pPr>
                        <a:buNone/>
                      </a:pPr>
                      <a:r>
                        <a:rPr lang="en-IN"/>
                        <a:t>Adaptive detection</a:t>
                      </a:r>
                    </a:p>
                  </a:txBody>
                  <a:tcPr anchor="ctr"/>
                </a:tc>
                <a:tc>
                  <a:txBody>
                    <a:bodyPr/>
                    <a:lstStyle/>
                    <a:p>
                      <a:pPr>
                        <a:buNone/>
                      </a:pPr>
                      <a:r>
                        <a:rPr lang="en-IN"/>
                        <a:t>FL, not SL</a:t>
                      </a:r>
                    </a:p>
                  </a:txBody>
                  <a:tcPr anchor="ctr"/>
                </a:tc>
                <a:extLst>
                  <a:ext uri="{0D108BD9-81ED-4DB2-BD59-A6C34878D82A}">
                    <a16:rowId xmlns:a16="http://schemas.microsoft.com/office/drawing/2014/main" val="10003"/>
                  </a:ext>
                </a:extLst>
              </a:tr>
              <a:tr h="783772">
                <a:tc>
                  <a:txBody>
                    <a:bodyPr/>
                    <a:lstStyle/>
                    <a:p>
                      <a:pPr>
                        <a:buNone/>
                      </a:pPr>
                      <a:r>
                        <a:rPr lang="en-IN"/>
                        <a:t>Vélez et al.</a:t>
                      </a:r>
                    </a:p>
                  </a:txBody>
                  <a:tcPr anchor="ctr"/>
                </a:tc>
                <a:tc>
                  <a:txBody>
                    <a:bodyPr/>
                    <a:lstStyle/>
                    <a:p>
                      <a:pPr algn="r">
                        <a:buNone/>
                      </a:pPr>
                      <a:r>
                        <a:rPr lang="en-IN"/>
                        <a:t>2026</a:t>
                      </a:r>
                    </a:p>
                  </a:txBody>
                  <a:tcPr anchor="ctr"/>
                </a:tc>
                <a:tc>
                  <a:txBody>
                    <a:bodyPr/>
                    <a:lstStyle/>
                    <a:p>
                      <a:pPr>
                        <a:buNone/>
                      </a:pPr>
                      <a:r>
                        <a:rPr lang="en-IN"/>
                        <a:t>LOO contribution evaluation</a:t>
                      </a:r>
                    </a:p>
                  </a:txBody>
                  <a:tcPr anchor="ctr"/>
                </a:tc>
                <a:tc>
                  <a:txBody>
                    <a:bodyPr/>
                    <a:lstStyle/>
                    <a:p>
                      <a:pPr>
                        <a:buNone/>
                      </a:pPr>
                      <a:r>
                        <a:rPr lang="en-IN"/>
                        <a:t>Simple, Non-IID aware</a:t>
                      </a:r>
                    </a:p>
                  </a:txBody>
                  <a:tcPr anchor="ctr"/>
                </a:tc>
                <a:tc>
                  <a:txBody>
                    <a:bodyPr/>
                    <a:lstStyle/>
                    <a:p>
                      <a:pPr>
                        <a:buNone/>
                      </a:pPr>
                      <a:r>
                        <a:rPr lang="en-IN" dirty="0"/>
                        <a:t>Limited adversarial study</a:t>
                      </a:r>
                    </a:p>
                  </a:txBody>
                  <a:tcPr anchor="ctr"/>
                </a:tc>
                <a:extLst>
                  <a:ext uri="{0D108BD9-81ED-4DB2-BD59-A6C34878D82A}">
                    <a16:rowId xmlns:a16="http://schemas.microsoft.com/office/drawing/2014/main" val="10004"/>
                  </a:ext>
                </a:extLst>
              </a:tr>
            </a:tbl>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 y="6980"/>
            <a:ext cx="12192000" cy="837398"/>
          </a:xfrm>
          <a:prstGeom prst="rect">
            <a:avLst/>
          </a:prstGeom>
          <a:solidFill>
            <a:srgbClr val="E77E69"/>
          </a:soli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IN" dirty="0">
              <a:solidFill>
                <a:srgbClr val="FFFF00"/>
              </a:solidFill>
              <a:latin typeface="Times New Roman" panose="02020603050405020304" pitchFamily="18" charset="0"/>
              <a:cs typeface="Times New Roman" panose="02020603050405020304" pitchFamily="18" charset="0"/>
            </a:endParaRPr>
          </a:p>
        </p:txBody>
      </p:sp>
      <p:sp>
        <p:nvSpPr>
          <p:cNvPr id="5" name="Rectangle 4"/>
          <p:cNvSpPr/>
          <p:nvPr/>
        </p:nvSpPr>
        <p:spPr>
          <a:xfrm>
            <a:off x="0" y="6451517"/>
            <a:ext cx="12192000" cy="393289"/>
          </a:xfrm>
          <a:prstGeom prst="rect">
            <a:avLst/>
          </a:prstGeom>
          <a:solidFill>
            <a:srgbClr val="E77E69"/>
          </a:soli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IN"/>
          </a:p>
        </p:txBody>
      </p:sp>
      <p:sp>
        <p:nvSpPr>
          <p:cNvPr id="11" name="Date Placeholder 10"/>
          <p:cNvSpPr>
            <a:spLocks noGrp="1"/>
          </p:cNvSpPr>
          <p:nvPr>
            <p:ph type="dt" sz="half" idx="10"/>
          </p:nvPr>
        </p:nvSpPr>
        <p:spPr>
          <a:xfrm>
            <a:off x="0" y="6460922"/>
            <a:ext cx="997974" cy="365125"/>
          </a:xfrm>
        </p:spPr>
        <p:txBody>
          <a:bodyPr/>
          <a:lstStyle/>
          <a:p>
            <a:fld id="{C72AAC90-D07C-417D-96C6-81B39DB87062}" type="datetime1">
              <a:rPr lang="en-IN" smtClean="0">
                <a:solidFill>
                  <a:schemeClr val="tx1"/>
                </a:solidFill>
              </a:rPr>
              <a:t>16-09-2026</a:t>
            </a:fld>
            <a:endParaRPr lang="en-IN" dirty="0">
              <a:solidFill>
                <a:schemeClr val="tx1"/>
              </a:solidFill>
            </a:endParaRPr>
          </a:p>
        </p:txBody>
      </p:sp>
      <p:sp>
        <p:nvSpPr>
          <p:cNvPr id="13" name="Slide Number Placeholder 12"/>
          <p:cNvSpPr>
            <a:spLocks noGrp="1"/>
          </p:cNvSpPr>
          <p:nvPr>
            <p:ph type="sldNum" sz="quarter" idx="12"/>
          </p:nvPr>
        </p:nvSpPr>
        <p:spPr>
          <a:xfrm>
            <a:off x="11227443" y="6478792"/>
            <a:ext cx="876067" cy="379208"/>
          </a:xfrm>
        </p:spPr>
        <p:txBody>
          <a:bodyPr/>
          <a:lstStyle/>
          <a:p>
            <a:fld id="{0F06A4E2-163B-4ABA-8562-AD05AC3F17C5}" type="slidenum">
              <a:rPr lang="en-IN" sz="1800" smtClean="0">
                <a:solidFill>
                  <a:schemeClr val="tx1"/>
                </a:solidFill>
              </a:rPr>
              <a:t>21</a:t>
            </a:fld>
            <a:endParaRPr lang="en-IN" sz="1800" dirty="0">
              <a:solidFill>
                <a:schemeClr val="tx1"/>
              </a:solidFill>
            </a:endParaRPr>
          </a:p>
        </p:txBody>
      </p:sp>
      <p:sp>
        <p:nvSpPr>
          <p:cNvPr id="15" name="TextBox 14"/>
          <p:cNvSpPr txBox="1"/>
          <p:nvPr/>
        </p:nvSpPr>
        <p:spPr>
          <a:xfrm flipH="1">
            <a:off x="135927" y="877163"/>
            <a:ext cx="7167697" cy="400110"/>
          </a:xfrm>
          <a:prstGeom prst="rect">
            <a:avLst/>
          </a:prstGeom>
          <a:noFill/>
        </p:spPr>
        <p:txBody>
          <a:bodyPr wrap="square" rtlCol="0">
            <a:spAutoFit/>
          </a:bodyPr>
          <a:lstStyle/>
          <a:p>
            <a:r>
              <a:rPr lang="en-IN" sz="2000" dirty="0">
                <a:latin typeface="Times New Roman" panose="02020603050405020304" pitchFamily="18" charset="0"/>
                <a:cs typeface="Times New Roman" panose="02020603050405020304" pitchFamily="18" charset="0"/>
              </a:rPr>
              <a:t>Review – 1 </a:t>
            </a:r>
          </a:p>
        </p:txBody>
      </p:sp>
      <p:sp>
        <p:nvSpPr>
          <p:cNvPr id="2" name="TextBox 1"/>
          <p:cNvSpPr txBox="1"/>
          <p:nvPr/>
        </p:nvSpPr>
        <p:spPr>
          <a:xfrm>
            <a:off x="8955476" y="31393"/>
            <a:ext cx="3148033" cy="830997"/>
          </a:xfrm>
          <a:prstGeom prst="rect">
            <a:avLst/>
          </a:prstGeom>
          <a:noFill/>
        </p:spPr>
        <p:txBody>
          <a:bodyPr wrap="square" rtlCol="0">
            <a:spAutoFit/>
          </a:bodyPr>
          <a:lstStyle/>
          <a:p>
            <a:r>
              <a:rPr lang="en-IN" sz="1200" dirty="0">
                <a:latin typeface="Times New Roman" panose="02020603050405020304" pitchFamily="18" charset="0"/>
                <a:cs typeface="Times New Roman" panose="02020603050405020304" pitchFamily="18" charset="0"/>
              </a:rPr>
              <a:t>Guide: Mrs. B. Lalitha Rajeswari</a:t>
            </a:r>
          </a:p>
          <a:p>
            <a:r>
              <a:rPr lang="en-IN" sz="1200" dirty="0">
                <a:latin typeface="Times New Roman" panose="02020603050405020304" pitchFamily="18" charset="0"/>
                <a:cs typeface="Times New Roman" panose="02020603050405020304" pitchFamily="18" charset="0"/>
              </a:rPr>
              <a:t>Batch ID: A14</a:t>
            </a:r>
          </a:p>
          <a:p>
            <a:r>
              <a:rPr lang="en-IN" sz="1200" dirty="0">
                <a:latin typeface="Times New Roman" panose="02020603050405020304" pitchFamily="18" charset="0"/>
                <a:cs typeface="Times New Roman" panose="02020603050405020304" pitchFamily="18" charset="0"/>
              </a:rPr>
              <a:t>23BQ1A6129(TL),	23BQ1A6136,</a:t>
            </a:r>
          </a:p>
          <a:p>
            <a:r>
              <a:rPr lang="en-IN" sz="1200" dirty="0">
                <a:latin typeface="Times New Roman" panose="02020603050405020304" pitchFamily="18" charset="0"/>
                <a:cs typeface="Times New Roman" panose="02020603050405020304" pitchFamily="18" charset="0"/>
              </a:rPr>
              <a:t>23BQ1A6123,                         24BQ5A6125</a:t>
            </a:r>
            <a:endParaRPr lang="en-IN" sz="1200" dirty="0"/>
          </a:p>
        </p:txBody>
      </p:sp>
      <p:pic>
        <p:nvPicPr>
          <p:cNvPr id="3" name="Picture 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4186" y="92353"/>
            <a:ext cx="993618" cy="693462"/>
          </a:xfrm>
          <a:prstGeom prst="rect">
            <a:avLst/>
          </a:prstGeom>
        </p:spPr>
      </p:pic>
      <p:sp>
        <p:nvSpPr>
          <p:cNvPr id="14" name="TextBox 13"/>
          <p:cNvSpPr txBox="1"/>
          <p:nvPr/>
        </p:nvSpPr>
        <p:spPr>
          <a:xfrm>
            <a:off x="1531467" y="82617"/>
            <a:ext cx="7424010" cy="646331"/>
          </a:xfrm>
          <a:prstGeom prst="rect">
            <a:avLst/>
          </a:prstGeom>
          <a:noFill/>
        </p:spPr>
        <p:txBody>
          <a:bodyPr wrap="square" rtlCol="0">
            <a:spAutoFit/>
          </a:bodyPr>
          <a:lstStyle/>
          <a:p>
            <a:r>
              <a:rPr lang="en-IN" dirty="0">
                <a:latin typeface="Times New Roman" panose="02020603050405020304" pitchFamily="18" charset="0"/>
                <a:cs typeface="Times New Roman" panose="02020603050405020304" pitchFamily="18" charset="0"/>
              </a:rPr>
              <a:t>Contribution-Aware Trust Mechanism for Poisoning Attack Detection in Swarm Learning</a:t>
            </a:r>
          </a:p>
        </p:txBody>
      </p:sp>
      <p:sp>
        <p:nvSpPr>
          <p:cNvPr id="16" name="Footer Placeholder 11"/>
          <p:cNvSpPr>
            <a:spLocks noGrp="1"/>
          </p:cNvSpPr>
          <p:nvPr>
            <p:ph type="ftr" sz="quarter" idx="11"/>
          </p:nvPr>
        </p:nvSpPr>
        <p:spPr>
          <a:xfrm>
            <a:off x="3999271" y="6460922"/>
            <a:ext cx="4114800" cy="365125"/>
          </a:xfrm>
        </p:spPr>
        <p:txBody>
          <a:bodyPr/>
          <a:lstStyle/>
          <a:p>
            <a:r>
              <a:rPr lang="en-IN" dirty="0">
                <a:solidFill>
                  <a:schemeClr val="tx1"/>
                </a:solidFill>
              </a:rPr>
              <a:t>Dept. CSM @ VVIT</a:t>
            </a:r>
          </a:p>
        </p:txBody>
      </p:sp>
      <p:sp>
        <p:nvSpPr>
          <p:cNvPr id="6" name="TextBox 5"/>
          <p:cNvSpPr txBox="1"/>
          <p:nvPr/>
        </p:nvSpPr>
        <p:spPr>
          <a:xfrm>
            <a:off x="4641448" y="3010622"/>
            <a:ext cx="2236510" cy="646331"/>
          </a:xfrm>
          <a:prstGeom prst="rect">
            <a:avLst/>
          </a:prstGeom>
          <a:noFill/>
        </p:spPr>
        <p:txBody>
          <a:bodyPr wrap="none" rtlCol="0">
            <a:spAutoFit/>
          </a:bodyPr>
          <a:lstStyle/>
          <a:p>
            <a:r>
              <a:rPr lang="en-IN" sz="3600" dirty="0">
                <a:latin typeface="Times New Roman" panose="02020603050405020304" pitchFamily="18" charset="0"/>
                <a:cs typeface="Times New Roman" panose="02020603050405020304" pitchFamily="18" charset="0"/>
              </a:rPr>
              <a:t>Questions?</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ABLE_ENDDRAG_ORIGIN_RECT" val="861*324"/>
  <p:tag name="TABLE_ENDDRAG_RECT" val="31*183*861*324"/>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152</TotalTime>
  <Words>3197</Words>
  <Application>Microsoft Office PowerPoint</Application>
  <PresentationFormat>Widescreen</PresentationFormat>
  <Paragraphs>414</Paragraphs>
  <Slides>21</Slides>
  <Notes>21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21</vt:i4>
      </vt:variant>
    </vt:vector>
  </HeadingPairs>
  <TitlesOfParts>
    <vt:vector size="26" baseType="lpstr">
      <vt:lpstr>Arial</vt:lpstr>
      <vt:lpstr>Calibri</vt:lpstr>
      <vt:lpstr>Calibri Light</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mualidhar V</dc:creator>
  <cp:lastModifiedBy>Harsha Vardhan</cp:lastModifiedBy>
  <cp:revision>60</cp:revision>
  <dcterms:created xsi:type="dcterms:W3CDTF">2023-07-18T12:47:00Z</dcterms:created>
  <dcterms:modified xsi:type="dcterms:W3CDTF">2026-09-16T08:24:04Z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1033-12.1.0.28485</vt:lpwstr>
  </property>
  <property fmtid="{D5CDD505-2E9C-101B-9397-08002B2CF9AE}" pid="3" name="ICV">
    <vt:lpwstr>86BA6E09E0B04D15986B4C42DC4DF0F4_13</vt:lpwstr>
  </property>
</Properties>
</file>